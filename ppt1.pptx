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5960"/>
            <a:ext cx="8098489" cy="2409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585960"/>
            <a:ext cx="8098489" cy="2409825"/>
          </a:xfrm>
          <a:prstGeom prst="rect">
            <a:avLst/>
          </a:prstGeom>
          <a:noFill/>
          <a:ln/>
        </p:spPr>
        <p:txBody>
          <a:bodyPr wrap="square" lIns="71438" tIns="71438" rIns="71438" bIns="71438" rtlCol="0" anchor="t"/>
          <a:lstStyle/>
          <a:p>
            <a:pPr algn="ctr" indent="0" marL="0">
              <a:lnSpc>
                <a:spcPct val="130435"/>
              </a:lnSpc>
              <a:spcBef>
                <a:spcPts val="281"/>
              </a:spcBef>
              <a:buNone/>
            </a:pP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3754" y="2025253"/>
            <a:ext cx="6865851" cy="1092994"/>
          </a:xfrm>
          <a:prstGeom prst="rect">
            <a:avLst/>
          </a:prstGeom>
          <a:solidFill>
            <a:srgbClr val="FFD584">
              <a:alpha val="98000"/>
            </a:srgbClr>
          </a:solidFill>
          <a:ln w="71438">
            <a:solidFill>
              <a:srgbClr val="FFD584"/>
            </a:solidFill>
            <a:prstDash val="sysDot"/>
          </a:ln>
          <a:effectLst>
            <a:outerShdw sx="100000" sy="100000" kx="0" ky="0" algn="bl" rotWithShape="0" blurRad="100013" dist="21431" dir="2700000">
              <a:srgbClr val="2563eb">
                <a:alpha val="50196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3302" b="1" dirty="0">
                <a:solidFill>
                  <a:srgbClr val="262626">
                    <a:alpha val="9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CANTEEN QUEUE &amp; ORDER MANAGEMENT</a:t>
            </a:r>
            <a:endParaRPr lang="en-US" sz="3302" dirty="0"/>
          </a:p>
          <a:p>
            <a:pPr algn="ctr" indent="0" marL="0">
              <a:lnSpc>
                <a:spcPct val="86957"/>
              </a:lnSpc>
              <a:spcBef>
                <a:spcPts val="281"/>
              </a:spcBef>
              <a:buNone/>
            </a:pPr>
            <a:endParaRPr lang="en-US" sz="330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0" y="-6"/>
            <a:ext cx="9144022" cy="5143511"/>
          </a:xfrm>
          <a:custGeom>
            <a:avLst/>
            <a:gdLst/>
            <a:ahLst/>
            <a:cxnLst/>
            <a:rect l="l" t="t" r="r" b="b"/>
            <a:pathLst>
              <a:path w="9144022" h="5143511">
                <a:moveTo>
                  <a:pt x="0" y="0"/>
                </a:moveTo>
                <a:lnTo>
                  <a:pt x="9144022" y="0"/>
                </a:lnTo>
                <a:lnTo>
                  <a:pt x="9144022" y="5143511"/>
                </a:lnTo>
                <a:lnTo>
                  <a:pt x="0" y="514351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-10" y="-6"/>
            <a:ext cx="9144022" cy="5143511"/>
          </a:xfrm>
          <a:custGeom>
            <a:avLst/>
            <a:gdLst/>
            <a:ahLst/>
            <a:cxnLst/>
            <a:rect l="l" t="t" r="r" b="b"/>
            <a:pathLst>
              <a:path w="9144022" h="5143511">
                <a:moveTo>
                  <a:pt x="0" y="0"/>
                </a:moveTo>
                <a:lnTo>
                  <a:pt x="9144022" y="0"/>
                </a:lnTo>
                <a:lnTo>
                  <a:pt x="9144022" y="5143511"/>
                </a:lnTo>
                <a:lnTo>
                  <a:pt x="0" y="5143511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14340" y="419053"/>
            <a:ext cx="8115319" cy="142875"/>
          </a:xfrm>
          <a:custGeom>
            <a:avLst/>
            <a:gdLst/>
            <a:ahLst/>
            <a:cxnLst/>
            <a:rect l="l" t="t" r="r" b="b"/>
            <a:pathLst>
              <a:path w="8115319" h="142875">
                <a:moveTo>
                  <a:pt x="0" y="0"/>
                </a:moveTo>
                <a:lnTo>
                  <a:pt x="8115319" y="0"/>
                </a:lnTo>
                <a:lnTo>
                  <a:pt x="8115319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14340" y="419053"/>
            <a:ext cx="81153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696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PRESENTATION ROADMAP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14340" y="639114"/>
            <a:ext cx="8115319" cy="347663"/>
          </a:xfrm>
          <a:custGeom>
            <a:avLst/>
            <a:gdLst/>
            <a:ahLst/>
            <a:cxnLst/>
            <a:rect l="l" t="t" r="r" b="b"/>
            <a:pathLst>
              <a:path w="8115319" h="347663">
                <a:moveTo>
                  <a:pt x="0" y="0"/>
                </a:moveTo>
                <a:lnTo>
                  <a:pt x="8115319" y="0"/>
                </a:lnTo>
                <a:lnTo>
                  <a:pt x="8115319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14340" y="639114"/>
            <a:ext cx="8115319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14326" y="1093516"/>
            <a:ext cx="4667261" cy="409576"/>
          </a:xfrm>
          <a:custGeom>
            <a:avLst/>
            <a:gdLst/>
            <a:ahLst/>
            <a:cxnLst/>
            <a:rect l="l" t="t" r="r" b="b"/>
            <a:pathLst>
              <a:path w="4667261" h="409576">
                <a:moveTo>
                  <a:pt x="0" y="0"/>
                </a:moveTo>
                <a:lnTo>
                  <a:pt x="4667261" y="0"/>
                </a:lnTo>
                <a:lnTo>
                  <a:pt x="4667261" y="409576"/>
                </a:lnTo>
                <a:lnTo>
                  <a:pt x="0" y="409576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14326" y="1093516"/>
            <a:ext cx="4667261" cy="40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operational friction to a faster, more connected canteen experience.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14347" y="2132250"/>
            <a:ext cx="2571756" cy="2266955"/>
          </a:xfrm>
          <a:custGeom>
            <a:avLst/>
            <a:gdLst/>
            <a:ahLst/>
            <a:cxnLst/>
            <a:rect l="l" t="t" r="r" b="b"/>
            <a:pathLst>
              <a:path w="2571756" h="2266955">
                <a:moveTo>
                  <a:pt x="53795" y="0"/>
                </a:moveTo>
                <a:lnTo>
                  <a:pt x="2517962" y="0"/>
                </a:lnTo>
                <a:quadBezTo>
                  <a:pt x="2571756" y="0"/>
                  <a:pt x="2571756" y="53795"/>
                </a:quadBezTo>
                <a:lnTo>
                  <a:pt x="2571756" y="2213160"/>
                </a:lnTo>
                <a:quadBezTo>
                  <a:pt x="2571756" y="2266955"/>
                  <a:pt x="2517962" y="2266955"/>
                </a:quadBezTo>
                <a:lnTo>
                  <a:pt x="53795" y="2266955"/>
                </a:lnTo>
                <a:quadBezTo>
                  <a:pt x="0" y="2266955"/>
                  <a:pt x="0" y="2213160"/>
                </a:quadBezTo>
                <a:lnTo>
                  <a:pt x="0" y="53795"/>
                </a:lnTo>
                <a:quadBezTo>
                  <a:pt x="0" y="0"/>
                  <a:pt x="53795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61925" dist="66675" dir="2700000">
              <a:srgbClr val="0b1f3a">
                <a:alpha val="7059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4314" y="2351693"/>
            <a:ext cx="342901" cy="342901"/>
          </a:xfrm>
          <a:custGeom>
            <a:avLst/>
            <a:gdLst/>
            <a:ahLst/>
            <a:cxnLst/>
            <a:rect l="l" t="t" r="r" b="b"/>
            <a:pathLst>
              <a:path w="342901" h="342901">
                <a:moveTo>
                  <a:pt x="63498" y="0"/>
                </a:moveTo>
                <a:lnTo>
                  <a:pt x="279403" y="0"/>
                </a:lnTo>
                <a:quadBezTo>
                  <a:pt x="342901" y="0"/>
                  <a:pt x="342901" y="63498"/>
                </a:quadBezTo>
                <a:lnTo>
                  <a:pt x="342901" y="279403"/>
                </a:lnTo>
                <a:quadBezTo>
                  <a:pt x="342901" y="342901"/>
                  <a:pt x="279403" y="342901"/>
                </a:quadBezTo>
                <a:lnTo>
                  <a:pt x="63498" y="342901"/>
                </a:lnTo>
                <a:quadBezTo>
                  <a:pt x="0" y="342901"/>
                  <a:pt x="0" y="279403"/>
                </a:quadBezTo>
                <a:lnTo>
                  <a:pt x="0" y="63498"/>
                </a:lnTo>
                <a:quadBezTo>
                  <a:pt x="0" y="0"/>
                  <a:pt x="63498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18" y="2442201"/>
            <a:ext cx="161889" cy="161889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14374" y="2857508"/>
            <a:ext cx="2171705" cy="185738"/>
          </a:xfrm>
          <a:custGeom>
            <a:avLst/>
            <a:gdLst/>
            <a:ahLst/>
            <a:cxnLst/>
            <a:rect l="l" t="t" r="r" b="b"/>
            <a:pathLst>
              <a:path w="2171705" h="185738">
                <a:moveTo>
                  <a:pt x="0" y="0"/>
                </a:moveTo>
                <a:lnTo>
                  <a:pt x="2171705" y="0"/>
                </a:lnTo>
                <a:lnTo>
                  <a:pt x="2171705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714374" y="2857508"/>
            <a:ext cx="217170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95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challenges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714374" y="3129963"/>
            <a:ext cx="2171705" cy="547689"/>
          </a:xfrm>
          <a:custGeom>
            <a:avLst/>
            <a:gdLst/>
            <a:ahLst/>
            <a:cxnLst/>
            <a:rect l="l" t="t" r="r" b="b"/>
            <a:pathLst>
              <a:path w="2171705" h="547689">
                <a:moveTo>
                  <a:pt x="0" y="0"/>
                </a:moveTo>
                <a:lnTo>
                  <a:pt x="2171705" y="0"/>
                </a:lnTo>
                <a:lnTo>
                  <a:pt x="2171705" y="547689"/>
                </a:lnTo>
                <a:lnTo>
                  <a:pt x="0" y="547689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714374" y="3129963"/>
            <a:ext cx="2171705" cy="547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queues, fragmented processes, and limited visibility slow service down.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14320" y="410688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3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3" y="0"/>
                </a:cubicBezTo>
                <a:cubicBezTo>
                  <a:pt x="10661" y="0"/>
                  <a:pt x="0" y="10661"/>
                  <a:pt x="0" y="23812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9" name="Shape 15"/>
          <p:cNvSpPr/>
          <p:nvPr/>
        </p:nvSpPr>
        <p:spPr>
          <a:xfrm>
            <a:off x="819573" y="4061671"/>
            <a:ext cx="823914" cy="138113"/>
          </a:xfrm>
          <a:custGeom>
            <a:avLst/>
            <a:gdLst/>
            <a:ahLst/>
            <a:cxnLst/>
            <a:rect l="l" t="t" r="r" b="b"/>
            <a:pathLst>
              <a:path w="823914" h="138113">
                <a:moveTo>
                  <a:pt x="0" y="0"/>
                </a:moveTo>
                <a:lnTo>
                  <a:pt x="823914" y="0"/>
                </a:lnTo>
                <a:lnTo>
                  <a:pt x="823914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819573" y="4061671"/>
            <a:ext cx="823914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 the context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286096" y="2132250"/>
            <a:ext cx="2571756" cy="2266955"/>
          </a:xfrm>
          <a:custGeom>
            <a:avLst/>
            <a:gdLst/>
            <a:ahLst/>
            <a:cxnLst/>
            <a:rect l="l" t="t" r="r" b="b"/>
            <a:pathLst>
              <a:path w="2571756" h="2266955">
                <a:moveTo>
                  <a:pt x="53795" y="0"/>
                </a:moveTo>
                <a:lnTo>
                  <a:pt x="2517962" y="0"/>
                </a:lnTo>
                <a:quadBezTo>
                  <a:pt x="2571756" y="0"/>
                  <a:pt x="2571756" y="53795"/>
                </a:quadBezTo>
                <a:lnTo>
                  <a:pt x="2571756" y="2213160"/>
                </a:lnTo>
                <a:quadBezTo>
                  <a:pt x="2571756" y="2266955"/>
                  <a:pt x="2517962" y="2266955"/>
                </a:quadBezTo>
                <a:lnTo>
                  <a:pt x="53795" y="2266955"/>
                </a:lnTo>
                <a:quadBezTo>
                  <a:pt x="0" y="2266955"/>
                  <a:pt x="0" y="2213160"/>
                </a:quadBezTo>
                <a:lnTo>
                  <a:pt x="0" y="53795"/>
                </a:lnTo>
                <a:quadBezTo>
                  <a:pt x="0" y="0"/>
                  <a:pt x="53795" y="0"/>
                </a:quadBezTo>
                <a:close/>
              </a:path>
            </a:pathLst>
          </a:custGeom>
          <a:solidFill>
            <a:srgbClr val="0B1F3A"/>
          </a:solidFill>
          <a:ln/>
          <a:effectLst>
            <a:outerShdw sx="100000" sy="100000" kx="0" ky="0" algn="bl" rotWithShape="0" blurRad="161925" dist="66675" dir="2700000">
              <a:srgbClr val="0b1f3a">
                <a:alpha val="12157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486062" y="2351693"/>
            <a:ext cx="342901" cy="342901"/>
          </a:xfrm>
          <a:custGeom>
            <a:avLst/>
            <a:gdLst/>
            <a:ahLst/>
            <a:cxnLst/>
            <a:rect l="l" t="t" r="r" b="b"/>
            <a:pathLst>
              <a:path w="342901" h="342901">
                <a:moveTo>
                  <a:pt x="63498" y="0"/>
                </a:moveTo>
                <a:lnTo>
                  <a:pt x="279403" y="0"/>
                </a:lnTo>
                <a:quadBezTo>
                  <a:pt x="342901" y="0"/>
                  <a:pt x="342901" y="63498"/>
                </a:quadBezTo>
                <a:lnTo>
                  <a:pt x="342901" y="279403"/>
                </a:lnTo>
                <a:quadBezTo>
                  <a:pt x="342901" y="342901"/>
                  <a:pt x="279403" y="342901"/>
                </a:quadBezTo>
                <a:lnTo>
                  <a:pt x="63498" y="342901"/>
                </a:lnTo>
                <a:quadBezTo>
                  <a:pt x="0" y="342901"/>
                  <a:pt x="0" y="279403"/>
                </a:quadBezTo>
                <a:lnTo>
                  <a:pt x="0" y="63498"/>
                </a:lnTo>
                <a:quadBezTo>
                  <a:pt x="0" y="0"/>
                  <a:pt x="63498" y="0"/>
                </a:quadBezTo>
                <a:close/>
              </a:path>
            </a:pathLst>
          </a:custGeom>
          <a:solidFill>
            <a:srgbClr val="14B8A6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566" y="2442201"/>
            <a:ext cx="161889" cy="161889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3486123" y="2857508"/>
            <a:ext cx="2171705" cy="185738"/>
          </a:xfrm>
          <a:custGeom>
            <a:avLst/>
            <a:gdLst/>
            <a:ahLst/>
            <a:cxnLst/>
            <a:rect l="l" t="t" r="r" b="b"/>
            <a:pathLst>
              <a:path w="2171705" h="185738">
                <a:moveTo>
                  <a:pt x="0" y="0"/>
                </a:moveTo>
                <a:lnTo>
                  <a:pt x="2171705" y="0"/>
                </a:lnTo>
                <a:lnTo>
                  <a:pt x="2171705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3486123" y="2857508"/>
            <a:ext cx="217170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95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overview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3486123" y="3129963"/>
            <a:ext cx="2171705" cy="547689"/>
          </a:xfrm>
          <a:custGeom>
            <a:avLst/>
            <a:gdLst/>
            <a:ahLst/>
            <a:cxnLst/>
            <a:rect l="l" t="t" r="r" b="b"/>
            <a:pathLst>
              <a:path w="2171705" h="547689">
                <a:moveTo>
                  <a:pt x="0" y="0"/>
                </a:moveTo>
                <a:lnTo>
                  <a:pt x="2171705" y="0"/>
                </a:lnTo>
                <a:lnTo>
                  <a:pt x="2171705" y="547689"/>
                </a:lnTo>
                <a:lnTo>
                  <a:pt x="0" y="547689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3486123" y="3129963"/>
            <a:ext cx="2171705" cy="547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D5E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the platform connects ordering, service flow, and operational control.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3486069" y="410688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3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3" y="0"/>
                </a:cubicBezTo>
                <a:cubicBezTo>
                  <a:pt x="10661" y="0"/>
                  <a:pt x="0" y="10661"/>
                  <a:pt x="0" y="23812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9" name="Shape 24"/>
          <p:cNvSpPr/>
          <p:nvPr/>
        </p:nvSpPr>
        <p:spPr>
          <a:xfrm>
            <a:off x="3591472" y="4061671"/>
            <a:ext cx="871539" cy="138113"/>
          </a:xfrm>
          <a:custGeom>
            <a:avLst/>
            <a:gdLst/>
            <a:ahLst/>
            <a:cxnLst/>
            <a:rect l="l" t="t" r="r" b="b"/>
            <a:pathLst>
              <a:path w="871539" h="138113">
                <a:moveTo>
                  <a:pt x="0" y="0"/>
                </a:moveTo>
                <a:lnTo>
                  <a:pt x="871539" y="0"/>
                </a:lnTo>
                <a:lnTo>
                  <a:pt x="871539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5"/>
          <p:cNvSpPr/>
          <p:nvPr/>
        </p:nvSpPr>
        <p:spPr>
          <a:xfrm>
            <a:off x="3591472" y="4061671"/>
            <a:ext cx="87153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B8CB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the solution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6057845" y="2132250"/>
            <a:ext cx="2571756" cy="2266955"/>
          </a:xfrm>
          <a:custGeom>
            <a:avLst/>
            <a:gdLst/>
            <a:ahLst/>
            <a:cxnLst/>
            <a:rect l="l" t="t" r="r" b="b"/>
            <a:pathLst>
              <a:path w="2571756" h="2266955">
                <a:moveTo>
                  <a:pt x="53795" y="0"/>
                </a:moveTo>
                <a:lnTo>
                  <a:pt x="2517962" y="0"/>
                </a:lnTo>
                <a:quadBezTo>
                  <a:pt x="2571756" y="0"/>
                  <a:pt x="2571756" y="53795"/>
                </a:quadBezTo>
                <a:lnTo>
                  <a:pt x="2571756" y="2213160"/>
                </a:lnTo>
                <a:quadBezTo>
                  <a:pt x="2571756" y="2266955"/>
                  <a:pt x="2517962" y="2266955"/>
                </a:quadBezTo>
                <a:lnTo>
                  <a:pt x="53795" y="2266955"/>
                </a:lnTo>
                <a:quadBezTo>
                  <a:pt x="0" y="2266955"/>
                  <a:pt x="0" y="2213160"/>
                </a:quadBezTo>
                <a:lnTo>
                  <a:pt x="0" y="53795"/>
                </a:lnTo>
                <a:quadBezTo>
                  <a:pt x="0" y="0"/>
                  <a:pt x="5379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32" name="Shape 27"/>
          <p:cNvSpPr/>
          <p:nvPr/>
        </p:nvSpPr>
        <p:spPr>
          <a:xfrm>
            <a:off x="6257812" y="2351693"/>
            <a:ext cx="342901" cy="342901"/>
          </a:xfrm>
          <a:custGeom>
            <a:avLst/>
            <a:gdLst/>
            <a:ahLst/>
            <a:cxnLst/>
            <a:rect l="l" t="t" r="r" b="b"/>
            <a:pathLst>
              <a:path w="342901" h="342901">
                <a:moveTo>
                  <a:pt x="63498" y="0"/>
                </a:moveTo>
                <a:lnTo>
                  <a:pt x="279403" y="0"/>
                </a:lnTo>
                <a:quadBezTo>
                  <a:pt x="342901" y="0"/>
                  <a:pt x="342901" y="63498"/>
                </a:quadBezTo>
                <a:lnTo>
                  <a:pt x="342901" y="279403"/>
                </a:lnTo>
                <a:quadBezTo>
                  <a:pt x="342901" y="342901"/>
                  <a:pt x="279403" y="342901"/>
                </a:quadBezTo>
                <a:lnTo>
                  <a:pt x="63498" y="342901"/>
                </a:lnTo>
                <a:quadBezTo>
                  <a:pt x="0" y="342901"/>
                  <a:pt x="0" y="279403"/>
                </a:quadBezTo>
                <a:lnTo>
                  <a:pt x="0" y="63498"/>
                </a:lnTo>
                <a:quadBezTo>
                  <a:pt x="0" y="0"/>
                  <a:pt x="63498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315" y="2442201"/>
            <a:ext cx="161889" cy="161889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257872" y="2857508"/>
            <a:ext cx="2171705" cy="185738"/>
          </a:xfrm>
          <a:custGeom>
            <a:avLst/>
            <a:gdLst/>
            <a:ahLst/>
            <a:cxnLst/>
            <a:rect l="l" t="t" r="r" b="b"/>
            <a:pathLst>
              <a:path w="2171705" h="185738">
                <a:moveTo>
                  <a:pt x="0" y="0"/>
                </a:moveTo>
                <a:lnTo>
                  <a:pt x="2171705" y="0"/>
                </a:lnTo>
                <a:lnTo>
                  <a:pt x="2171705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29"/>
          <p:cNvSpPr/>
          <p:nvPr/>
        </p:nvSpPr>
        <p:spPr>
          <a:xfrm>
            <a:off x="6257872" y="2857508"/>
            <a:ext cx="217170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95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Workflow to impact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6257872" y="3129963"/>
            <a:ext cx="2171705" cy="547689"/>
          </a:xfrm>
          <a:custGeom>
            <a:avLst/>
            <a:gdLst/>
            <a:ahLst/>
            <a:cxnLst/>
            <a:rect l="l" t="t" r="r" b="b"/>
            <a:pathLst>
              <a:path w="2171705" h="547689">
                <a:moveTo>
                  <a:pt x="0" y="0"/>
                </a:moveTo>
                <a:lnTo>
                  <a:pt x="2171705" y="0"/>
                </a:lnTo>
                <a:lnTo>
                  <a:pt x="2171705" y="547689"/>
                </a:lnTo>
                <a:lnTo>
                  <a:pt x="0" y="547689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7" name="Text 31"/>
          <p:cNvSpPr/>
          <p:nvPr/>
        </p:nvSpPr>
        <p:spPr>
          <a:xfrm>
            <a:off x="6257872" y="3129963"/>
            <a:ext cx="2171705" cy="547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steps, expected benefits, and the next move toward rollout.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6257818" y="410688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3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3" y="0"/>
                </a:cubicBezTo>
                <a:cubicBezTo>
                  <a:pt x="10661" y="0"/>
                  <a:pt x="0" y="10661"/>
                  <a:pt x="0" y="23812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39" name="Shape 33"/>
          <p:cNvSpPr/>
          <p:nvPr/>
        </p:nvSpPr>
        <p:spPr>
          <a:xfrm>
            <a:off x="6362416" y="4061671"/>
            <a:ext cx="742953" cy="138113"/>
          </a:xfrm>
          <a:custGeom>
            <a:avLst/>
            <a:gdLst/>
            <a:ahLst/>
            <a:cxnLst/>
            <a:rect l="l" t="t" r="r" b="b"/>
            <a:pathLst>
              <a:path w="742953" h="138113">
                <a:moveTo>
                  <a:pt x="0" y="0"/>
                </a:moveTo>
                <a:lnTo>
                  <a:pt x="742953" y="0"/>
                </a:lnTo>
                <a:lnTo>
                  <a:pt x="742953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0" name="Text 34"/>
          <p:cNvSpPr/>
          <p:nvPr/>
        </p:nvSpPr>
        <p:spPr>
          <a:xfrm>
            <a:off x="6362416" y="4061671"/>
            <a:ext cx="742953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 forward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514320" y="4680609"/>
            <a:ext cx="200025" cy="19050"/>
          </a:xfrm>
          <a:custGeom>
            <a:avLst/>
            <a:gdLst/>
            <a:ahLst/>
            <a:cxnLst/>
            <a:rect l="l" t="t" r="r" b="b"/>
            <a:pathLst>
              <a:path w="200025" h="19050">
                <a:moveTo>
                  <a:pt x="16933" y="0"/>
                </a:moveTo>
                <a:lnTo>
                  <a:pt x="338667" y="0"/>
                </a:lnTo>
                <a:quadBezTo>
                  <a:pt x="355600" y="0"/>
                  <a:pt x="355600" y="16933"/>
                </a:quadBezTo>
                <a:lnTo>
                  <a:pt x="355600" y="16933"/>
                </a:lnTo>
                <a:quadBezTo>
                  <a:pt x="355600" y="33867"/>
                  <a:pt x="338667" y="33867"/>
                </a:quadBezTo>
                <a:lnTo>
                  <a:pt x="16933" y="33867"/>
                </a:lnTo>
                <a:quadBezTo>
                  <a:pt x="0" y="33867"/>
                  <a:pt x="0" y="16933"/>
                </a:quadBezTo>
                <a:lnTo>
                  <a:pt x="0" y="16933"/>
                </a:lnTo>
                <a:quadBezTo>
                  <a:pt x="0" y="0"/>
                  <a:pt x="16933" y="0"/>
                </a:quad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42" name="Shape 36"/>
          <p:cNvSpPr/>
          <p:nvPr/>
        </p:nvSpPr>
        <p:spPr>
          <a:xfrm>
            <a:off x="781194" y="4628247"/>
            <a:ext cx="1557341" cy="123825"/>
          </a:xfrm>
          <a:custGeom>
            <a:avLst/>
            <a:gdLst/>
            <a:ahLst/>
            <a:cxnLst/>
            <a:rect l="l" t="t" r="r" b="b"/>
            <a:pathLst>
              <a:path w="1557341" h="123825">
                <a:moveTo>
                  <a:pt x="0" y="0"/>
                </a:moveTo>
                <a:lnTo>
                  <a:pt x="1557341" y="0"/>
                </a:lnTo>
                <a:lnTo>
                  <a:pt x="1557341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7"/>
          <p:cNvSpPr/>
          <p:nvPr/>
        </p:nvSpPr>
        <p:spPr>
          <a:xfrm>
            <a:off x="781194" y="4628247"/>
            <a:ext cx="15573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Canteen operations platform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8519728" y="4628247"/>
            <a:ext cx="109537" cy="123825"/>
          </a:xfrm>
          <a:custGeom>
            <a:avLst/>
            <a:gdLst/>
            <a:ahLst/>
            <a:cxnLst/>
            <a:rect l="l" t="t" r="r" b="b"/>
            <a:pathLst>
              <a:path w="109537" h="123825">
                <a:moveTo>
                  <a:pt x="0" y="0"/>
                </a:moveTo>
                <a:lnTo>
                  <a:pt x="109537" y="0"/>
                </a:lnTo>
                <a:lnTo>
                  <a:pt x="109537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5" name="Text 39"/>
          <p:cNvSpPr/>
          <p:nvPr/>
        </p:nvSpPr>
        <p:spPr>
          <a:xfrm>
            <a:off x="8519728" y="4628247"/>
            <a:ext cx="1095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0" y="-6"/>
            <a:ext cx="9144022" cy="5143511"/>
          </a:xfrm>
          <a:custGeom>
            <a:avLst/>
            <a:gdLst/>
            <a:ahLst/>
            <a:cxnLst/>
            <a:rect l="l" t="t" r="r" b="b"/>
            <a:pathLst>
              <a:path w="9144022" h="5143511">
                <a:moveTo>
                  <a:pt x="0" y="0"/>
                </a:moveTo>
                <a:lnTo>
                  <a:pt x="9144022" y="0"/>
                </a:lnTo>
                <a:lnTo>
                  <a:pt x="9144022" y="5143511"/>
                </a:lnTo>
                <a:lnTo>
                  <a:pt x="0" y="514351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-10" y="-6"/>
            <a:ext cx="9144022" cy="5143511"/>
          </a:xfrm>
          <a:custGeom>
            <a:avLst/>
            <a:gdLst/>
            <a:ahLst/>
            <a:cxnLst/>
            <a:rect l="l" t="t" r="r" b="b"/>
            <a:pathLst>
              <a:path w="9144022" h="5143511">
                <a:moveTo>
                  <a:pt x="0" y="0"/>
                </a:moveTo>
                <a:lnTo>
                  <a:pt x="9144022" y="0"/>
                </a:lnTo>
                <a:lnTo>
                  <a:pt x="9144022" y="5143511"/>
                </a:lnTo>
                <a:lnTo>
                  <a:pt x="0" y="5143511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457192" y="370959"/>
            <a:ext cx="8229619" cy="138113"/>
          </a:xfrm>
          <a:custGeom>
            <a:avLst/>
            <a:gdLst/>
            <a:ahLst/>
            <a:cxnLst/>
            <a:rect l="l" t="t" r="r" b="b"/>
            <a:pathLst>
              <a:path w="8229619" h="138113">
                <a:moveTo>
                  <a:pt x="0" y="0"/>
                </a:moveTo>
                <a:lnTo>
                  <a:pt x="8229619" y="0"/>
                </a:lnTo>
                <a:lnTo>
                  <a:pt x="8229619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192" y="370959"/>
            <a:ext cx="822961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SERVICE GAP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192" y="595299"/>
            <a:ext cx="8229619" cy="347663"/>
          </a:xfrm>
          <a:custGeom>
            <a:avLst/>
            <a:gdLst/>
            <a:ahLst/>
            <a:cxnLst/>
            <a:rect l="l" t="t" r="r" b="b"/>
            <a:pathLst>
              <a:path w="8229619" h="347663">
                <a:moveTo>
                  <a:pt x="0" y="0"/>
                </a:moveTo>
                <a:lnTo>
                  <a:pt x="8229619" y="0"/>
                </a:lnTo>
                <a:lnTo>
                  <a:pt x="8229619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192" y="595299"/>
            <a:ext cx="8229619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Canteens Need a Smarter System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144" y="1049216"/>
            <a:ext cx="5334011" cy="204787"/>
          </a:xfrm>
          <a:custGeom>
            <a:avLst/>
            <a:gdLst/>
            <a:ahLst/>
            <a:cxnLst/>
            <a:rect l="l" t="t" r="r" b="b"/>
            <a:pathLst>
              <a:path w="5334011" h="204787">
                <a:moveTo>
                  <a:pt x="0" y="0"/>
                </a:moveTo>
                <a:lnTo>
                  <a:pt x="5334011" y="0"/>
                </a:lnTo>
                <a:lnTo>
                  <a:pt x="5334011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57144" y="1049216"/>
            <a:ext cx="5334011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avoidable delay compounds when demand peaks.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8093" y="1596403"/>
            <a:ext cx="5338775" cy="3205170"/>
          </a:xfrm>
          <a:custGeom>
            <a:avLst/>
            <a:gdLst/>
            <a:ahLst/>
            <a:cxnLst/>
            <a:rect l="l" t="t" r="r" b="b"/>
            <a:pathLst>
              <a:path w="5338775" h="3205170">
                <a:moveTo>
                  <a:pt x="38045" y="0"/>
                </a:moveTo>
                <a:lnTo>
                  <a:pt x="5300730" y="0"/>
                </a:lnTo>
                <a:quadBezTo>
                  <a:pt x="5338775" y="0"/>
                  <a:pt x="5338775" y="38045"/>
                </a:quadBezTo>
                <a:lnTo>
                  <a:pt x="5338775" y="3167125"/>
                </a:lnTo>
                <a:quadBezTo>
                  <a:pt x="5338775" y="3205170"/>
                  <a:pt x="5300730" y="3205170"/>
                </a:quadBezTo>
                <a:lnTo>
                  <a:pt x="38045" y="3205170"/>
                </a:lnTo>
                <a:quadBezTo>
                  <a:pt x="0" y="3205170"/>
                  <a:pt x="0" y="3167125"/>
                </a:quadBezTo>
                <a:lnTo>
                  <a:pt x="0" y="38045"/>
                </a:lnTo>
                <a:quadBezTo>
                  <a:pt x="0" y="0"/>
                  <a:pt x="38045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00025" dist="85725" dir="2700000">
              <a:srgbClr val="0b1f3a">
                <a:alpha val="7843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24795" y="2321768"/>
            <a:ext cx="4805373" cy="161925"/>
          </a:xfrm>
          <a:custGeom>
            <a:avLst/>
            <a:gdLst/>
            <a:ahLst/>
            <a:cxnLst/>
            <a:rect l="l" t="t" r="r" b="b"/>
            <a:pathLst>
              <a:path w="4805373" h="161925">
                <a:moveTo>
                  <a:pt x="0" y="0"/>
                </a:moveTo>
                <a:lnTo>
                  <a:pt x="4805373" y="0"/>
                </a:lnTo>
                <a:lnTo>
                  <a:pt x="4805373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24795" y="2321768"/>
            <a:ext cx="48053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the current flow breaks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23849" y="2644628"/>
            <a:ext cx="247651" cy="247651"/>
          </a:xfrm>
          <a:custGeom>
            <a:avLst/>
            <a:gdLst/>
            <a:ahLst/>
            <a:cxnLst/>
            <a:rect l="l" t="t" r="r" b="b"/>
            <a:pathLst>
              <a:path w="247651" h="247651">
                <a:moveTo>
                  <a:pt x="0" y="123826"/>
                </a:moveTo>
                <a:cubicBezTo>
                  <a:pt x="0" y="192213"/>
                  <a:pt x="55439" y="247651"/>
                  <a:pt x="123826" y="247651"/>
                </a:cubicBezTo>
                <a:cubicBezTo>
                  <a:pt x="192213" y="247651"/>
                  <a:pt x="247651" y="192213"/>
                  <a:pt x="247651" y="123826"/>
                </a:cubicBezTo>
                <a:cubicBezTo>
                  <a:pt x="247651" y="55439"/>
                  <a:pt x="192213" y="0"/>
                  <a:pt x="123826" y="0"/>
                </a:cubicBezTo>
                <a:cubicBezTo>
                  <a:pt x="55439" y="0"/>
                  <a:pt x="0" y="55439"/>
                  <a:pt x="0" y="123826"/>
                </a:cubic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15" name="Text 12"/>
          <p:cNvSpPr/>
          <p:nvPr/>
        </p:nvSpPr>
        <p:spPr>
          <a:xfrm>
            <a:off x="723849" y="2644628"/>
            <a:ext cx="247651" cy="247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085886" y="2645573"/>
            <a:ext cx="3743334" cy="180975"/>
          </a:xfrm>
          <a:custGeom>
            <a:avLst/>
            <a:gdLst/>
            <a:ahLst/>
            <a:cxnLst/>
            <a:rect l="l" t="t" r="r" b="b"/>
            <a:pathLst>
              <a:path w="3743334" h="180975">
                <a:moveTo>
                  <a:pt x="0" y="0"/>
                </a:moveTo>
                <a:lnTo>
                  <a:pt x="3743334" y="0"/>
                </a:lnTo>
                <a:lnTo>
                  <a:pt x="3743334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1085886" y="2645573"/>
            <a:ext cx="37433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 queues form at peak times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085886" y="2864965"/>
            <a:ext cx="3743334" cy="161925"/>
          </a:xfrm>
          <a:custGeom>
            <a:avLst/>
            <a:gdLst/>
            <a:ahLst/>
            <a:cxnLst/>
            <a:rect l="l" t="t" r="r" b="b"/>
            <a:pathLst>
              <a:path w="3743334" h="161925">
                <a:moveTo>
                  <a:pt x="0" y="0"/>
                </a:moveTo>
                <a:lnTo>
                  <a:pt x="3743334" y="0"/>
                </a:lnTo>
                <a:lnTo>
                  <a:pt x="3743334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085886" y="2864965"/>
            <a:ext cx="37433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Lunch and break demand quickly overwhelms the serving line.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23849" y="3169119"/>
            <a:ext cx="247651" cy="247651"/>
          </a:xfrm>
          <a:custGeom>
            <a:avLst/>
            <a:gdLst/>
            <a:ahLst/>
            <a:cxnLst/>
            <a:rect l="l" t="t" r="r" b="b"/>
            <a:pathLst>
              <a:path w="247651" h="247651">
                <a:moveTo>
                  <a:pt x="0" y="123826"/>
                </a:moveTo>
                <a:cubicBezTo>
                  <a:pt x="0" y="192213"/>
                  <a:pt x="55439" y="247651"/>
                  <a:pt x="123826" y="247651"/>
                </a:cubicBezTo>
                <a:cubicBezTo>
                  <a:pt x="192213" y="247651"/>
                  <a:pt x="247651" y="192213"/>
                  <a:pt x="247651" y="123826"/>
                </a:cubicBezTo>
                <a:cubicBezTo>
                  <a:pt x="247651" y="55439"/>
                  <a:pt x="192213" y="0"/>
                  <a:pt x="123826" y="0"/>
                </a:cubicBezTo>
                <a:cubicBezTo>
                  <a:pt x="55439" y="0"/>
                  <a:pt x="0" y="55439"/>
                  <a:pt x="0" y="123826"/>
                </a:cubic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21" name="Text 18"/>
          <p:cNvSpPr/>
          <p:nvPr/>
        </p:nvSpPr>
        <p:spPr>
          <a:xfrm>
            <a:off x="723849" y="3169119"/>
            <a:ext cx="247651" cy="247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086212" y="3170062"/>
            <a:ext cx="4086234" cy="180975"/>
          </a:xfrm>
          <a:custGeom>
            <a:avLst/>
            <a:gdLst/>
            <a:ahLst/>
            <a:cxnLst/>
            <a:rect l="l" t="t" r="r" b="b"/>
            <a:pathLst>
              <a:path w="4086234" h="180975">
                <a:moveTo>
                  <a:pt x="0" y="0"/>
                </a:moveTo>
                <a:lnTo>
                  <a:pt x="4086234" y="0"/>
                </a:lnTo>
                <a:lnTo>
                  <a:pt x="4086234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1086212" y="3170062"/>
            <a:ext cx="40862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orders create avoidable friction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1086212" y="3389455"/>
            <a:ext cx="4086234" cy="161925"/>
          </a:xfrm>
          <a:custGeom>
            <a:avLst/>
            <a:gdLst/>
            <a:ahLst/>
            <a:cxnLst/>
            <a:rect l="l" t="t" r="r" b="b"/>
            <a:pathLst>
              <a:path w="4086234" h="161925">
                <a:moveTo>
                  <a:pt x="0" y="0"/>
                </a:moveTo>
                <a:lnTo>
                  <a:pt x="4086234" y="0"/>
                </a:lnTo>
                <a:lnTo>
                  <a:pt x="4086234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1086212" y="3389455"/>
            <a:ext cx="40862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Errors and rework slow staff down exactly when speed matters most.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23849" y="3693608"/>
            <a:ext cx="247651" cy="247651"/>
          </a:xfrm>
          <a:custGeom>
            <a:avLst/>
            <a:gdLst/>
            <a:ahLst/>
            <a:cxnLst/>
            <a:rect l="l" t="t" r="r" b="b"/>
            <a:pathLst>
              <a:path w="247651" h="247651">
                <a:moveTo>
                  <a:pt x="0" y="123826"/>
                </a:moveTo>
                <a:cubicBezTo>
                  <a:pt x="0" y="192213"/>
                  <a:pt x="55439" y="247651"/>
                  <a:pt x="123826" y="247651"/>
                </a:cubicBezTo>
                <a:cubicBezTo>
                  <a:pt x="192213" y="247651"/>
                  <a:pt x="247651" y="192213"/>
                  <a:pt x="247651" y="123826"/>
                </a:cubicBezTo>
                <a:cubicBezTo>
                  <a:pt x="247651" y="55439"/>
                  <a:pt x="192213" y="0"/>
                  <a:pt x="123826" y="0"/>
                </a:cubicBezTo>
                <a:cubicBezTo>
                  <a:pt x="55439" y="0"/>
                  <a:pt x="0" y="55439"/>
                  <a:pt x="0" y="123826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27" name="Text 24"/>
          <p:cNvSpPr/>
          <p:nvPr/>
        </p:nvSpPr>
        <p:spPr>
          <a:xfrm>
            <a:off x="723849" y="3693608"/>
            <a:ext cx="247651" cy="247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86601" y="3694552"/>
            <a:ext cx="4343410" cy="180975"/>
          </a:xfrm>
          <a:custGeom>
            <a:avLst/>
            <a:gdLst/>
            <a:ahLst/>
            <a:cxnLst/>
            <a:rect l="l" t="t" r="r" b="b"/>
            <a:pathLst>
              <a:path w="4343410" h="180975">
                <a:moveTo>
                  <a:pt x="0" y="0"/>
                </a:moveTo>
                <a:lnTo>
                  <a:pt x="4343410" y="0"/>
                </a:lnTo>
                <a:lnTo>
                  <a:pt x="4343410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1086601" y="3694552"/>
            <a:ext cx="43434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Slow payments hide demand signals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1086601" y="3913944"/>
            <a:ext cx="4343410" cy="161925"/>
          </a:xfrm>
          <a:custGeom>
            <a:avLst/>
            <a:gdLst/>
            <a:ahLst/>
            <a:cxnLst/>
            <a:rect l="l" t="t" r="r" b="b"/>
            <a:pathLst>
              <a:path w="4343410" h="161925">
                <a:moveTo>
                  <a:pt x="0" y="0"/>
                </a:moveTo>
                <a:lnTo>
                  <a:pt x="4343410" y="0"/>
                </a:lnTo>
                <a:lnTo>
                  <a:pt x="4343410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1086601" y="3913944"/>
            <a:ext cx="43434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Bottlenecks disrupt service flow and obscure the preparation load ahead.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101676" y="1596403"/>
            <a:ext cx="2586043" cy="3205170"/>
          </a:xfrm>
          <a:custGeom>
            <a:avLst/>
            <a:gdLst/>
            <a:ahLst/>
            <a:cxnLst/>
            <a:rect l="l" t="t" r="r" b="b"/>
            <a:pathLst>
              <a:path w="2586043" h="3205170">
                <a:moveTo>
                  <a:pt x="47144" y="0"/>
                </a:moveTo>
                <a:lnTo>
                  <a:pt x="2538899" y="0"/>
                </a:lnTo>
                <a:quadBezTo>
                  <a:pt x="2586043" y="0"/>
                  <a:pt x="2586043" y="47144"/>
                </a:quadBezTo>
                <a:lnTo>
                  <a:pt x="2586043" y="3158027"/>
                </a:lnTo>
                <a:quadBezTo>
                  <a:pt x="2586043" y="3205170"/>
                  <a:pt x="2538899" y="3205170"/>
                </a:quadBezTo>
                <a:lnTo>
                  <a:pt x="47144" y="3205170"/>
                </a:lnTo>
                <a:quadBezTo>
                  <a:pt x="0" y="3205170"/>
                  <a:pt x="0" y="3158027"/>
                </a:quadBezTo>
                <a:lnTo>
                  <a:pt x="0" y="47144"/>
                </a:lnTo>
                <a:quadBezTo>
                  <a:pt x="0" y="0"/>
                  <a:pt x="47144" y="0"/>
                </a:quadBezTo>
                <a:close/>
              </a:path>
            </a:pathLst>
          </a:custGeom>
          <a:solidFill>
            <a:srgbClr val="0B1F3A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1144" y="1825916"/>
            <a:ext cx="199982" cy="199982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6330274" y="2187039"/>
            <a:ext cx="2128843" cy="428626"/>
          </a:xfrm>
          <a:custGeom>
            <a:avLst/>
            <a:gdLst/>
            <a:ahLst/>
            <a:cxnLst/>
            <a:rect l="l" t="t" r="r" b="b"/>
            <a:pathLst>
              <a:path w="2128843" h="428626">
                <a:moveTo>
                  <a:pt x="0" y="0"/>
                </a:moveTo>
                <a:lnTo>
                  <a:pt x="2128843" y="0"/>
                </a:lnTo>
                <a:lnTo>
                  <a:pt x="2128843" y="428626"/>
                </a:lnTo>
                <a:lnTo>
                  <a:pt x="0" y="428626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31"/>
          <p:cNvSpPr/>
          <p:nvPr/>
        </p:nvSpPr>
        <p:spPr>
          <a:xfrm>
            <a:off x="6330274" y="2187039"/>
            <a:ext cx="2128843" cy="428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140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real cost is lost flow.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6330274" y="2729172"/>
            <a:ext cx="2128843" cy="547689"/>
          </a:xfrm>
          <a:custGeom>
            <a:avLst/>
            <a:gdLst/>
            <a:ahLst/>
            <a:cxnLst/>
            <a:rect l="l" t="t" r="r" b="b"/>
            <a:pathLst>
              <a:path w="2128843" h="547689">
                <a:moveTo>
                  <a:pt x="0" y="0"/>
                </a:moveTo>
                <a:lnTo>
                  <a:pt x="2128843" y="0"/>
                </a:lnTo>
                <a:lnTo>
                  <a:pt x="2128843" y="547689"/>
                </a:lnTo>
                <a:lnTo>
                  <a:pt x="0" y="547689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7" name="Text 33"/>
          <p:cNvSpPr/>
          <p:nvPr/>
        </p:nvSpPr>
        <p:spPr>
          <a:xfrm>
            <a:off x="6330274" y="2729172"/>
            <a:ext cx="2128843" cy="547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D9E5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ordering, payment, and preparation operate separately, every handoff adds delay.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6330274" y="4162816"/>
            <a:ext cx="2128843" cy="409576"/>
          </a:xfrm>
          <a:custGeom>
            <a:avLst/>
            <a:gdLst/>
            <a:ahLst/>
            <a:cxnLst/>
            <a:rect l="l" t="t" r="r" b="b"/>
            <a:pathLst>
              <a:path w="2128843" h="409576">
                <a:moveTo>
                  <a:pt x="0" y="0"/>
                </a:moveTo>
                <a:lnTo>
                  <a:pt x="2128843" y="0"/>
                </a:lnTo>
                <a:lnTo>
                  <a:pt x="2128843" y="409576"/>
                </a:lnTo>
                <a:lnTo>
                  <a:pt x="0" y="409576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Shape 35"/>
          <p:cNvSpPr/>
          <p:nvPr/>
        </p:nvSpPr>
        <p:spPr>
          <a:xfrm>
            <a:off x="6331138" y="440735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40" name="Shape 36"/>
          <p:cNvSpPr/>
          <p:nvPr/>
        </p:nvSpPr>
        <p:spPr>
          <a:xfrm>
            <a:off x="6463610" y="4300198"/>
            <a:ext cx="1995493" cy="271463"/>
          </a:xfrm>
          <a:custGeom>
            <a:avLst/>
            <a:gdLst/>
            <a:ahLst/>
            <a:cxnLst/>
            <a:rect l="l" t="t" r="r" b="b"/>
            <a:pathLst>
              <a:path w="1995493" h="271463">
                <a:moveTo>
                  <a:pt x="0" y="0"/>
                </a:moveTo>
                <a:lnTo>
                  <a:pt x="1995493" y="0"/>
                </a:lnTo>
                <a:lnTo>
                  <a:pt x="1995493" y="271463"/>
                </a:lnTo>
                <a:lnTo>
                  <a:pt x="0" y="2714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1" name="Text 37"/>
          <p:cNvSpPr/>
          <p:nvPr/>
        </p:nvSpPr>
        <p:spPr>
          <a:xfrm>
            <a:off x="6463610" y="4300198"/>
            <a:ext cx="199549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smoother system starts with visibility.</a:t>
            </a:r>
            <a:endParaRPr lang="en-US" sz="900" dirty="0"/>
          </a:p>
        </p:txBody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274" y="4162816"/>
            <a:ext cx="2128843" cy="4095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0" y="-6"/>
            <a:ext cx="9144022" cy="5143511"/>
          </a:xfrm>
          <a:custGeom>
            <a:avLst/>
            <a:gdLst/>
            <a:ahLst/>
            <a:cxnLst/>
            <a:rect l="l" t="t" r="r" b="b"/>
            <a:pathLst>
              <a:path w="9144022" h="5143511">
                <a:moveTo>
                  <a:pt x="0" y="0"/>
                </a:moveTo>
                <a:lnTo>
                  <a:pt x="9144022" y="0"/>
                </a:lnTo>
                <a:lnTo>
                  <a:pt x="9144022" y="5143511"/>
                </a:lnTo>
                <a:lnTo>
                  <a:pt x="0" y="514351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-10" y="-6"/>
            <a:ext cx="9144022" cy="5143511"/>
          </a:xfrm>
          <a:custGeom>
            <a:avLst/>
            <a:gdLst/>
            <a:ahLst/>
            <a:cxnLst/>
            <a:rect l="l" t="t" r="r" b="b"/>
            <a:pathLst>
              <a:path w="9144022" h="5143511">
                <a:moveTo>
                  <a:pt x="0" y="0"/>
                </a:moveTo>
                <a:lnTo>
                  <a:pt x="9144022" y="0"/>
                </a:lnTo>
                <a:lnTo>
                  <a:pt x="9144022" y="5143511"/>
                </a:lnTo>
                <a:lnTo>
                  <a:pt x="0" y="5143511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457192" y="361439"/>
            <a:ext cx="8229619" cy="138113"/>
          </a:xfrm>
          <a:custGeom>
            <a:avLst/>
            <a:gdLst/>
            <a:ahLst/>
            <a:cxnLst/>
            <a:rect l="l" t="t" r="r" b="b"/>
            <a:pathLst>
              <a:path w="8229619" h="138113">
                <a:moveTo>
                  <a:pt x="0" y="0"/>
                </a:moveTo>
                <a:lnTo>
                  <a:pt x="8229619" y="0"/>
                </a:lnTo>
                <a:lnTo>
                  <a:pt x="8229619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192" y="361439"/>
            <a:ext cx="822961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CANTEEN OPERATIONS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192" y="566730"/>
            <a:ext cx="8229619" cy="347663"/>
          </a:xfrm>
          <a:custGeom>
            <a:avLst/>
            <a:gdLst/>
            <a:ahLst/>
            <a:cxnLst/>
            <a:rect l="l" t="t" r="r" b="b"/>
            <a:pathLst>
              <a:path w="8229619" h="347663">
                <a:moveTo>
                  <a:pt x="0" y="0"/>
                </a:moveTo>
                <a:lnTo>
                  <a:pt x="8229619" y="0"/>
                </a:lnTo>
                <a:lnTo>
                  <a:pt x="8229619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192" y="566730"/>
            <a:ext cx="8229619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the Smart System Works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192" y="982556"/>
            <a:ext cx="8229619" cy="204787"/>
          </a:xfrm>
          <a:custGeom>
            <a:avLst/>
            <a:gdLst/>
            <a:ahLst/>
            <a:cxnLst/>
            <a:rect l="l" t="t" r="r" b="b"/>
            <a:pathLst>
              <a:path w="8229619" h="204787">
                <a:moveTo>
                  <a:pt x="0" y="0"/>
                </a:moveTo>
                <a:lnTo>
                  <a:pt x="8229619" y="0"/>
                </a:lnTo>
                <a:lnTo>
                  <a:pt x="8229619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57192" y="982556"/>
            <a:ext cx="8229619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connected flow from customer order to prioritized kitchen pickup.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186" y="1748815"/>
            <a:ext cx="4000509" cy="3052769"/>
          </a:xfrm>
          <a:custGeom>
            <a:avLst/>
            <a:gdLst/>
            <a:ahLst/>
            <a:cxnLst/>
            <a:rect l="l" t="t" r="r" b="b"/>
            <a:pathLst>
              <a:path w="4000509" h="3052769">
                <a:moveTo>
                  <a:pt x="39930" y="0"/>
                </a:moveTo>
                <a:lnTo>
                  <a:pt x="3960579" y="0"/>
                </a:lnTo>
                <a:quadBezTo>
                  <a:pt x="4000509" y="0"/>
                  <a:pt x="4000509" y="39930"/>
                </a:quadBezTo>
                <a:lnTo>
                  <a:pt x="4000509" y="3012839"/>
                </a:lnTo>
                <a:quadBezTo>
                  <a:pt x="4000509" y="3052769"/>
                  <a:pt x="3960579" y="3052769"/>
                </a:quadBezTo>
                <a:lnTo>
                  <a:pt x="39930" y="3052769"/>
                </a:lnTo>
                <a:quadBezTo>
                  <a:pt x="0" y="3052769"/>
                  <a:pt x="0" y="3012839"/>
                </a:quadBezTo>
                <a:lnTo>
                  <a:pt x="0" y="39930"/>
                </a:lnTo>
                <a:quadBezTo>
                  <a:pt x="0" y="0"/>
                  <a:pt x="3993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0" dist="76200" dir="2700000">
              <a:srgbClr val="0b1f3a">
                <a:alpha val="7843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04839" y="1979484"/>
            <a:ext cx="3505208" cy="557214"/>
          </a:xfrm>
          <a:custGeom>
            <a:avLst/>
            <a:gdLst/>
            <a:ahLst/>
            <a:cxnLst/>
            <a:rect l="l" t="t" r="r" b="b"/>
            <a:pathLst>
              <a:path w="3505208" h="557214">
                <a:moveTo>
                  <a:pt x="0" y="0"/>
                </a:moveTo>
                <a:lnTo>
                  <a:pt x="3505208" y="0"/>
                </a:lnTo>
                <a:lnTo>
                  <a:pt x="3505208" y="557214"/>
                </a:lnTo>
                <a:lnTo>
                  <a:pt x="0" y="557214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704794" y="2004032"/>
            <a:ext cx="342901" cy="342901"/>
          </a:xfrm>
          <a:custGeom>
            <a:avLst/>
            <a:gdLst/>
            <a:ahLst/>
            <a:cxnLst/>
            <a:rect l="l" t="t" r="r" b="b"/>
            <a:pathLst>
              <a:path w="342901" h="342901">
                <a:moveTo>
                  <a:pt x="63498" y="0"/>
                </a:moveTo>
                <a:lnTo>
                  <a:pt x="279403" y="0"/>
                </a:lnTo>
                <a:quadBezTo>
                  <a:pt x="342901" y="0"/>
                  <a:pt x="342901" y="63498"/>
                </a:quadBezTo>
                <a:lnTo>
                  <a:pt x="342901" y="279403"/>
                </a:lnTo>
                <a:quadBezTo>
                  <a:pt x="342901" y="342901"/>
                  <a:pt x="279403" y="342901"/>
                </a:quadBezTo>
                <a:lnTo>
                  <a:pt x="63498" y="342901"/>
                </a:lnTo>
                <a:quadBezTo>
                  <a:pt x="0" y="342901"/>
                  <a:pt x="0" y="279403"/>
                </a:quadBezTo>
                <a:lnTo>
                  <a:pt x="0" y="63498"/>
                </a:lnTo>
                <a:quadBezTo>
                  <a:pt x="0" y="0"/>
                  <a:pt x="63498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506" y="2089749"/>
            <a:ext cx="171413" cy="171413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151871" y="1977840"/>
            <a:ext cx="1590679" cy="138113"/>
          </a:xfrm>
          <a:custGeom>
            <a:avLst/>
            <a:gdLst/>
            <a:ahLst/>
            <a:cxnLst/>
            <a:rect l="l" t="t" r="r" b="b"/>
            <a:pathLst>
              <a:path w="1590679" h="138113">
                <a:moveTo>
                  <a:pt x="0" y="0"/>
                </a:moveTo>
                <a:lnTo>
                  <a:pt x="1590679" y="0"/>
                </a:lnTo>
                <a:lnTo>
                  <a:pt x="1590679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1151871" y="1977840"/>
            <a:ext cx="159067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JOURNEY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1151871" y="2153550"/>
            <a:ext cx="1590679" cy="219076"/>
          </a:xfrm>
          <a:custGeom>
            <a:avLst/>
            <a:gdLst/>
            <a:ahLst/>
            <a:cxnLst/>
            <a:rect l="l" t="t" r="r" b="b"/>
            <a:pathLst>
              <a:path w="1590679" h="219076">
                <a:moveTo>
                  <a:pt x="0" y="0"/>
                </a:moveTo>
                <a:lnTo>
                  <a:pt x="1590679" y="0"/>
                </a:lnTo>
                <a:lnTo>
                  <a:pt x="1590679" y="219076"/>
                </a:lnTo>
                <a:lnTo>
                  <a:pt x="0" y="219076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1151871" y="2153550"/>
            <a:ext cx="1590679" cy="21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 with ease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04781" y="2863219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104775"/>
                </a:moveTo>
                <a:cubicBezTo>
                  <a:pt x="0" y="162641"/>
                  <a:pt x="46909" y="209550"/>
                  <a:pt x="104775" y="209550"/>
                </a:cubicBezTo>
                <a:cubicBezTo>
                  <a:pt x="162641" y="209550"/>
                  <a:pt x="209550" y="162641"/>
                  <a:pt x="209550" y="104775"/>
                </a:cubicBezTo>
                <a:cubicBezTo>
                  <a:pt x="209550" y="46909"/>
                  <a:pt x="162641" y="0"/>
                  <a:pt x="104775" y="0"/>
                </a:cubicBezTo>
                <a:cubicBezTo>
                  <a:pt x="46909" y="0"/>
                  <a:pt x="0" y="46909"/>
                  <a:pt x="0" y="104775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20" name="Text 16"/>
          <p:cNvSpPr/>
          <p:nvPr/>
        </p:nvSpPr>
        <p:spPr>
          <a:xfrm>
            <a:off x="704781" y="2863219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1029269" y="2867983"/>
            <a:ext cx="2990858" cy="171450"/>
          </a:xfrm>
          <a:custGeom>
            <a:avLst/>
            <a:gdLst/>
            <a:ahLst/>
            <a:cxnLst/>
            <a:rect l="l" t="t" r="r" b="b"/>
            <a:pathLst>
              <a:path w="2990858" h="171450">
                <a:moveTo>
                  <a:pt x="0" y="0"/>
                </a:moveTo>
                <a:lnTo>
                  <a:pt x="2990858" y="0"/>
                </a:lnTo>
                <a:lnTo>
                  <a:pt x="2990858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1029269" y="2867983"/>
            <a:ext cx="29908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957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Choose any channel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1029269" y="3077789"/>
            <a:ext cx="2990858" cy="166688"/>
          </a:xfrm>
          <a:custGeom>
            <a:avLst/>
            <a:gdLst/>
            <a:ahLst/>
            <a:cxnLst/>
            <a:rect l="l" t="t" r="r" b="b"/>
            <a:pathLst>
              <a:path w="2990858" h="166688">
                <a:moveTo>
                  <a:pt x="0" y="0"/>
                </a:moveTo>
                <a:lnTo>
                  <a:pt x="2990858" y="0"/>
                </a:lnTo>
                <a:lnTo>
                  <a:pt x="2990858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1029269" y="3077789"/>
            <a:ext cx="2990858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 through the mobile app, kiosk, or counter.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704781" y="3406598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104775"/>
                </a:moveTo>
                <a:cubicBezTo>
                  <a:pt x="0" y="162641"/>
                  <a:pt x="46909" y="209550"/>
                  <a:pt x="104775" y="209550"/>
                </a:cubicBezTo>
                <a:cubicBezTo>
                  <a:pt x="162641" y="209550"/>
                  <a:pt x="209550" y="162641"/>
                  <a:pt x="209550" y="104775"/>
                </a:cubicBezTo>
                <a:cubicBezTo>
                  <a:pt x="209550" y="46909"/>
                  <a:pt x="162641" y="0"/>
                  <a:pt x="104775" y="0"/>
                </a:cubicBezTo>
                <a:cubicBezTo>
                  <a:pt x="46909" y="0"/>
                  <a:pt x="0" y="46909"/>
                  <a:pt x="0" y="104775"/>
                </a:cubicBezTo>
                <a:close/>
              </a:path>
            </a:pathLst>
          </a:custGeom>
          <a:solidFill>
            <a:srgbClr val="0B1F3A"/>
          </a:solidFill>
          <a:ln/>
        </p:spPr>
      </p:sp>
      <p:sp>
        <p:nvSpPr>
          <p:cNvPr id="26" name="Text 22"/>
          <p:cNvSpPr/>
          <p:nvPr/>
        </p:nvSpPr>
        <p:spPr>
          <a:xfrm>
            <a:off x="704781" y="3406598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1028650" y="3411364"/>
            <a:ext cx="3181358" cy="171450"/>
          </a:xfrm>
          <a:custGeom>
            <a:avLst/>
            <a:gdLst/>
            <a:ahLst/>
            <a:cxnLst/>
            <a:rect l="l" t="t" r="r" b="b"/>
            <a:pathLst>
              <a:path w="3181358" h="171450">
                <a:moveTo>
                  <a:pt x="0" y="0"/>
                </a:moveTo>
                <a:lnTo>
                  <a:pt x="3181358" y="0"/>
                </a:lnTo>
                <a:lnTo>
                  <a:pt x="3181358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1028650" y="3411364"/>
            <a:ext cx="31813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957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 when to collect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1028650" y="3621423"/>
            <a:ext cx="3181358" cy="333376"/>
          </a:xfrm>
          <a:custGeom>
            <a:avLst/>
            <a:gdLst/>
            <a:ahLst/>
            <a:cxnLst/>
            <a:rect l="l" t="t" r="r" b="b"/>
            <a:pathLst>
              <a:path w="3181358" h="333376">
                <a:moveTo>
                  <a:pt x="0" y="0"/>
                </a:moveTo>
                <a:lnTo>
                  <a:pt x="3181358" y="0"/>
                </a:lnTo>
                <a:lnTo>
                  <a:pt x="3181358" y="333376"/>
                </a:lnTo>
                <a:lnTo>
                  <a:pt x="0" y="333376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6"/>
          <p:cNvSpPr/>
          <p:nvPr/>
        </p:nvSpPr>
        <p:spPr>
          <a:xfrm>
            <a:off x="1028650" y="3621423"/>
            <a:ext cx="3181358" cy="33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Receive a queue token and estimated pickup time, then track status on screens or your phone.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704839" y="4233506"/>
            <a:ext cx="3505208" cy="338137"/>
          </a:xfrm>
          <a:custGeom>
            <a:avLst/>
            <a:gdLst/>
            <a:ahLst/>
            <a:cxnLst/>
            <a:rect l="l" t="t" r="r" b="b"/>
            <a:pathLst>
              <a:path w="3505208" h="338137">
                <a:moveTo>
                  <a:pt x="51515" y="0"/>
                </a:moveTo>
                <a:lnTo>
                  <a:pt x="3453692" y="0"/>
                </a:lnTo>
                <a:quadBezTo>
                  <a:pt x="3505208" y="0"/>
                  <a:pt x="3505208" y="51515"/>
                </a:quadBezTo>
                <a:lnTo>
                  <a:pt x="3505208" y="286622"/>
                </a:lnTo>
                <a:quadBezTo>
                  <a:pt x="3505208" y="338137"/>
                  <a:pt x="3453692" y="338137"/>
                </a:quadBezTo>
                <a:lnTo>
                  <a:pt x="51515" y="338137"/>
                </a:lnTo>
                <a:quadBezTo>
                  <a:pt x="0" y="338137"/>
                  <a:pt x="0" y="286622"/>
                </a:quadBezTo>
                <a:lnTo>
                  <a:pt x="0" y="51515"/>
                </a:lnTo>
                <a:quadBezTo>
                  <a:pt x="0" y="0"/>
                  <a:pt x="5151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32" name="Text 28"/>
          <p:cNvSpPr/>
          <p:nvPr/>
        </p:nvSpPr>
        <p:spPr>
          <a:xfrm>
            <a:off x="704839" y="4233506"/>
            <a:ext cx="3505208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 status. Less waiting. Better pickup timing.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4686309" y="1748815"/>
            <a:ext cx="4000509" cy="3052769"/>
          </a:xfrm>
          <a:custGeom>
            <a:avLst/>
            <a:gdLst/>
            <a:ahLst/>
            <a:cxnLst/>
            <a:rect l="l" t="t" r="r" b="b"/>
            <a:pathLst>
              <a:path w="4000509" h="3052769">
                <a:moveTo>
                  <a:pt x="39930" y="0"/>
                </a:moveTo>
                <a:lnTo>
                  <a:pt x="3960579" y="0"/>
                </a:lnTo>
                <a:quadBezTo>
                  <a:pt x="4000509" y="0"/>
                  <a:pt x="4000509" y="39930"/>
                </a:quadBezTo>
                <a:lnTo>
                  <a:pt x="4000509" y="3012839"/>
                </a:lnTo>
                <a:quadBezTo>
                  <a:pt x="4000509" y="3052769"/>
                  <a:pt x="3960579" y="3052769"/>
                </a:quadBezTo>
                <a:lnTo>
                  <a:pt x="39930" y="3052769"/>
                </a:lnTo>
                <a:quadBezTo>
                  <a:pt x="0" y="3052769"/>
                  <a:pt x="0" y="3012839"/>
                </a:quadBezTo>
                <a:lnTo>
                  <a:pt x="0" y="39930"/>
                </a:lnTo>
                <a:quadBezTo>
                  <a:pt x="0" y="0"/>
                  <a:pt x="39930" y="0"/>
                </a:quadBezTo>
                <a:close/>
              </a:path>
            </a:pathLst>
          </a:custGeom>
          <a:solidFill>
            <a:srgbClr val="0B1F3A"/>
          </a:solidFill>
          <a:ln/>
          <a:effectLst>
            <a:outerShdw sx="100000" sy="100000" kx="0" ky="0" algn="bl" rotWithShape="0" blurRad="190500" dist="76200" dir="2700000">
              <a:srgbClr val="0b1f3a">
                <a:alpha val="16078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4933958" y="1979484"/>
            <a:ext cx="3505208" cy="557214"/>
          </a:xfrm>
          <a:custGeom>
            <a:avLst/>
            <a:gdLst/>
            <a:ahLst/>
            <a:cxnLst/>
            <a:rect l="l" t="t" r="r" b="b"/>
            <a:pathLst>
              <a:path w="3505208" h="557214">
                <a:moveTo>
                  <a:pt x="0" y="0"/>
                </a:moveTo>
                <a:lnTo>
                  <a:pt x="3505208" y="0"/>
                </a:lnTo>
                <a:lnTo>
                  <a:pt x="3505208" y="557214"/>
                </a:lnTo>
                <a:lnTo>
                  <a:pt x="0" y="557214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Shape 31"/>
          <p:cNvSpPr/>
          <p:nvPr/>
        </p:nvSpPr>
        <p:spPr>
          <a:xfrm>
            <a:off x="4933913" y="2004032"/>
            <a:ext cx="342901" cy="342901"/>
          </a:xfrm>
          <a:custGeom>
            <a:avLst/>
            <a:gdLst/>
            <a:ahLst/>
            <a:cxnLst/>
            <a:rect l="l" t="t" r="r" b="b"/>
            <a:pathLst>
              <a:path w="342901" h="342901">
                <a:moveTo>
                  <a:pt x="63498" y="0"/>
                </a:moveTo>
                <a:lnTo>
                  <a:pt x="279403" y="0"/>
                </a:lnTo>
                <a:quadBezTo>
                  <a:pt x="342901" y="0"/>
                  <a:pt x="342901" y="63498"/>
                </a:quadBezTo>
                <a:lnTo>
                  <a:pt x="342901" y="279403"/>
                </a:lnTo>
                <a:quadBezTo>
                  <a:pt x="342901" y="342901"/>
                  <a:pt x="279403" y="342901"/>
                </a:quadBezTo>
                <a:lnTo>
                  <a:pt x="63498" y="342901"/>
                </a:lnTo>
                <a:quadBezTo>
                  <a:pt x="0" y="342901"/>
                  <a:pt x="0" y="279403"/>
                </a:quadBezTo>
                <a:lnTo>
                  <a:pt x="0" y="63498"/>
                </a:lnTo>
                <a:quadBezTo>
                  <a:pt x="0" y="0"/>
                  <a:pt x="63498" y="0"/>
                </a:quadBezTo>
                <a:close/>
              </a:path>
            </a:pathLst>
          </a:custGeom>
          <a:solidFill>
            <a:srgbClr val="14B8A6"/>
          </a:solidFill>
          <a:ln/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631" y="2089749"/>
            <a:ext cx="171413" cy="171413"/>
          </a:xfrm>
          <a:prstGeom prst="rect">
            <a:avLst/>
          </a:prstGeom>
        </p:spPr>
      </p:pic>
      <p:sp>
        <p:nvSpPr>
          <p:cNvPr id="37" name="Shape 32"/>
          <p:cNvSpPr/>
          <p:nvPr/>
        </p:nvSpPr>
        <p:spPr>
          <a:xfrm>
            <a:off x="5380951" y="1977840"/>
            <a:ext cx="1585916" cy="138113"/>
          </a:xfrm>
          <a:custGeom>
            <a:avLst/>
            <a:gdLst/>
            <a:ahLst/>
            <a:cxnLst/>
            <a:rect l="l" t="t" r="r" b="b"/>
            <a:pathLst>
              <a:path w="1585916" h="138113">
                <a:moveTo>
                  <a:pt x="0" y="0"/>
                </a:moveTo>
                <a:lnTo>
                  <a:pt x="1585916" y="0"/>
                </a:lnTo>
                <a:lnTo>
                  <a:pt x="1585916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33"/>
          <p:cNvSpPr/>
          <p:nvPr/>
        </p:nvSpPr>
        <p:spPr>
          <a:xfrm>
            <a:off x="5380951" y="1977840"/>
            <a:ext cx="1585916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5EEA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KITCHEN OPERATIONS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5380951" y="2153550"/>
            <a:ext cx="1585916" cy="219076"/>
          </a:xfrm>
          <a:custGeom>
            <a:avLst/>
            <a:gdLst/>
            <a:ahLst/>
            <a:cxnLst/>
            <a:rect l="l" t="t" r="r" b="b"/>
            <a:pathLst>
              <a:path w="1585916" h="219076">
                <a:moveTo>
                  <a:pt x="0" y="0"/>
                </a:moveTo>
                <a:lnTo>
                  <a:pt x="1585916" y="0"/>
                </a:lnTo>
                <a:lnTo>
                  <a:pt x="1585916" y="219076"/>
                </a:lnTo>
                <a:lnTo>
                  <a:pt x="0" y="219076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0" name="Text 35"/>
          <p:cNvSpPr/>
          <p:nvPr/>
        </p:nvSpPr>
        <p:spPr>
          <a:xfrm>
            <a:off x="5380951" y="2153550"/>
            <a:ext cx="1585916" cy="21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Cook by priority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4933900" y="2779593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104775"/>
                </a:moveTo>
                <a:cubicBezTo>
                  <a:pt x="0" y="162641"/>
                  <a:pt x="46909" y="209550"/>
                  <a:pt x="104775" y="209550"/>
                </a:cubicBezTo>
                <a:cubicBezTo>
                  <a:pt x="162641" y="209550"/>
                  <a:pt x="209550" y="162641"/>
                  <a:pt x="209550" y="104775"/>
                </a:cubicBezTo>
                <a:cubicBezTo>
                  <a:pt x="209550" y="46909"/>
                  <a:pt x="162641" y="0"/>
                  <a:pt x="104775" y="0"/>
                </a:cubicBezTo>
                <a:cubicBezTo>
                  <a:pt x="46909" y="0"/>
                  <a:pt x="0" y="46909"/>
                  <a:pt x="0" y="104775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2" name="Text 37"/>
          <p:cNvSpPr/>
          <p:nvPr/>
        </p:nvSpPr>
        <p:spPr>
          <a:xfrm>
            <a:off x="4933900" y="2779593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5257775" y="2784358"/>
            <a:ext cx="3181358" cy="171450"/>
          </a:xfrm>
          <a:custGeom>
            <a:avLst/>
            <a:gdLst/>
            <a:ahLst/>
            <a:cxnLst/>
            <a:rect l="l" t="t" r="r" b="b"/>
            <a:pathLst>
              <a:path w="3181358" h="171450">
                <a:moveTo>
                  <a:pt x="0" y="0"/>
                </a:moveTo>
                <a:lnTo>
                  <a:pt x="3181358" y="0"/>
                </a:lnTo>
                <a:lnTo>
                  <a:pt x="3181358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4" name="Text 39"/>
          <p:cNvSpPr/>
          <p:nvPr/>
        </p:nvSpPr>
        <p:spPr>
          <a:xfrm>
            <a:off x="5257775" y="2784358"/>
            <a:ext cx="31813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957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every order live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5257775" y="2994417"/>
            <a:ext cx="3181358" cy="333376"/>
          </a:xfrm>
          <a:custGeom>
            <a:avLst/>
            <a:gdLst/>
            <a:ahLst/>
            <a:cxnLst/>
            <a:rect l="l" t="t" r="r" b="b"/>
            <a:pathLst>
              <a:path w="3181358" h="333376">
                <a:moveTo>
                  <a:pt x="0" y="0"/>
                </a:moveTo>
                <a:lnTo>
                  <a:pt x="3181358" y="0"/>
                </a:lnTo>
                <a:lnTo>
                  <a:pt x="3181358" y="333376"/>
                </a:lnTo>
                <a:lnTo>
                  <a:pt x="0" y="333376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6" name="Text 41"/>
          <p:cNvSpPr/>
          <p:nvPr/>
        </p:nvSpPr>
        <p:spPr>
          <a:xfrm>
            <a:off x="5257775" y="2994417"/>
            <a:ext cx="3181358" cy="33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kitchen receives a live order stream as demand arrives.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4933900" y="349017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104775"/>
                </a:moveTo>
                <a:cubicBezTo>
                  <a:pt x="0" y="162641"/>
                  <a:pt x="46909" y="209550"/>
                  <a:pt x="104775" y="209550"/>
                </a:cubicBezTo>
                <a:cubicBezTo>
                  <a:pt x="162641" y="209550"/>
                  <a:pt x="209550" y="162641"/>
                  <a:pt x="209550" y="104775"/>
                </a:cubicBezTo>
                <a:cubicBezTo>
                  <a:pt x="209550" y="46909"/>
                  <a:pt x="162641" y="0"/>
                  <a:pt x="104775" y="0"/>
                </a:cubicBezTo>
                <a:cubicBezTo>
                  <a:pt x="46909" y="0"/>
                  <a:pt x="0" y="46909"/>
                  <a:pt x="0" y="104775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48" name="Text 43"/>
          <p:cNvSpPr/>
          <p:nvPr/>
        </p:nvSpPr>
        <p:spPr>
          <a:xfrm>
            <a:off x="4933900" y="349017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5257775" y="3494937"/>
            <a:ext cx="3181358" cy="171450"/>
          </a:xfrm>
          <a:custGeom>
            <a:avLst/>
            <a:gdLst/>
            <a:ahLst/>
            <a:cxnLst/>
            <a:rect l="l" t="t" r="r" b="b"/>
            <a:pathLst>
              <a:path w="3181358" h="171450">
                <a:moveTo>
                  <a:pt x="0" y="0"/>
                </a:moveTo>
                <a:lnTo>
                  <a:pt x="3181358" y="0"/>
                </a:lnTo>
                <a:lnTo>
                  <a:pt x="3181358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0" name="Text 45"/>
          <p:cNvSpPr/>
          <p:nvPr/>
        </p:nvSpPr>
        <p:spPr>
          <a:xfrm>
            <a:off x="5257775" y="3494937"/>
            <a:ext cx="31813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957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 in the right sequence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5257775" y="3704998"/>
            <a:ext cx="3181358" cy="333376"/>
          </a:xfrm>
          <a:custGeom>
            <a:avLst/>
            <a:gdLst/>
            <a:ahLst/>
            <a:cxnLst/>
            <a:rect l="l" t="t" r="r" b="b"/>
            <a:pathLst>
              <a:path w="3181358" h="333376">
                <a:moveTo>
                  <a:pt x="0" y="0"/>
                </a:moveTo>
                <a:lnTo>
                  <a:pt x="3181358" y="0"/>
                </a:lnTo>
                <a:lnTo>
                  <a:pt x="3181358" y="333376"/>
                </a:lnTo>
                <a:lnTo>
                  <a:pt x="0" y="333376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2" name="Text 47"/>
          <p:cNvSpPr/>
          <p:nvPr/>
        </p:nvSpPr>
        <p:spPr>
          <a:xfrm>
            <a:off x="5257775" y="3704998"/>
            <a:ext cx="3181358" cy="33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Orders are organized by priority to keep preparation coordinated and predictable.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4933958" y="4233480"/>
            <a:ext cx="3505208" cy="338137"/>
          </a:xfrm>
          <a:custGeom>
            <a:avLst/>
            <a:gdLst/>
            <a:ahLst/>
            <a:cxnLst/>
            <a:rect l="l" t="t" r="r" b="b"/>
            <a:pathLst>
              <a:path w="3505208" h="338137">
                <a:moveTo>
                  <a:pt x="51515" y="0"/>
                </a:moveTo>
                <a:lnTo>
                  <a:pt x="3453692" y="0"/>
                </a:lnTo>
                <a:quadBezTo>
                  <a:pt x="3505208" y="0"/>
                  <a:pt x="3505208" y="51515"/>
                </a:quadBezTo>
                <a:lnTo>
                  <a:pt x="3505208" y="286622"/>
                </a:lnTo>
                <a:quadBezTo>
                  <a:pt x="3505208" y="338137"/>
                  <a:pt x="3453692" y="338137"/>
                </a:quadBezTo>
                <a:lnTo>
                  <a:pt x="51515" y="338137"/>
                </a:lnTo>
                <a:quadBezTo>
                  <a:pt x="0" y="338137"/>
                  <a:pt x="0" y="286622"/>
                </a:quadBezTo>
                <a:lnTo>
                  <a:pt x="0" y="51515"/>
                </a:lnTo>
                <a:quadBezTo>
                  <a:pt x="0" y="0"/>
                  <a:pt x="51515" y="0"/>
                </a:quadBezTo>
                <a:close/>
              </a:path>
            </a:pathLst>
          </a:custGeom>
          <a:solidFill>
            <a:srgbClr val="17365D"/>
          </a:solidFill>
          <a:ln/>
        </p:spPr>
      </p:sp>
      <p:pic>
        <p:nvPicPr>
          <p:cNvPr id="5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00" y="4340650"/>
            <a:ext cx="123798" cy="123798"/>
          </a:xfrm>
          <a:prstGeom prst="rect">
            <a:avLst/>
          </a:prstGeom>
        </p:spPr>
      </p:pic>
      <p:sp>
        <p:nvSpPr>
          <p:cNvPr id="55" name="Shape 49"/>
          <p:cNvSpPr/>
          <p:nvPr/>
        </p:nvSpPr>
        <p:spPr>
          <a:xfrm>
            <a:off x="5238847" y="4328730"/>
            <a:ext cx="2333630" cy="147637"/>
          </a:xfrm>
          <a:custGeom>
            <a:avLst/>
            <a:gdLst/>
            <a:ahLst/>
            <a:cxnLst/>
            <a:rect l="l" t="t" r="r" b="b"/>
            <a:pathLst>
              <a:path w="2333630" h="147637">
                <a:moveTo>
                  <a:pt x="0" y="0"/>
                </a:moveTo>
                <a:lnTo>
                  <a:pt x="2333630" y="0"/>
                </a:lnTo>
                <a:lnTo>
                  <a:pt x="2333630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6" name="Text 50"/>
          <p:cNvSpPr/>
          <p:nvPr/>
        </p:nvSpPr>
        <p:spPr>
          <a:xfrm>
            <a:off x="5238847" y="4328730"/>
            <a:ext cx="233363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calmer line starts behind the counter.</a:t>
            </a:r>
            <a:endParaRPr lang="en-US" sz="900" dirty="0"/>
          </a:p>
        </p:txBody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39" y="1979484"/>
            <a:ext cx="3505208" cy="557214"/>
          </a:xfrm>
          <a:prstGeom prst="rect">
            <a:avLst/>
          </a:prstGeom>
        </p:spPr>
      </p:pic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3958" y="1979484"/>
            <a:ext cx="3505208" cy="5572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0" y="-6"/>
            <a:ext cx="9144022" cy="5143511"/>
          </a:xfrm>
          <a:custGeom>
            <a:avLst/>
            <a:gdLst/>
            <a:ahLst/>
            <a:cxnLst/>
            <a:rect l="l" t="t" r="r" b="b"/>
            <a:pathLst>
              <a:path w="9144022" h="5143511">
                <a:moveTo>
                  <a:pt x="0" y="0"/>
                </a:moveTo>
                <a:lnTo>
                  <a:pt x="9144022" y="0"/>
                </a:lnTo>
                <a:lnTo>
                  <a:pt x="9144022" y="5143511"/>
                </a:lnTo>
                <a:lnTo>
                  <a:pt x="0" y="514351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-10" y="-6"/>
            <a:ext cx="9144022" cy="5143511"/>
          </a:xfrm>
          <a:custGeom>
            <a:avLst/>
            <a:gdLst/>
            <a:ahLst/>
            <a:cxnLst/>
            <a:rect l="l" t="t" r="r" b="b"/>
            <a:pathLst>
              <a:path w="9144022" h="5143511">
                <a:moveTo>
                  <a:pt x="0" y="0"/>
                </a:moveTo>
                <a:lnTo>
                  <a:pt x="9144022" y="0"/>
                </a:lnTo>
                <a:lnTo>
                  <a:pt x="9144022" y="5143511"/>
                </a:lnTo>
                <a:lnTo>
                  <a:pt x="0" y="5143511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457192" y="342391"/>
            <a:ext cx="8229619" cy="138113"/>
          </a:xfrm>
          <a:custGeom>
            <a:avLst/>
            <a:gdLst/>
            <a:ahLst/>
            <a:cxnLst/>
            <a:rect l="l" t="t" r="r" b="b"/>
            <a:pathLst>
              <a:path w="8229619" h="138113">
                <a:moveTo>
                  <a:pt x="0" y="0"/>
                </a:moveTo>
                <a:lnTo>
                  <a:pt x="8229619" y="0"/>
                </a:lnTo>
                <a:lnTo>
                  <a:pt x="8229619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192" y="342391"/>
            <a:ext cx="822961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PLATFORM CAPABILITIES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192" y="547684"/>
            <a:ext cx="8229619" cy="347663"/>
          </a:xfrm>
          <a:custGeom>
            <a:avLst/>
            <a:gdLst/>
            <a:ahLst/>
            <a:cxnLst/>
            <a:rect l="l" t="t" r="r" b="b"/>
            <a:pathLst>
              <a:path w="8229619" h="347663">
                <a:moveTo>
                  <a:pt x="0" y="0"/>
                </a:moveTo>
                <a:lnTo>
                  <a:pt x="8229619" y="0"/>
                </a:lnTo>
                <a:lnTo>
                  <a:pt x="8229619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192" y="547684"/>
            <a:ext cx="8229619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path from order to pickup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139" y="963994"/>
            <a:ext cx="5619763" cy="409576"/>
          </a:xfrm>
          <a:custGeom>
            <a:avLst/>
            <a:gdLst/>
            <a:ahLst/>
            <a:cxnLst/>
            <a:rect l="l" t="t" r="r" b="b"/>
            <a:pathLst>
              <a:path w="5619763" h="409576">
                <a:moveTo>
                  <a:pt x="0" y="0"/>
                </a:moveTo>
                <a:lnTo>
                  <a:pt x="5619763" y="0"/>
                </a:lnTo>
                <a:lnTo>
                  <a:pt x="5619763" y="409576"/>
                </a:lnTo>
                <a:lnTo>
                  <a:pt x="0" y="409576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57139" y="963994"/>
            <a:ext cx="5619763" cy="40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Connected experiences help customers move confidently while operators stay in control.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975" y="1918404"/>
            <a:ext cx="2614618" cy="2119318"/>
          </a:xfrm>
          <a:custGeom>
            <a:avLst/>
            <a:gdLst/>
            <a:ahLst/>
            <a:cxnLst/>
            <a:rect l="l" t="t" r="r" b="b"/>
            <a:pathLst>
              <a:path w="2614618" h="2119318">
                <a:moveTo>
                  <a:pt x="53428" y="0"/>
                </a:moveTo>
                <a:lnTo>
                  <a:pt x="2561190" y="0"/>
                </a:lnTo>
                <a:quadBezTo>
                  <a:pt x="2614618" y="0"/>
                  <a:pt x="2614618" y="53428"/>
                </a:quadBezTo>
                <a:lnTo>
                  <a:pt x="2614618" y="2065890"/>
                </a:lnTo>
                <a:quadBezTo>
                  <a:pt x="2614618" y="2119318"/>
                  <a:pt x="2561190" y="2119318"/>
                </a:quadBezTo>
                <a:lnTo>
                  <a:pt x="53428" y="2119318"/>
                </a:lnTo>
                <a:quadBezTo>
                  <a:pt x="0" y="2119318"/>
                  <a:pt x="0" y="2065890"/>
                </a:quadBezTo>
                <a:lnTo>
                  <a:pt x="0" y="53428"/>
                </a:lnTo>
                <a:quadBezTo>
                  <a:pt x="0" y="0"/>
                  <a:pt x="53428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52400" dist="66675" dir="2700000">
              <a:srgbClr val="0b1f3a">
                <a:alpha val="7843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7127" y="2117420"/>
            <a:ext cx="342901" cy="342901"/>
          </a:xfrm>
          <a:custGeom>
            <a:avLst/>
            <a:gdLst/>
            <a:ahLst/>
            <a:cxnLst/>
            <a:rect l="l" t="t" r="r" b="b"/>
            <a:pathLst>
              <a:path w="342901" h="342901">
                <a:moveTo>
                  <a:pt x="63498" y="0"/>
                </a:moveTo>
                <a:lnTo>
                  <a:pt x="279403" y="0"/>
                </a:lnTo>
                <a:quadBezTo>
                  <a:pt x="342901" y="0"/>
                  <a:pt x="342901" y="63498"/>
                </a:quadBezTo>
                <a:lnTo>
                  <a:pt x="342901" y="279403"/>
                </a:lnTo>
                <a:quadBezTo>
                  <a:pt x="342901" y="342901"/>
                  <a:pt x="279403" y="342901"/>
                </a:quadBezTo>
                <a:lnTo>
                  <a:pt x="63498" y="342901"/>
                </a:lnTo>
                <a:quadBezTo>
                  <a:pt x="0" y="342901"/>
                  <a:pt x="0" y="279403"/>
                </a:quadBezTo>
                <a:lnTo>
                  <a:pt x="0" y="63498"/>
                </a:lnTo>
                <a:quadBezTo>
                  <a:pt x="0" y="0"/>
                  <a:pt x="63498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30" y="2207927"/>
            <a:ext cx="161889" cy="161889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58002" y="2613632"/>
            <a:ext cx="2214568" cy="195263"/>
          </a:xfrm>
          <a:custGeom>
            <a:avLst/>
            <a:gdLst/>
            <a:ahLst/>
            <a:cxnLst/>
            <a:rect l="l" t="t" r="r" b="b"/>
            <a:pathLst>
              <a:path w="2214568" h="195263">
                <a:moveTo>
                  <a:pt x="0" y="0"/>
                </a:moveTo>
                <a:lnTo>
                  <a:pt x="2214568" y="0"/>
                </a:lnTo>
                <a:lnTo>
                  <a:pt x="2214568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658002" y="2613632"/>
            <a:ext cx="221456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ordering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58002" y="2877428"/>
            <a:ext cx="2214568" cy="538164"/>
          </a:xfrm>
          <a:custGeom>
            <a:avLst/>
            <a:gdLst/>
            <a:ahLst/>
            <a:cxnLst/>
            <a:rect l="l" t="t" r="r" b="b"/>
            <a:pathLst>
              <a:path w="2214568" h="538164">
                <a:moveTo>
                  <a:pt x="0" y="0"/>
                </a:moveTo>
                <a:lnTo>
                  <a:pt x="2214568" y="0"/>
                </a:lnTo>
                <a:lnTo>
                  <a:pt x="2214568" y="538164"/>
                </a:lnTo>
                <a:lnTo>
                  <a:pt x="0" y="538164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658002" y="2877428"/>
            <a:ext cx="2214568" cy="538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 menus make browsing, customizing, and submitting every order simple.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58002" y="3550294"/>
            <a:ext cx="2214568" cy="147637"/>
          </a:xfrm>
          <a:custGeom>
            <a:avLst/>
            <a:gdLst/>
            <a:ahLst/>
            <a:cxnLst/>
            <a:rect l="l" t="t" r="r" b="b"/>
            <a:pathLst>
              <a:path w="2214568" h="147637">
                <a:moveTo>
                  <a:pt x="0" y="0"/>
                </a:moveTo>
                <a:lnTo>
                  <a:pt x="2214568" y="0"/>
                </a:lnTo>
                <a:lnTo>
                  <a:pt x="2214568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658002" y="3550294"/>
            <a:ext cx="2214568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Personalized menu choices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58002" y="3784570"/>
            <a:ext cx="2214568" cy="147637"/>
          </a:xfrm>
          <a:custGeom>
            <a:avLst/>
            <a:gdLst/>
            <a:ahLst/>
            <a:cxnLst/>
            <a:rect l="l" t="t" r="r" b="b"/>
            <a:pathLst>
              <a:path w="2214568" h="147637">
                <a:moveTo>
                  <a:pt x="0" y="0"/>
                </a:moveTo>
                <a:lnTo>
                  <a:pt x="2214568" y="0"/>
                </a:lnTo>
                <a:lnTo>
                  <a:pt x="2214568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658002" y="3784570"/>
            <a:ext cx="2214568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 order confirmation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264694" y="1918404"/>
            <a:ext cx="2614618" cy="2119318"/>
          </a:xfrm>
          <a:custGeom>
            <a:avLst/>
            <a:gdLst/>
            <a:ahLst/>
            <a:cxnLst/>
            <a:rect l="l" t="t" r="r" b="b"/>
            <a:pathLst>
              <a:path w="2614618" h="2119318">
                <a:moveTo>
                  <a:pt x="53428" y="0"/>
                </a:moveTo>
                <a:lnTo>
                  <a:pt x="2561190" y="0"/>
                </a:lnTo>
                <a:quadBezTo>
                  <a:pt x="2614618" y="0"/>
                  <a:pt x="2614618" y="53428"/>
                </a:quadBezTo>
                <a:lnTo>
                  <a:pt x="2614618" y="2065890"/>
                </a:lnTo>
                <a:quadBezTo>
                  <a:pt x="2614618" y="2119318"/>
                  <a:pt x="2561190" y="2119318"/>
                </a:quadBezTo>
                <a:lnTo>
                  <a:pt x="53428" y="2119318"/>
                </a:lnTo>
                <a:quadBezTo>
                  <a:pt x="0" y="2119318"/>
                  <a:pt x="0" y="2065890"/>
                </a:quadBezTo>
                <a:lnTo>
                  <a:pt x="0" y="53428"/>
                </a:lnTo>
                <a:quadBezTo>
                  <a:pt x="0" y="0"/>
                  <a:pt x="53428" y="0"/>
                </a:quadBezTo>
                <a:close/>
              </a:path>
            </a:pathLst>
          </a:custGeom>
          <a:solidFill>
            <a:srgbClr val="0B1F3A"/>
          </a:solidFill>
          <a:ln/>
          <a:effectLst>
            <a:outerShdw sx="100000" sy="100000" kx="0" ky="0" algn="bl" rotWithShape="0" blurRad="180975" dist="85725" dir="2700000">
              <a:srgbClr val="0b1f3a">
                <a:alpha val="18039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463841" y="2117420"/>
            <a:ext cx="342901" cy="342901"/>
          </a:xfrm>
          <a:custGeom>
            <a:avLst/>
            <a:gdLst/>
            <a:ahLst/>
            <a:cxnLst/>
            <a:rect l="l" t="t" r="r" b="b"/>
            <a:pathLst>
              <a:path w="342901" h="342901">
                <a:moveTo>
                  <a:pt x="63498" y="0"/>
                </a:moveTo>
                <a:lnTo>
                  <a:pt x="279403" y="0"/>
                </a:lnTo>
                <a:quadBezTo>
                  <a:pt x="342901" y="0"/>
                  <a:pt x="342901" y="63498"/>
                </a:quadBezTo>
                <a:lnTo>
                  <a:pt x="342901" y="279403"/>
                </a:lnTo>
                <a:quadBezTo>
                  <a:pt x="342901" y="342901"/>
                  <a:pt x="279403" y="342901"/>
                </a:quadBezTo>
                <a:lnTo>
                  <a:pt x="63498" y="342901"/>
                </a:lnTo>
                <a:quadBezTo>
                  <a:pt x="0" y="342901"/>
                  <a:pt x="0" y="279403"/>
                </a:quadBezTo>
                <a:lnTo>
                  <a:pt x="0" y="63498"/>
                </a:lnTo>
                <a:quadBezTo>
                  <a:pt x="0" y="0"/>
                  <a:pt x="63498" y="0"/>
                </a:quadBezTo>
                <a:close/>
              </a:path>
            </a:pathLst>
          </a:custGeom>
          <a:solidFill>
            <a:srgbClr val="14B8A6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349" y="2207927"/>
            <a:ext cx="161889" cy="161889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3464716" y="2612059"/>
            <a:ext cx="2214568" cy="190500"/>
          </a:xfrm>
          <a:custGeom>
            <a:avLst/>
            <a:gdLst/>
            <a:ahLst/>
            <a:cxnLst/>
            <a:rect l="l" t="t" r="r" b="b"/>
            <a:pathLst>
              <a:path w="2214568" h="190500">
                <a:moveTo>
                  <a:pt x="0" y="0"/>
                </a:moveTo>
                <a:lnTo>
                  <a:pt x="2214568" y="0"/>
                </a:lnTo>
                <a:lnTo>
                  <a:pt x="2214568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3464716" y="2612059"/>
            <a:ext cx="22145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queue tracking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464716" y="2868191"/>
            <a:ext cx="2214568" cy="519114"/>
          </a:xfrm>
          <a:custGeom>
            <a:avLst/>
            <a:gdLst/>
            <a:ahLst/>
            <a:cxnLst/>
            <a:rect l="l" t="t" r="r" b="b"/>
            <a:pathLst>
              <a:path w="2214568" h="519114">
                <a:moveTo>
                  <a:pt x="0" y="0"/>
                </a:moveTo>
                <a:lnTo>
                  <a:pt x="2214568" y="0"/>
                </a:lnTo>
                <a:lnTo>
                  <a:pt x="2214568" y="519114"/>
                </a:lnTo>
                <a:lnTo>
                  <a:pt x="0" y="519114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3464716" y="2868191"/>
            <a:ext cx="2214568" cy="519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1304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status updates give customers a clear view of what happens next.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3464716" y="3519645"/>
            <a:ext cx="2214568" cy="138113"/>
          </a:xfrm>
          <a:custGeom>
            <a:avLst/>
            <a:gdLst/>
            <a:ahLst/>
            <a:cxnLst/>
            <a:rect l="l" t="t" r="r" b="b"/>
            <a:pathLst>
              <a:path w="2214568" h="138113">
                <a:moveTo>
                  <a:pt x="0" y="0"/>
                </a:moveTo>
                <a:lnTo>
                  <a:pt x="2214568" y="0"/>
                </a:lnTo>
                <a:lnTo>
                  <a:pt x="2214568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5"/>
          <p:cNvSpPr/>
          <p:nvPr/>
        </p:nvSpPr>
        <p:spPr>
          <a:xfrm>
            <a:off x="3464716" y="3519645"/>
            <a:ext cx="221456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Visible progress from order to pickup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3464716" y="3742315"/>
            <a:ext cx="2214568" cy="138113"/>
          </a:xfrm>
          <a:custGeom>
            <a:avLst/>
            <a:gdLst/>
            <a:ahLst/>
            <a:cxnLst/>
            <a:rect l="l" t="t" r="r" b="b"/>
            <a:pathLst>
              <a:path w="2214568" h="138113">
                <a:moveTo>
                  <a:pt x="0" y="0"/>
                </a:moveTo>
                <a:lnTo>
                  <a:pt x="2214568" y="0"/>
                </a:lnTo>
                <a:lnTo>
                  <a:pt x="2214568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7"/>
          <p:cNvSpPr/>
          <p:nvPr/>
        </p:nvSpPr>
        <p:spPr>
          <a:xfrm>
            <a:off x="3464716" y="3742315"/>
            <a:ext cx="221456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uncertain waits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071408" y="1918404"/>
            <a:ext cx="2614618" cy="2119318"/>
          </a:xfrm>
          <a:custGeom>
            <a:avLst/>
            <a:gdLst/>
            <a:ahLst/>
            <a:cxnLst/>
            <a:rect l="l" t="t" r="r" b="b"/>
            <a:pathLst>
              <a:path w="2614618" h="2119318">
                <a:moveTo>
                  <a:pt x="53428" y="0"/>
                </a:moveTo>
                <a:lnTo>
                  <a:pt x="2561190" y="0"/>
                </a:lnTo>
                <a:quadBezTo>
                  <a:pt x="2614618" y="0"/>
                  <a:pt x="2614618" y="53428"/>
                </a:quadBezTo>
                <a:lnTo>
                  <a:pt x="2614618" y="2065890"/>
                </a:lnTo>
                <a:quadBezTo>
                  <a:pt x="2614618" y="2119318"/>
                  <a:pt x="2561190" y="2119318"/>
                </a:quadBezTo>
                <a:lnTo>
                  <a:pt x="53428" y="2119318"/>
                </a:lnTo>
                <a:quadBezTo>
                  <a:pt x="0" y="2119318"/>
                  <a:pt x="0" y="2065890"/>
                </a:quadBezTo>
                <a:lnTo>
                  <a:pt x="0" y="53428"/>
                </a:lnTo>
                <a:quadBezTo>
                  <a:pt x="0" y="0"/>
                  <a:pt x="53428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52400" dist="66675" dir="2700000">
              <a:srgbClr val="0b1f3a">
                <a:alpha val="7843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6270560" y="2117420"/>
            <a:ext cx="342901" cy="342901"/>
          </a:xfrm>
          <a:custGeom>
            <a:avLst/>
            <a:gdLst/>
            <a:ahLst/>
            <a:cxnLst/>
            <a:rect l="l" t="t" r="r" b="b"/>
            <a:pathLst>
              <a:path w="342901" h="342901">
                <a:moveTo>
                  <a:pt x="63498" y="0"/>
                </a:moveTo>
                <a:lnTo>
                  <a:pt x="279403" y="0"/>
                </a:lnTo>
                <a:quadBezTo>
                  <a:pt x="342901" y="0"/>
                  <a:pt x="342901" y="63498"/>
                </a:quadBezTo>
                <a:lnTo>
                  <a:pt x="342901" y="279403"/>
                </a:lnTo>
                <a:quadBezTo>
                  <a:pt x="342901" y="342901"/>
                  <a:pt x="279403" y="342901"/>
                </a:quadBezTo>
                <a:lnTo>
                  <a:pt x="63498" y="342901"/>
                </a:lnTo>
                <a:quadBezTo>
                  <a:pt x="0" y="342901"/>
                  <a:pt x="0" y="279403"/>
                </a:quadBezTo>
                <a:lnTo>
                  <a:pt x="0" y="63498"/>
                </a:lnTo>
                <a:quadBezTo>
                  <a:pt x="0" y="0"/>
                  <a:pt x="63498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63" y="2207927"/>
            <a:ext cx="161889" cy="161889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6271435" y="2613632"/>
            <a:ext cx="2214568" cy="195263"/>
          </a:xfrm>
          <a:custGeom>
            <a:avLst/>
            <a:gdLst/>
            <a:ahLst/>
            <a:cxnLst/>
            <a:rect l="l" t="t" r="r" b="b"/>
            <a:pathLst>
              <a:path w="2214568" h="195263">
                <a:moveTo>
                  <a:pt x="0" y="0"/>
                </a:moveTo>
                <a:lnTo>
                  <a:pt x="2214568" y="0"/>
                </a:lnTo>
                <a:lnTo>
                  <a:pt x="2214568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7" name="Text 31"/>
          <p:cNvSpPr/>
          <p:nvPr/>
        </p:nvSpPr>
        <p:spPr>
          <a:xfrm>
            <a:off x="6271435" y="2613632"/>
            <a:ext cx="221456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Cashless checkout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6271435" y="2877428"/>
            <a:ext cx="2214568" cy="538164"/>
          </a:xfrm>
          <a:custGeom>
            <a:avLst/>
            <a:gdLst/>
            <a:ahLst/>
            <a:cxnLst/>
            <a:rect l="l" t="t" r="r" b="b"/>
            <a:pathLst>
              <a:path w="2214568" h="538164">
                <a:moveTo>
                  <a:pt x="0" y="0"/>
                </a:moveTo>
                <a:lnTo>
                  <a:pt x="2214568" y="0"/>
                </a:lnTo>
                <a:lnTo>
                  <a:pt x="2214568" y="538164"/>
                </a:lnTo>
                <a:lnTo>
                  <a:pt x="0" y="538164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3"/>
          <p:cNvSpPr/>
          <p:nvPr/>
        </p:nvSpPr>
        <p:spPr>
          <a:xfrm>
            <a:off x="6271435" y="2877428"/>
            <a:ext cx="2214568" cy="538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 digital payments close the loop with a fast, reliable confirmation.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6271435" y="3550294"/>
            <a:ext cx="2214568" cy="147637"/>
          </a:xfrm>
          <a:custGeom>
            <a:avLst/>
            <a:gdLst/>
            <a:ahLst/>
            <a:cxnLst/>
            <a:rect l="l" t="t" r="r" b="b"/>
            <a:pathLst>
              <a:path w="2214568" h="147637">
                <a:moveTo>
                  <a:pt x="0" y="0"/>
                </a:moveTo>
                <a:lnTo>
                  <a:pt x="2214568" y="0"/>
                </a:lnTo>
                <a:lnTo>
                  <a:pt x="2214568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1" name="Text 35"/>
          <p:cNvSpPr/>
          <p:nvPr/>
        </p:nvSpPr>
        <p:spPr>
          <a:xfrm>
            <a:off x="6271435" y="3550294"/>
            <a:ext cx="2214568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Frictionless payment flow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6271435" y="3784570"/>
            <a:ext cx="2214568" cy="147637"/>
          </a:xfrm>
          <a:custGeom>
            <a:avLst/>
            <a:gdLst/>
            <a:ahLst/>
            <a:cxnLst/>
            <a:rect l="l" t="t" r="r" b="b"/>
            <a:pathLst>
              <a:path w="2214568" h="147637">
                <a:moveTo>
                  <a:pt x="0" y="0"/>
                </a:moveTo>
                <a:lnTo>
                  <a:pt x="2214568" y="0"/>
                </a:lnTo>
                <a:lnTo>
                  <a:pt x="2214568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7"/>
          <p:cNvSpPr/>
          <p:nvPr/>
        </p:nvSpPr>
        <p:spPr>
          <a:xfrm>
            <a:off x="6271435" y="3784570"/>
            <a:ext cx="2214568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Confidence at handoff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457192" y="4210069"/>
            <a:ext cx="8229619" cy="628651"/>
          </a:xfrm>
          <a:custGeom>
            <a:avLst/>
            <a:gdLst/>
            <a:ahLst/>
            <a:cxnLst/>
            <a:rect l="l" t="t" r="r" b="b"/>
            <a:pathLst>
              <a:path w="8229619" h="628651">
                <a:moveTo>
                  <a:pt x="166253" y="0"/>
                </a:moveTo>
                <a:lnTo>
                  <a:pt x="8063366" y="0"/>
                </a:lnTo>
                <a:quadBezTo>
                  <a:pt x="8229619" y="0"/>
                  <a:pt x="8229619" y="166253"/>
                </a:quadBezTo>
                <a:lnTo>
                  <a:pt x="8229619" y="462398"/>
                </a:lnTo>
                <a:quadBezTo>
                  <a:pt x="8229619" y="628651"/>
                  <a:pt x="8063366" y="628651"/>
                </a:quadBezTo>
                <a:lnTo>
                  <a:pt x="166253" y="628651"/>
                </a:lnTo>
                <a:quadBezTo>
                  <a:pt x="0" y="628651"/>
                  <a:pt x="0" y="462398"/>
                </a:quadBezTo>
                <a:lnTo>
                  <a:pt x="0" y="166253"/>
                </a:lnTo>
                <a:quadBezTo>
                  <a:pt x="0" y="0"/>
                  <a:pt x="166253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45" name="Shape 39"/>
          <p:cNvSpPr/>
          <p:nvPr/>
        </p:nvSpPr>
        <p:spPr>
          <a:xfrm>
            <a:off x="638084" y="4386283"/>
            <a:ext cx="276226" cy="276226"/>
          </a:xfrm>
          <a:custGeom>
            <a:avLst/>
            <a:gdLst/>
            <a:ahLst/>
            <a:cxnLst/>
            <a:rect l="l" t="t" r="r" b="b"/>
            <a:pathLst>
              <a:path w="276226" h="276226">
                <a:moveTo>
                  <a:pt x="67004" y="0"/>
                </a:moveTo>
                <a:lnTo>
                  <a:pt x="209222" y="0"/>
                </a:lnTo>
                <a:quadBezTo>
                  <a:pt x="276226" y="0"/>
                  <a:pt x="276226" y="67004"/>
                </a:quadBezTo>
                <a:lnTo>
                  <a:pt x="276226" y="209222"/>
                </a:lnTo>
                <a:quadBezTo>
                  <a:pt x="276226" y="276226"/>
                  <a:pt x="209222" y="276226"/>
                </a:quadBezTo>
                <a:lnTo>
                  <a:pt x="67004" y="276226"/>
                </a:lnTo>
                <a:quadBezTo>
                  <a:pt x="0" y="276226"/>
                  <a:pt x="0" y="209222"/>
                </a:quadBezTo>
                <a:lnTo>
                  <a:pt x="0" y="67004"/>
                </a:lnTo>
                <a:quadBezTo>
                  <a:pt x="0" y="0"/>
                  <a:pt x="67004" y="0"/>
                </a:quadBezTo>
                <a:close/>
              </a:path>
            </a:pathLst>
          </a:custGeom>
          <a:solidFill>
            <a:srgbClr val="22C55E"/>
          </a:solidFill>
          <a:ln/>
        </p:spPr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748" y="4452946"/>
            <a:ext cx="142845" cy="142845"/>
          </a:xfrm>
          <a:prstGeom prst="rect">
            <a:avLst/>
          </a:prstGeom>
        </p:spPr>
      </p:pic>
      <p:sp>
        <p:nvSpPr>
          <p:cNvPr id="47" name="Shape 40"/>
          <p:cNvSpPr/>
          <p:nvPr/>
        </p:nvSpPr>
        <p:spPr>
          <a:xfrm>
            <a:off x="1047025" y="4349659"/>
            <a:ext cx="4910149" cy="171450"/>
          </a:xfrm>
          <a:custGeom>
            <a:avLst/>
            <a:gdLst/>
            <a:ahLst/>
            <a:cxnLst/>
            <a:rect l="l" t="t" r="r" b="b"/>
            <a:pathLst>
              <a:path w="4910149" h="171450">
                <a:moveTo>
                  <a:pt x="0" y="0"/>
                </a:moveTo>
                <a:lnTo>
                  <a:pt x="4910149" y="0"/>
                </a:lnTo>
                <a:lnTo>
                  <a:pt x="4910149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8" name="Text 41"/>
          <p:cNvSpPr/>
          <p:nvPr/>
        </p:nvSpPr>
        <p:spPr>
          <a:xfrm>
            <a:off x="1047025" y="4349659"/>
            <a:ext cx="49101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957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Operations command center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1047025" y="4545819"/>
            <a:ext cx="4910149" cy="152400"/>
          </a:xfrm>
          <a:custGeom>
            <a:avLst/>
            <a:gdLst/>
            <a:ahLst/>
            <a:cxnLst/>
            <a:rect l="l" t="t" r="r" b="b"/>
            <a:pathLst>
              <a:path w="4910149" h="152400">
                <a:moveTo>
                  <a:pt x="0" y="0"/>
                </a:moveTo>
                <a:lnTo>
                  <a:pt x="4910149" y="0"/>
                </a:lnTo>
                <a:lnTo>
                  <a:pt x="4910149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0" name="Text 43"/>
          <p:cNvSpPr/>
          <p:nvPr/>
        </p:nvSpPr>
        <p:spPr>
          <a:xfrm>
            <a:off x="1047025" y="4545819"/>
            <a:ext cx="49101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admin dashboard monitors demand, queue activity, and service status in one view.</a:t>
            </a:r>
            <a:endParaRPr lang="en-US" sz="900" dirty="0"/>
          </a:p>
        </p:txBody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0153" y="4464864"/>
            <a:ext cx="119062" cy="119062"/>
          </a:xfrm>
          <a:prstGeom prst="rect">
            <a:avLst/>
          </a:prstGeom>
        </p:spPr>
      </p:pic>
      <p:sp>
        <p:nvSpPr>
          <p:cNvPr id="52" name="Shape 44"/>
          <p:cNvSpPr/>
          <p:nvPr/>
        </p:nvSpPr>
        <p:spPr>
          <a:xfrm>
            <a:off x="6986513" y="4462483"/>
            <a:ext cx="1519241" cy="123825"/>
          </a:xfrm>
          <a:custGeom>
            <a:avLst/>
            <a:gdLst/>
            <a:ahLst/>
            <a:cxnLst/>
            <a:rect l="l" t="t" r="r" b="b"/>
            <a:pathLst>
              <a:path w="1519241" h="123825">
                <a:moveTo>
                  <a:pt x="0" y="0"/>
                </a:moveTo>
                <a:lnTo>
                  <a:pt x="1519241" y="0"/>
                </a:lnTo>
                <a:lnTo>
                  <a:pt x="1519241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3" name="Text 45"/>
          <p:cNvSpPr/>
          <p:nvPr/>
        </p:nvSpPr>
        <p:spPr>
          <a:xfrm>
            <a:off x="6986513" y="4462483"/>
            <a:ext cx="15192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for confident decisions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0" y="-6"/>
            <a:ext cx="9144022" cy="5143511"/>
          </a:xfrm>
          <a:custGeom>
            <a:avLst/>
            <a:gdLst/>
            <a:ahLst/>
            <a:cxnLst/>
            <a:rect l="l" t="t" r="r" b="b"/>
            <a:pathLst>
              <a:path w="9144022" h="5143511">
                <a:moveTo>
                  <a:pt x="0" y="0"/>
                </a:moveTo>
                <a:lnTo>
                  <a:pt x="9144022" y="0"/>
                </a:lnTo>
                <a:lnTo>
                  <a:pt x="9144022" y="5143511"/>
                </a:lnTo>
                <a:lnTo>
                  <a:pt x="0" y="514351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-10" y="-6"/>
            <a:ext cx="9144022" cy="5143511"/>
          </a:xfrm>
          <a:custGeom>
            <a:avLst/>
            <a:gdLst/>
            <a:ahLst/>
            <a:cxnLst/>
            <a:rect l="l" t="t" r="r" b="b"/>
            <a:pathLst>
              <a:path w="9144022" h="5143511">
                <a:moveTo>
                  <a:pt x="0" y="0"/>
                </a:moveTo>
                <a:lnTo>
                  <a:pt x="9144022" y="0"/>
                </a:lnTo>
                <a:lnTo>
                  <a:pt x="9144022" y="5143511"/>
                </a:lnTo>
                <a:lnTo>
                  <a:pt x="0" y="5143511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438142" y="361436"/>
            <a:ext cx="8267719" cy="138113"/>
          </a:xfrm>
          <a:custGeom>
            <a:avLst/>
            <a:gdLst/>
            <a:ahLst/>
            <a:cxnLst/>
            <a:rect l="l" t="t" r="r" b="b"/>
            <a:pathLst>
              <a:path w="8267719" h="138113">
                <a:moveTo>
                  <a:pt x="0" y="0"/>
                </a:moveTo>
                <a:lnTo>
                  <a:pt x="8267719" y="0"/>
                </a:lnTo>
                <a:lnTo>
                  <a:pt x="8267719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38142" y="361436"/>
            <a:ext cx="826771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 FLOW CONTROL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38142" y="576252"/>
            <a:ext cx="8267719" cy="347663"/>
          </a:xfrm>
          <a:custGeom>
            <a:avLst/>
            <a:gdLst/>
            <a:ahLst/>
            <a:cxnLst/>
            <a:rect l="l" t="t" r="r" b="b"/>
            <a:pathLst>
              <a:path w="8267719" h="347663">
                <a:moveTo>
                  <a:pt x="0" y="0"/>
                </a:moveTo>
                <a:lnTo>
                  <a:pt x="8267719" y="0"/>
                </a:lnTo>
                <a:lnTo>
                  <a:pt x="8267719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38142" y="576252"/>
            <a:ext cx="8267719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Queue Intelligence and Order Prioritization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093" y="1001137"/>
            <a:ext cx="5619763" cy="385763"/>
          </a:xfrm>
          <a:custGeom>
            <a:avLst/>
            <a:gdLst/>
            <a:ahLst/>
            <a:cxnLst/>
            <a:rect l="l" t="t" r="r" b="b"/>
            <a:pathLst>
              <a:path w="5619763" h="385763">
                <a:moveTo>
                  <a:pt x="0" y="0"/>
                </a:moveTo>
                <a:lnTo>
                  <a:pt x="5619763" y="0"/>
                </a:lnTo>
                <a:lnTo>
                  <a:pt x="5619763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38093" y="1001137"/>
            <a:ext cx="56197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dynamic queue keeps every order moving through the right lane, service point, and alert state.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8967" y="1929326"/>
            <a:ext cx="5495938" cy="2890844"/>
          </a:xfrm>
          <a:custGeom>
            <a:avLst/>
            <a:gdLst/>
            <a:ahLst/>
            <a:cxnLst/>
            <a:rect l="l" t="t" r="r" b="b"/>
            <a:pathLst>
              <a:path w="5495938" h="2890844">
                <a:moveTo>
                  <a:pt x="42177" y="0"/>
                </a:moveTo>
                <a:lnTo>
                  <a:pt x="5453760" y="0"/>
                </a:lnTo>
                <a:quadBezTo>
                  <a:pt x="5495938" y="0"/>
                  <a:pt x="5495938" y="42177"/>
                </a:quadBezTo>
                <a:lnTo>
                  <a:pt x="5495938" y="2848666"/>
                </a:lnTo>
                <a:quadBezTo>
                  <a:pt x="5495938" y="2890844"/>
                  <a:pt x="5453760" y="2890844"/>
                </a:quadBezTo>
                <a:lnTo>
                  <a:pt x="42177" y="2890844"/>
                </a:lnTo>
                <a:quadBezTo>
                  <a:pt x="0" y="2890844"/>
                  <a:pt x="0" y="2848666"/>
                </a:quadBezTo>
                <a:lnTo>
                  <a:pt x="0" y="42177"/>
                </a:lnTo>
                <a:quadBezTo>
                  <a:pt x="0" y="0"/>
                  <a:pt x="42177" y="0"/>
                </a:quadBezTo>
                <a:close/>
              </a:path>
            </a:pathLst>
          </a:custGeom>
          <a:solidFill>
            <a:srgbClr val="EAF2F8"/>
          </a:solidFill>
          <a:ln/>
          <a:effectLst>
            <a:outerShdw sx="100000" sy="100000" kx="0" ky="0" algn="bl" rotWithShape="0" blurRad="142875" dist="57150" dir="2700000">
              <a:srgbClr val="0b1f3a">
                <a:alpha val="7843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8117" y="2130302"/>
            <a:ext cx="2900369" cy="204787"/>
          </a:xfrm>
          <a:custGeom>
            <a:avLst/>
            <a:gdLst/>
            <a:ahLst/>
            <a:cxnLst/>
            <a:rect l="l" t="t" r="r" b="b"/>
            <a:pathLst>
              <a:path w="2900369" h="204787">
                <a:moveTo>
                  <a:pt x="0" y="0"/>
                </a:moveTo>
                <a:lnTo>
                  <a:pt x="2900369" y="0"/>
                </a:lnTo>
                <a:lnTo>
                  <a:pt x="2900369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48117" y="2130302"/>
            <a:ext cx="2900369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696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queue that adapts in real time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8117" y="2393633"/>
            <a:ext cx="2900369" cy="152400"/>
          </a:xfrm>
          <a:custGeom>
            <a:avLst/>
            <a:gdLst/>
            <a:ahLst/>
            <a:cxnLst/>
            <a:rect l="l" t="t" r="r" b="b"/>
            <a:pathLst>
              <a:path w="2900369" h="152400">
                <a:moveTo>
                  <a:pt x="0" y="0"/>
                </a:moveTo>
                <a:lnTo>
                  <a:pt x="2900369" y="0"/>
                </a:lnTo>
                <a:lnTo>
                  <a:pt x="2900369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48117" y="2393633"/>
            <a:ext cx="29003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 time shapes priority; lane rules shape flow.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484065" y="2129815"/>
            <a:ext cx="1243015" cy="257176"/>
          </a:xfrm>
          <a:custGeom>
            <a:avLst/>
            <a:gdLst/>
            <a:ahLst/>
            <a:cxnLst/>
            <a:rect l="l" t="t" r="r" b="b"/>
            <a:pathLst>
              <a:path w="1243015" h="257176">
                <a:moveTo>
                  <a:pt x="114299" y="0"/>
                </a:moveTo>
                <a:lnTo>
                  <a:pt x="1128716" y="0"/>
                </a:lnTo>
                <a:quadBezTo>
                  <a:pt x="1243015" y="0"/>
                  <a:pt x="1243015" y="114299"/>
                </a:quadBezTo>
                <a:lnTo>
                  <a:pt x="1243015" y="142877"/>
                </a:lnTo>
                <a:quadBezTo>
                  <a:pt x="1243015" y="257176"/>
                  <a:pt x="1128716" y="257176"/>
                </a:quadBezTo>
                <a:lnTo>
                  <a:pt x="114299" y="257176"/>
                </a:lnTo>
                <a:quadBezTo>
                  <a:pt x="0" y="257176"/>
                  <a:pt x="0" y="142877"/>
                </a:quadBezTo>
                <a:lnTo>
                  <a:pt x="0" y="114299"/>
                </a:lnTo>
                <a:quadBezTo>
                  <a:pt x="0" y="0"/>
                  <a:pt x="114299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1072" y="2206001"/>
            <a:ext cx="104752" cy="10475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712647" y="2186964"/>
            <a:ext cx="938215" cy="142875"/>
          </a:xfrm>
          <a:custGeom>
            <a:avLst/>
            <a:gdLst/>
            <a:ahLst/>
            <a:cxnLst/>
            <a:rect l="l" t="t" r="r" b="b"/>
            <a:pathLst>
              <a:path w="938215" h="142875">
                <a:moveTo>
                  <a:pt x="0" y="0"/>
                </a:moveTo>
                <a:lnTo>
                  <a:pt x="938215" y="0"/>
                </a:lnTo>
                <a:lnTo>
                  <a:pt x="93821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4712647" y="2186964"/>
            <a:ext cx="9382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QUEUE LOGIC</a:t>
            </a:r>
            <a:endParaRPr lang="en-US" sz="9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15" y="2709375"/>
            <a:ext cx="5076836" cy="190976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182561" y="1929282"/>
            <a:ext cx="2524131" cy="1128715"/>
          </a:xfrm>
          <a:custGeom>
            <a:avLst/>
            <a:gdLst/>
            <a:ahLst/>
            <a:cxnLst/>
            <a:rect l="l" t="t" r="r" b="b"/>
            <a:pathLst>
              <a:path w="2524131" h="1128715">
                <a:moveTo>
                  <a:pt x="100309" y="0"/>
                </a:moveTo>
                <a:lnTo>
                  <a:pt x="2423822" y="0"/>
                </a:lnTo>
                <a:quadBezTo>
                  <a:pt x="2524131" y="0"/>
                  <a:pt x="2524131" y="100309"/>
                </a:quadBezTo>
                <a:lnTo>
                  <a:pt x="2524131" y="1028406"/>
                </a:lnTo>
                <a:quadBezTo>
                  <a:pt x="2524131" y="1128715"/>
                  <a:pt x="2423822" y="1128715"/>
                </a:quadBezTo>
                <a:lnTo>
                  <a:pt x="100309" y="1128715"/>
                </a:lnTo>
                <a:quadBezTo>
                  <a:pt x="0" y="1128715"/>
                  <a:pt x="0" y="1028406"/>
                </a:quadBezTo>
                <a:lnTo>
                  <a:pt x="0" y="100309"/>
                </a:lnTo>
                <a:quadBezTo>
                  <a:pt x="0" y="0"/>
                  <a:pt x="100309" y="0"/>
                </a:quadBezTo>
                <a:close/>
              </a:path>
            </a:pathLst>
          </a:custGeom>
          <a:solidFill>
            <a:srgbClr val="0B1F3A"/>
          </a:solidFill>
          <a:ln/>
          <a:effectLst>
            <a:outerShdw sx="100000" sy="100000" kx="0" ky="0" algn="bl" rotWithShape="0" blurRad="142875" dist="57150" dir="2700000">
              <a:srgbClr val="0b1f3a">
                <a:alpha val="12157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354821" y="2150736"/>
            <a:ext cx="247651" cy="247651"/>
          </a:xfrm>
          <a:custGeom>
            <a:avLst/>
            <a:gdLst/>
            <a:ahLst/>
            <a:cxnLst/>
            <a:rect l="l" t="t" r="r" b="b"/>
            <a:pathLst>
              <a:path w="247651" h="247651">
                <a:moveTo>
                  <a:pt x="70338" y="0"/>
                </a:moveTo>
                <a:lnTo>
                  <a:pt x="177313" y="0"/>
                </a:lnTo>
                <a:quadBezTo>
                  <a:pt x="247651" y="0"/>
                  <a:pt x="247651" y="70338"/>
                </a:quadBezTo>
                <a:lnTo>
                  <a:pt x="247651" y="177313"/>
                </a:lnTo>
                <a:quadBezTo>
                  <a:pt x="247651" y="247651"/>
                  <a:pt x="177313" y="247651"/>
                </a:quadBezTo>
                <a:lnTo>
                  <a:pt x="70338" y="247651"/>
                </a:lnTo>
                <a:quadBezTo>
                  <a:pt x="0" y="247651"/>
                  <a:pt x="0" y="177313"/>
                </a:quadBezTo>
                <a:lnTo>
                  <a:pt x="0" y="70338"/>
                </a:lnTo>
                <a:quadBezTo>
                  <a:pt x="0" y="0"/>
                  <a:pt x="70338" y="0"/>
                </a:quadBezTo>
                <a:close/>
              </a:path>
            </a:pathLst>
          </a:custGeom>
          <a:solidFill>
            <a:srgbClr val="14B8A6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958" y="2207873"/>
            <a:ext cx="133321" cy="133321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677853" y="2091229"/>
            <a:ext cx="1857379" cy="366712"/>
          </a:xfrm>
          <a:custGeom>
            <a:avLst/>
            <a:gdLst/>
            <a:ahLst/>
            <a:cxnLst/>
            <a:rect l="l" t="t" r="r" b="b"/>
            <a:pathLst>
              <a:path w="1857379" h="366712">
                <a:moveTo>
                  <a:pt x="0" y="0"/>
                </a:moveTo>
                <a:lnTo>
                  <a:pt x="1857379" y="0"/>
                </a:lnTo>
                <a:lnTo>
                  <a:pt x="1857379" y="366712"/>
                </a:lnTo>
                <a:lnTo>
                  <a:pt x="0" y="3667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6677853" y="2091229"/>
            <a:ext cx="1857379" cy="36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lanes, one clear rule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6354011" y="2562189"/>
            <a:ext cx="2181230" cy="333376"/>
          </a:xfrm>
          <a:custGeom>
            <a:avLst/>
            <a:gdLst/>
            <a:ahLst/>
            <a:cxnLst/>
            <a:rect l="l" t="t" r="r" b="b"/>
            <a:pathLst>
              <a:path w="2181230" h="333376">
                <a:moveTo>
                  <a:pt x="0" y="0"/>
                </a:moveTo>
                <a:lnTo>
                  <a:pt x="2181230" y="0"/>
                </a:lnTo>
                <a:lnTo>
                  <a:pt x="2181230" y="333376"/>
                </a:lnTo>
                <a:lnTo>
                  <a:pt x="0" y="333376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6354011" y="2562189"/>
            <a:ext cx="2181230" cy="33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Express orders move fast; standard orders stay orderly.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6182561" y="3181298"/>
            <a:ext cx="2524131" cy="1638304"/>
          </a:xfrm>
          <a:custGeom>
            <a:avLst/>
            <a:gdLst/>
            <a:ahLst/>
            <a:cxnLst/>
            <a:rect l="l" t="t" r="r" b="b"/>
            <a:pathLst>
              <a:path w="2524131" h="1638304">
                <a:moveTo>
                  <a:pt x="69104" y="0"/>
                </a:moveTo>
                <a:lnTo>
                  <a:pt x="2455028" y="0"/>
                </a:lnTo>
                <a:quadBezTo>
                  <a:pt x="2524131" y="0"/>
                  <a:pt x="2524131" y="69104"/>
                </a:quadBezTo>
                <a:lnTo>
                  <a:pt x="2524131" y="1569200"/>
                </a:lnTo>
                <a:quadBezTo>
                  <a:pt x="2524131" y="1638304"/>
                  <a:pt x="2455028" y="1638304"/>
                </a:quadBezTo>
                <a:lnTo>
                  <a:pt x="69104" y="1638304"/>
                </a:lnTo>
                <a:quadBezTo>
                  <a:pt x="0" y="1638304"/>
                  <a:pt x="0" y="1569200"/>
                </a:quadBezTo>
                <a:lnTo>
                  <a:pt x="0" y="69104"/>
                </a:lnTo>
                <a:quadBezTo>
                  <a:pt x="0" y="0"/>
                  <a:pt x="69104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57150" dir="2700000">
              <a:srgbClr val="0b1f3a">
                <a:alpha val="7843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388125" y="3343131"/>
            <a:ext cx="247651" cy="247651"/>
          </a:xfrm>
          <a:custGeom>
            <a:avLst/>
            <a:gdLst/>
            <a:ahLst/>
            <a:cxnLst/>
            <a:rect l="l" t="t" r="r" b="b"/>
            <a:pathLst>
              <a:path w="247651" h="247651">
                <a:moveTo>
                  <a:pt x="70338" y="0"/>
                </a:moveTo>
                <a:lnTo>
                  <a:pt x="177313" y="0"/>
                </a:lnTo>
                <a:quadBezTo>
                  <a:pt x="247651" y="0"/>
                  <a:pt x="247651" y="70338"/>
                </a:quadBezTo>
                <a:lnTo>
                  <a:pt x="247651" y="177313"/>
                </a:lnTo>
                <a:quadBezTo>
                  <a:pt x="247651" y="247651"/>
                  <a:pt x="177313" y="247651"/>
                </a:quadBezTo>
                <a:lnTo>
                  <a:pt x="70338" y="247651"/>
                </a:lnTo>
                <a:quadBezTo>
                  <a:pt x="0" y="247651"/>
                  <a:pt x="0" y="177313"/>
                </a:quadBezTo>
                <a:lnTo>
                  <a:pt x="0" y="70338"/>
                </a:lnTo>
                <a:quadBezTo>
                  <a:pt x="0" y="0"/>
                  <a:pt x="70338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263" y="3400271"/>
            <a:ext cx="133321" cy="133321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6710944" y="3393139"/>
            <a:ext cx="1785943" cy="147637"/>
          </a:xfrm>
          <a:custGeom>
            <a:avLst/>
            <a:gdLst/>
            <a:ahLst/>
            <a:cxnLst/>
            <a:rect l="l" t="t" r="r" b="b"/>
            <a:pathLst>
              <a:path w="1785943" h="147637">
                <a:moveTo>
                  <a:pt x="0" y="0"/>
                </a:moveTo>
                <a:lnTo>
                  <a:pt x="1785943" y="0"/>
                </a:lnTo>
                <a:lnTo>
                  <a:pt x="1785943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5"/>
          <p:cNvSpPr/>
          <p:nvPr/>
        </p:nvSpPr>
        <p:spPr>
          <a:xfrm>
            <a:off x="6710944" y="3393139"/>
            <a:ext cx="1785943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when pressure rises</a:t>
            </a:r>
            <a:endParaRPr lang="en-US" sz="9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8127" y="3709792"/>
            <a:ext cx="123798" cy="123798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6588456" y="3695507"/>
            <a:ext cx="1909768" cy="128588"/>
          </a:xfrm>
          <a:custGeom>
            <a:avLst/>
            <a:gdLst/>
            <a:ahLst/>
            <a:cxnLst/>
            <a:rect l="l" t="t" r="r" b="b"/>
            <a:pathLst>
              <a:path w="1909768" h="128588">
                <a:moveTo>
                  <a:pt x="0" y="0"/>
                </a:moveTo>
                <a:lnTo>
                  <a:pt x="1909768" y="0"/>
                </a:lnTo>
                <a:lnTo>
                  <a:pt x="1909768" y="128588"/>
                </a:lnTo>
                <a:lnTo>
                  <a:pt x="0" y="1285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27"/>
          <p:cNvSpPr/>
          <p:nvPr/>
        </p:nvSpPr>
        <p:spPr>
          <a:xfrm>
            <a:off x="6588456" y="3695507"/>
            <a:ext cx="190976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87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Balance workload across service points.</a:t>
            </a:r>
            <a:endParaRPr lang="en-US" sz="9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8127" y="3952601"/>
            <a:ext cx="123798" cy="123798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6587334" y="3938288"/>
            <a:ext cx="1947868" cy="257176"/>
          </a:xfrm>
          <a:custGeom>
            <a:avLst/>
            <a:gdLst/>
            <a:ahLst/>
            <a:cxnLst/>
            <a:rect l="l" t="t" r="r" b="b"/>
            <a:pathLst>
              <a:path w="1947868" h="257176">
                <a:moveTo>
                  <a:pt x="0" y="0"/>
                </a:moveTo>
                <a:lnTo>
                  <a:pt x="1947868" y="0"/>
                </a:lnTo>
                <a:lnTo>
                  <a:pt x="1947868" y="257176"/>
                </a:lnTo>
                <a:lnTo>
                  <a:pt x="0" y="257176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29"/>
          <p:cNvSpPr/>
          <p:nvPr/>
        </p:nvSpPr>
        <p:spPr>
          <a:xfrm>
            <a:off x="6587334" y="3938288"/>
            <a:ext cx="1947868" cy="257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87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 teams before delays become misses.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6387333" y="4313994"/>
            <a:ext cx="2147893" cy="342901"/>
          </a:xfrm>
          <a:custGeom>
            <a:avLst/>
            <a:gdLst/>
            <a:ahLst/>
            <a:cxnLst/>
            <a:rect l="l" t="t" r="r" b="b"/>
            <a:pathLst>
              <a:path w="2147893" h="342901">
                <a:moveTo>
                  <a:pt x="0" y="0"/>
                </a:moveTo>
                <a:lnTo>
                  <a:pt x="2147893" y="0"/>
                </a:lnTo>
                <a:lnTo>
                  <a:pt x="2147893" y="342901"/>
                </a:lnTo>
                <a:lnTo>
                  <a:pt x="0" y="342901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0" name="Text 31"/>
          <p:cNvSpPr/>
          <p:nvPr/>
        </p:nvSpPr>
        <p:spPr>
          <a:xfrm>
            <a:off x="6387333" y="4313994"/>
            <a:ext cx="2147893" cy="342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602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right order reaches the right station at the right moment.</a:t>
            </a:r>
            <a:endParaRPr lang="en-US" sz="900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2561" y="3181298"/>
            <a:ext cx="2524131" cy="1638304"/>
          </a:xfrm>
          <a:prstGeom prst="rect">
            <a:avLst/>
          </a:prstGeom>
        </p:spPr>
      </p:pic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7333" y="4313994"/>
            <a:ext cx="2147893" cy="3429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0" y="-6"/>
            <a:ext cx="9144022" cy="5143511"/>
          </a:xfrm>
          <a:custGeom>
            <a:avLst/>
            <a:gdLst/>
            <a:ahLst/>
            <a:cxnLst/>
            <a:rect l="l" t="t" r="r" b="b"/>
            <a:pathLst>
              <a:path w="9144022" h="5143511">
                <a:moveTo>
                  <a:pt x="0" y="0"/>
                </a:moveTo>
                <a:lnTo>
                  <a:pt x="9144022" y="0"/>
                </a:lnTo>
                <a:lnTo>
                  <a:pt x="9144022" y="5143511"/>
                </a:lnTo>
                <a:lnTo>
                  <a:pt x="0" y="514351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-10" y="-6"/>
            <a:ext cx="9144022" cy="5143511"/>
          </a:xfrm>
          <a:custGeom>
            <a:avLst/>
            <a:gdLst/>
            <a:ahLst/>
            <a:cxnLst/>
            <a:rect l="l" t="t" r="r" b="b"/>
            <a:pathLst>
              <a:path w="9144022" h="5143511">
                <a:moveTo>
                  <a:pt x="0" y="0"/>
                </a:moveTo>
                <a:lnTo>
                  <a:pt x="9144022" y="0"/>
                </a:lnTo>
                <a:lnTo>
                  <a:pt x="9144022" y="5143511"/>
                </a:lnTo>
                <a:lnTo>
                  <a:pt x="0" y="5143511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438086" y="442849"/>
            <a:ext cx="200025" cy="28575"/>
          </a:xfrm>
          <a:custGeom>
            <a:avLst/>
            <a:gdLst/>
            <a:ahLst/>
            <a:cxnLst/>
            <a:rect l="l" t="t" r="r" b="b"/>
            <a:pathLst>
              <a:path w="200025" h="28575">
                <a:moveTo>
                  <a:pt x="25400" y="0"/>
                </a:moveTo>
                <a:lnTo>
                  <a:pt x="330200" y="0"/>
                </a:lnTo>
                <a:quadBezTo>
                  <a:pt x="355600" y="0"/>
                  <a:pt x="355600" y="25400"/>
                </a:quadBezTo>
                <a:lnTo>
                  <a:pt x="355600" y="25400"/>
                </a:lnTo>
                <a:quadBezTo>
                  <a:pt x="355600" y="50800"/>
                  <a:pt x="330200" y="50800"/>
                </a:quadBezTo>
                <a:lnTo>
                  <a:pt x="25400" y="50800"/>
                </a:lnTo>
                <a:quadBezTo>
                  <a:pt x="0" y="50800"/>
                  <a:pt x="0" y="25400"/>
                </a:quadBezTo>
                <a:lnTo>
                  <a:pt x="0" y="25400"/>
                </a:lnTo>
                <a:quadBezTo>
                  <a:pt x="0" y="0"/>
                  <a:pt x="25400" y="0"/>
                </a:quad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6" name="Shape 3"/>
          <p:cNvSpPr/>
          <p:nvPr/>
        </p:nvSpPr>
        <p:spPr>
          <a:xfrm>
            <a:off x="704748" y="384780"/>
            <a:ext cx="1612659" cy="139878"/>
          </a:xfrm>
          <a:custGeom>
            <a:avLst/>
            <a:gdLst/>
            <a:ahLst/>
            <a:cxnLst/>
            <a:rect l="l" t="t" r="r" b="b"/>
            <a:pathLst>
              <a:path w="1612659" h="139878">
                <a:moveTo>
                  <a:pt x="0" y="0"/>
                </a:moveTo>
                <a:lnTo>
                  <a:pt x="1612659" y="0"/>
                </a:lnTo>
                <a:lnTo>
                  <a:pt x="1612659" y="139878"/>
                </a:lnTo>
                <a:lnTo>
                  <a:pt x="0" y="13987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04748" y="384780"/>
            <a:ext cx="1612659" cy="139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experience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38142" y="610546"/>
            <a:ext cx="8267719" cy="347663"/>
          </a:xfrm>
          <a:custGeom>
            <a:avLst/>
            <a:gdLst/>
            <a:ahLst/>
            <a:cxnLst/>
            <a:rect l="l" t="t" r="r" b="b"/>
            <a:pathLst>
              <a:path w="8267719" h="347663">
                <a:moveTo>
                  <a:pt x="0" y="0"/>
                </a:moveTo>
                <a:lnTo>
                  <a:pt x="8267719" y="0"/>
                </a:lnTo>
                <a:lnTo>
                  <a:pt x="8267719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38142" y="610546"/>
            <a:ext cx="8267719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Experience Improvements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8142" y="1045417"/>
            <a:ext cx="8267719" cy="204787"/>
          </a:xfrm>
          <a:custGeom>
            <a:avLst/>
            <a:gdLst/>
            <a:ahLst/>
            <a:cxnLst/>
            <a:rect l="l" t="t" r="r" b="b"/>
            <a:pathLst>
              <a:path w="8267719" h="204787">
                <a:moveTo>
                  <a:pt x="0" y="0"/>
                </a:moveTo>
                <a:lnTo>
                  <a:pt x="8267719" y="0"/>
                </a:lnTo>
                <a:lnTo>
                  <a:pt x="8267719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38142" y="1045417"/>
            <a:ext cx="8267719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smarter canteen turns waiting time into confidence and convenience.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38139" y="1794576"/>
            <a:ext cx="4019559" cy="2386018"/>
          </a:xfrm>
          <a:custGeom>
            <a:avLst/>
            <a:gdLst/>
            <a:ahLst/>
            <a:cxnLst/>
            <a:rect l="l" t="t" r="r" b="b"/>
            <a:pathLst>
              <a:path w="4019559" h="2386018">
                <a:moveTo>
                  <a:pt x="51108" y="0"/>
                </a:moveTo>
                <a:lnTo>
                  <a:pt x="3968450" y="0"/>
                </a:lnTo>
                <a:quadBezTo>
                  <a:pt x="4019559" y="0"/>
                  <a:pt x="4019559" y="51108"/>
                </a:quadBezTo>
                <a:lnTo>
                  <a:pt x="4019559" y="2334909"/>
                </a:lnTo>
                <a:quadBezTo>
                  <a:pt x="4019559" y="2386018"/>
                  <a:pt x="3968450" y="2386018"/>
                </a:quadBezTo>
                <a:lnTo>
                  <a:pt x="51108" y="2386018"/>
                </a:lnTo>
                <a:quadBezTo>
                  <a:pt x="0" y="2386018"/>
                  <a:pt x="0" y="2334909"/>
                </a:quadBezTo>
                <a:lnTo>
                  <a:pt x="0" y="51108"/>
                </a:lnTo>
                <a:quadBezTo>
                  <a:pt x="0" y="0"/>
                  <a:pt x="51108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13" name="Shape 10"/>
          <p:cNvSpPr/>
          <p:nvPr/>
        </p:nvSpPr>
        <p:spPr>
          <a:xfrm>
            <a:off x="667442" y="2002616"/>
            <a:ext cx="1638304" cy="200025"/>
          </a:xfrm>
          <a:custGeom>
            <a:avLst/>
            <a:gdLst/>
            <a:ahLst/>
            <a:cxnLst/>
            <a:rect l="l" t="t" r="r" b="b"/>
            <a:pathLst>
              <a:path w="1638304" h="200025">
                <a:moveTo>
                  <a:pt x="0" y="0"/>
                </a:moveTo>
                <a:lnTo>
                  <a:pt x="1638304" y="0"/>
                </a:lnTo>
                <a:lnTo>
                  <a:pt x="1638304" y="200025"/>
                </a:lnTo>
                <a:lnTo>
                  <a:pt x="0" y="2000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67442" y="2002616"/>
            <a:ext cx="16383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391"/>
              </a:lnSpc>
              <a:spcBef>
                <a:spcPts val="281"/>
              </a:spcBef>
              <a:buNone/>
            </a:pPr>
            <a:r>
              <a:rPr lang="en-US" sz="14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canteen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67442" y="2249270"/>
            <a:ext cx="1638304" cy="138113"/>
          </a:xfrm>
          <a:custGeom>
            <a:avLst/>
            <a:gdLst/>
            <a:ahLst/>
            <a:cxnLst/>
            <a:rect l="l" t="t" r="r" b="b"/>
            <a:pathLst>
              <a:path w="1638304" h="138113">
                <a:moveTo>
                  <a:pt x="0" y="0"/>
                </a:moveTo>
                <a:lnTo>
                  <a:pt x="1638304" y="0"/>
                </a:lnTo>
                <a:lnTo>
                  <a:pt x="1638304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67442" y="2249270"/>
            <a:ext cx="1638304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streamlined experience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905333" y="2033071"/>
            <a:ext cx="323851" cy="323851"/>
          </a:xfrm>
          <a:custGeom>
            <a:avLst/>
            <a:gdLst/>
            <a:ahLst/>
            <a:cxnLst/>
            <a:rect l="l" t="t" r="r" b="b"/>
            <a:pathLst>
              <a:path w="323851" h="323851">
                <a:moveTo>
                  <a:pt x="67235" y="0"/>
                </a:moveTo>
                <a:lnTo>
                  <a:pt x="256617" y="0"/>
                </a:lnTo>
                <a:quadBezTo>
                  <a:pt x="323851" y="0"/>
                  <a:pt x="323851" y="67235"/>
                </a:quadBezTo>
                <a:lnTo>
                  <a:pt x="323851" y="256617"/>
                </a:lnTo>
                <a:quadBezTo>
                  <a:pt x="323851" y="323851"/>
                  <a:pt x="256617" y="323851"/>
                </a:quadBezTo>
                <a:lnTo>
                  <a:pt x="67235" y="323851"/>
                </a:lnTo>
                <a:quadBezTo>
                  <a:pt x="0" y="323851"/>
                  <a:pt x="0" y="256617"/>
                </a:quadBezTo>
                <a:lnTo>
                  <a:pt x="0" y="67235"/>
                </a:lnTo>
                <a:quadBezTo>
                  <a:pt x="0" y="0"/>
                  <a:pt x="67235" y="0"/>
                </a:quadBezTo>
                <a:close/>
              </a:path>
            </a:pathLst>
          </a:custGeom>
          <a:solidFill>
            <a:srgbClr val="14B8A6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6315" y="2114051"/>
            <a:ext cx="161889" cy="161889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66739" y="2520206"/>
            <a:ext cx="3562358" cy="9525"/>
          </a:xfrm>
          <a:custGeom>
            <a:avLst/>
            <a:gdLst/>
            <a:ahLst/>
            <a:cxnLst/>
            <a:rect l="l" t="t" r="r" b="b"/>
            <a:pathLst>
              <a:path w="3562358" h="9525">
                <a:moveTo>
                  <a:pt x="0" y="0"/>
                </a:moveTo>
                <a:lnTo>
                  <a:pt x="3562358" y="0"/>
                </a:lnTo>
                <a:lnTo>
                  <a:pt x="3562358" y="9525"/>
                </a:lnTo>
                <a:lnTo>
                  <a:pt x="0" y="9525"/>
                </a:lnTo>
                <a:close/>
              </a:path>
            </a:pathLst>
          </a:custGeom>
          <a:solidFill>
            <a:srgbClr val="FFFFFF">
              <a:alpha val="90196"/>
            </a:srgbClr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59" y="2701143"/>
            <a:ext cx="142845" cy="14284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13112" y="2691121"/>
            <a:ext cx="2471743" cy="166688"/>
          </a:xfrm>
          <a:custGeom>
            <a:avLst/>
            <a:gdLst/>
            <a:ahLst/>
            <a:cxnLst/>
            <a:rect l="l" t="t" r="r" b="b"/>
            <a:pathLst>
              <a:path w="2471743" h="166688">
                <a:moveTo>
                  <a:pt x="0" y="0"/>
                </a:moveTo>
                <a:lnTo>
                  <a:pt x="2471743" y="0"/>
                </a:lnTo>
                <a:lnTo>
                  <a:pt x="2471743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913112" y="2691121"/>
            <a:ext cx="247174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Shorter waiting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913112" y="2889997"/>
            <a:ext cx="2471743" cy="161925"/>
          </a:xfrm>
          <a:custGeom>
            <a:avLst/>
            <a:gdLst/>
            <a:ahLst/>
            <a:cxnLst/>
            <a:rect l="l" t="t" r="r" b="b"/>
            <a:pathLst>
              <a:path w="2471743" h="161925">
                <a:moveTo>
                  <a:pt x="0" y="0"/>
                </a:moveTo>
                <a:lnTo>
                  <a:pt x="2471743" y="0"/>
                </a:lnTo>
                <a:lnTo>
                  <a:pt x="2471743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913112" y="2889997"/>
            <a:ext cx="24717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physical lines keep service moving.</a:t>
            </a:r>
            <a:endParaRPr lang="en-US" sz="9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659" y="3203673"/>
            <a:ext cx="142845" cy="142845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915013" y="3193651"/>
            <a:ext cx="2205043" cy="166688"/>
          </a:xfrm>
          <a:custGeom>
            <a:avLst/>
            <a:gdLst/>
            <a:ahLst/>
            <a:cxnLst/>
            <a:rect l="l" t="t" r="r" b="b"/>
            <a:pathLst>
              <a:path w="2205043" h="166688">
                <a:moveTo>
                  <a:pt x="0" y="0"/>
                </a:moveTo>
                <a:lnTo>
                  <a:pt x="2205043" y="0"/>
                </a:lnTo>
                <a:lnTo>
                  <a:pt x="2205043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915013" y="3193651"/>
            <a:ext cx="220504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 order tracking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915013" y="3392527"/>
            <a:ext cx="2205043" cy="161925"/>
          </a:xfrm>
          <a:custGeom>
            <a:avLst/>
            <a:gdLst/>
            <a:ahLst/>
            <a:cxnLst/>
            <a:rect l="l" t="t" r="r" b="b"/>
            <a:pathLst>
              <a:path w="2205043" h="161925">
                <a:moveTo>
                  <a:pt x="0" y="0"/>
                </a:moveTo>
                <a:lnTo>
                  <a:pt x="2205043" y="0"/>
                </a:lnTo>
                <a:lnTo>
                  <a:pt x="2205043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915013" y="3392527"/>
            <a:ext cx="22050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Visibility builds customer confidence.</a:t>
            </a:r>
            <a:endParaRPr lang="en-US" sz="9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659" y="3706204"/>
            <a:ext cx="142845" cy="14284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14180" y="3696180"/>
            <a:ext cx="2214568" cy="166688"/>
          </a:xfrm>
          <a:custGeom>
            <a:avLst/>
            <a:gdLst/>
            <a:ahLst/>
            <a:cxnLst/>
            <a:rect l="l" t="t" r="r" b="b"/>
            <a:pathLst>
              <a:path w="2214568" h="166688">
                <a:moveTo>
                  <a:pt x="0" y="0"/>
                </a:moveTo>
                <a:lnTo>
                  <a:pt x="2214568" y="0"/>
                </a:lnTo>
                <a:lnTo>
                  <a:pt x="2214568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5"/>
          <p:cNvSpPr/>
          <p:nvPr/>
        </p:nvSpPr>
        <p:spPr>
          <a:xfrm>
            <a:off x="914180" y="3696180"/>
            <a:ext cx="2214568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Self-service ordering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914180" y="3895057"/>
            <a:ext cx="2214568" cy="161925"/>
          </a:xfrm>
          <a:custGeom>
            <a:avLst/>
            <a:gdLst/>
            <a:ahLst/>
            <a:cxnLst/>
            <a:rect l="l" t="t" r="r" b="b"/>
            <a:pathLst>
              <a:path w="2214568" h="161925">
                <a:moveTo>
                  <a:pt x="0" y="0"/>
                </a:moveTo>
                <a:lnTo>
                  <a:pt x="2214568" y="0"/>
                </a:lnTo>
                <a:lnTo>
                  <a:pt x="2214568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4" name="Text 27"/>
          <p:cNvSpPr/>
          <p:nvPr/>
        </p:nvSpPr>
        <p:spPr>
          <a:xfrm>
            <a:off x="914180" y="3895057"/>
            <a:ext cx="22145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Less friction from selection to pickup.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4686308" y="1794576"/>
            <a:ext cx="4019559" cy="2386018"/>
          </a:xfrm>
          <a:custGeom>
            <a:avLst/>
            <a:gdLst/>
            <a:ahLst/>
            <a:cxnLst/>
            <a:rect l="l" t="t" r="r" b="b"/>
            <a:pathLst>
              <a:path w="4019559" h="2386018">
                <a:moveTo>
                  <a:pt x="51108" y="0"/>
                </a:moveTo>
                <a:lnTo>
                  <a:pt x="3968450" y="0"/>
                </a:lnTo>
                <a:quadBezTo>
                  <a:pt x="4019559" y="0"/>
                  <a:pt x="4019559" y="51108"/>
                </a:quadBezTo>
                <a:lnTo>
                  <a:pt x="4019559" y="2334909"/>
                </a:lnTo>
                <a:quadBezTo>
                  <a:pt x="4019559" y="2386018"/>
                  <a:pt x="3968450" y="2386018"/>
                </a:quadBezTo>
                <a:lnTo>
                  <a:pt x="51108" y="2386018"/>
                </a:lnTo>
                <a:quadBezTo>
                  <a:pt x="0" y="2386018"/>
                  <a:pt x="0" y="2334909"/>
                </a:quadBezTo>
                <a:lnTo>
                  <a:pt x="0" y="51108"/>
                </a:lnTo>
                <a:quadBezTo>
                  <a:pt x="0" y="0"/>
                  <a:pt x="51108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61925" dist="76200" dir="2700000">
              <a:srgbClr val="0b1f3a">
                <a:alpha val="7843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4914817" y="2033071"/>
            <a:ext cx="323851" cy="323851"/>
          </a:xfrm>
          <a:custGeom>
            <a:avLst/>
            <a:gdLst/>
            <a:ahLst/>
            <a:cxnLst/>
            <a:rect l="l" t="t" r="r" b="b"/>
            <a:pathLst>
              <a:path w="323851" h="323851">
                <a:moveTo>
                  <a:pt x="67235" y="0"/>
                </a:moveTo>
                <a:lnTo>
                  <a:pt x="256617" y="0"/>
                </a:lnTo>
                <a:quadBezTo>
                  <a:pt x="323851" y="0"/>
                  <a:pt x="323851" y="67235"/>
                </a:quadBezTo>
                <a:lnTo>
                  <a:pt x="323851" y="256617"/>
                </a:lnTo>
                <a:quadBezTo>
                  <a:pt x="323851" y="323851"/>
                  <a:pt x="256617" y="323851"/>
                </a:quadBezTo>
                <a:lnTo>
                  <a:pt x="67235" y="323851"/>
                </a:lnTo>
                <a:quadBezTo>
                  <a:pt x="0" y="323851"/>
                  <a:pt x="0" y="256617"/>
                </a:quadBezTo>
                <a:lnTo>
                  <a:pt x="0" y="67235"/>
                </a:lnTo>
                <a:quadBezTo>
                  <a:pt x="0" y="0"/>
                  <a:pt x="67235" y="0"/>
                </a:quadBezTo>
                <a:close/>
              </a:path>
            </a:pathLst>
          </a:custGeom>
          <a:solidFill>
            <a:srgbClr val="0B1F3A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5800" y="2114051"/>
            <a:ext cx="161889" cy="161889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5334389" y="2002616"/>
            <a:ext cx="1838329" cy="200025"/>
          </a:xfrm>
          <a:custGeom>
            <a:avLst/>
            <a:gdLst/>
            <a:ahLst/>
            <a:cxnLst/>
            <a:rect l="l" t="t" r="r" b="b"/>
            <a:pathLst>
              <a:path w="1838329" h="200025">
                <a:moveTo>
                  <a:pt x="0" y="0"/>
                </a:moveTo>
                <a:lnTo>
                  <a:pt x="1838329" y="0"/>
                </a:lnTo>
                <a:lnTo>
                  <a:pt x="1838329" y="200025"/>
                </a:lnTo>
                <a:lnTo>
                  <a:pt x="0" y="2000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5334389" y="2002616"/>
            <a:ext cx="18383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391"/>
              </a:lnSpc>
              <a:spcBef>
                <a:spcPts val="281"/>
              </a:spcBef>
              <a:buNone/>
            </a:pPr>
            <a:r>
              <a:rPr lang="en-US" sz="14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Traditional canteen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5334389" y="2249270"/>
            <a:ext cx="1838329" cy="138113"/>
          </a:xfrm>
          <a:custGeom>
            <a:avLst/>
            <a:gdLst/>
            <a:ahLst/>
            <a:cxnLst/>
            <a:rect l="l" t="t" r="r" b="b"/>
            <a:pathLst>
              <a:path w="1838329" h="138113">
                <a:moveTo>
                  <a:pt x="0" y="0"/>
                </a:moveTo>
                <a:lnTo>
                  <a:pt x="1838329" y="0"/>
                </a:lnTo>
                <a:lnTo>
                  <a:pt x="1838329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1" name="Text 33"/>
          <p:cNvSpPr/>
          <p:nvPr/>
        </p:nvSpPr>
        <p:spPr>
          <a:xfrm>
            <a:off x="5334389" y="2249270"/>
            <a:ext cx="183832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friction customers feel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4914908" y="2520206"/>
            <a:ext cx="3562358" cy="9525"/>
          </a:xfrm>
          <a:custGeom>
            <a:avLst/>
            <a:gdLst/>
            <a:ahLst/>
            <a:cxnLst/>
            <a:rect l="l" t="t" r="r" b="b"/>
            <a:pathLst>
              <a:path w="3562358" h="9525">
                <a:moveTo>
                  <a:pt x="0" y="0"/>
                </a:moveTo>
                <a:lnTo>
                  <a:pt x="3562358" y="0"/>
                </a:lnTo>
                <a:lnTo>
                  <a:pt x="3562358" y="9525"/>
                </a:lnTo>
                <a:lnTo>
                  <a:pt x="0" y="9525"/>
                </a:lnTo>
                <a:close/>
              </a:path>
            </a:pathLst>
          </a:custGeom>
          <a:solidFill>
            <a:srgbClr val="E2E8F0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828" y="2701143"/>
            <a:ext cx="142845" cy="142845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5161648" y="2691121"/>
            <a:ext cx="2205043" cy="166688"/>
          </a:xfrm>
          <a:custGeom>
            <a:avLst/>
            <a:gdLst/>
            <a:ahLst/>
            <a:cxnLst/>
            <a:rect l="l" t="t" r="r" b="b"/>
            <a:pathLst>
              <a:path w="2205043" h="166688">
                <a:moveTo>
                  <a:pt x="0" y="0"/>
                </a:moveTo>
                <a:lnTo>
                  <a:pt x="2205043" y="0"/>
                </a:lnTo>
                <a:lnTo>
                  <a:pt x="2205043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5" name="Text 36"/>
          <p:cNvSpPr/>
          <p:nvPr/>
        </p:nvSpPr>
        <p:spPr>
          <a:xfrm>
            <a:off x="5161648" y="2691121"/>
            <a:ext cx="220504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Longer waiting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5161648" y="2889997"/>
            <a:ext cx="2205043" cy="161925"/>
          </a:xfrm>
          <a:custGeom>
            <a:avLst/>
            <a:gdLst/>
            <a:ahLst/>
            <a:cxnLst/>
            <a:rect l="l" t="t" r="r" b="b"/>
            <a:pathLst>
              <a:path w="2205043" h="161925">
                <a:moveTo>
                  <a:pt x="0" y="0"/>
                </a:moveTo>
                <a:lnTo>
                  <a:pt x="2205043" y="0"/>
                </a:lnTo>
                <a:lnTo>
                  <a:pt x="2205043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7" name="Text 38"/>
          <p:cNvSpPr/>
          <p:nvPr/>
        </p:nvSpPr>
        <p:spPr>
          <a:xfrm>
            <a:off x="5161648" y="2889997"/>
            <a:ext cx="22050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Physical queues slow the experience.</a:t>
            </a:r>
            <a:endParaRPr lang="en-US" sz="900" dirty="0"/>
          </a:p>
        </p:txBody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4828" y="3203673"/>
            <a:ext cx="142845" cy="142845"/>
          </a:xfrm>
          <a:prstGeom prst="rect">
            <a:avLst/>
          </a:prstGeom>
        </p:spPr>
      </p:pic>
      <p:sp>
        <p:nvSpPr>
          <p:cNvPr id="49" name="Shape 39"/>
          <p:cNvSpPr/>
          <p:nvPr/>
        </p:nvSpPr>
        <p:spPr>
          <a:xfrm>
            <a:off x="5161335" y="3193651"/>
            <a:ext cx="1976443" cy="166688"/>
          </a:xfrm>
          <a:custGeom>
            <a:avLst/>
            <a:gdLst/>
            <a:ahLst/>
            <a:cxnLst/>
            <a:rect l="l" t="t" r="r" b="b"/>
            <a:pathLst>
              <a:path w="1976443" h="166688">
                <a:moveTo>
                  <a:pt x="0" y="0"/>
                </a:moveTo>
                <a:lnTo>
                  <a:pt x="1976443" y="0"/>
                </a:lnTo>
                <a:lnTo>
                  <a:pt x="1976443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0" name="Text 40"/>
          <p:cNvSpPr/>
          <p:nvPr/>
        </p:nvSpPr>
        <p:spPr>
          <a:xfrm>
            <a:off x="5161335" y="3193651"/>
            <a:ext cx="197644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Limited visibility</a:t>
            </a:r>
            <a:endParaRPr lang="en-US" sz="900" dirty="0"/>
          </a:p>
        </p:txBody>
      </p:sp>
      <p:sp>
        <p:nvSpPr>
          <p:cNvPr id="51" name="Shape 41"/>
          <p:cNvSpPr/>
          <p:nvPr/>
        </p:nvSpPr>
        <p:spPr>
          <a:xfrm>
            <a:off x="5161335" y="3392527"/>
            <a:ext cx="1976443" cy="161925"/>
          </a:xfrm>
          <a:custGeom>
            <a:avLst/>
            <a:gdLst/>
            <a:ahLst/>
            <a:cxnLst/>
            <a:rect l="l" t="t" r="r" b="b"/>
            <a:pathLst>
              <a:path w="1976443" h="161925">
                <a:moveTo>
                  <a:pt x="0" y="0"/>
                </a:moveTo>
                <a:lnTo>
                  <a:pt x="1976443" y="0"/>
                </a:lnTo>
                <a:lnTo>
                  <a:pt x="1976443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2" name="Text 42"/>
          <p:cNvSpPr/>
          <p:nvPr/>
        </p:nvSpPr>
        <p:spPr>
          <a:xfrm>
            <a:off x="5161335" y="3392527"/>
            <a:ext cx="19764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Uncertainty weakens confidence.</a:t>
            </a:r>
            <a:endParaRPr lang="en-US" sz="900" dirty="0"/>
          </a:p>
        </p:txBody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4828" y="3706204"/>
            <a:ext cx="142845" cy="142845"/>
          </a:xfrm>
          <a:prstGeom prst="rect">
            <a:avLst/>
          </a:prstGeom>
        </p:spPr>
      </p:pic>
      <p:sp>
        <p:nvSpPr>
          <p:cNvPr id="54" name="Shape 43"/>
          <p:cNvSpPr/>
          <p:nvPr/>
        </p:nvSpPr>
        <p:spPr>
          <a:xfrm>
            <a:off x="5163489" y="3696180"/>
            <a:ext cx="2271718" cy="166688"/>
          </a:xfrm>
          <a:custGeom>
            <a:avLst/>
            <a:gdLst/>
            <a:ahLst/>
            <a:cxnLst/>
            <a:rect l="l" t="t" r="r" b="b"/>
            <a:pathLst>
              <a:path w="2271718" h="166688">
                <a:moveTo>
                  <a:pt x="0" y="0"/>
                </a:moveTo>
                <a:lnTo>
                  <a:pt x="2271718" y="0"/>
                </a:lnTo>
                <a:lnTo>
                  <a:pt x="2271718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5" name="Text 44"/>
          <p:cNvSpPr/>
          <p:nvPr/>
        </p:nvSpPr>
        <p:spPr>
          <a:xfrm>
            <a:off x="5163489" y="3696180"/>
            <a:ext cx="2271718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More service friction</a:t>
            </a:r>
            <a:endParaRPr lang="en-US" sz="900" dirty="0"/>
          </a:p>
        </p:txBody>
      </p:sp>
      <p:sp>
        <p:nvSpPr>
          <p:cNvPr id="56" name="Shape 45"/>
          <p:cNvSpPr/>
          <p:nvPr/>
        </p:nvSpPr>
        <p:spPr>
          <a:xfrm>
            <a:off x="5163489" y="3895057"/>
            <a:ext cx="2271718" cy="161925"/>
          </a:xfrm>
          <a:custGeom>
            <a:avLst/>
            <a:gdLst/>
            <a:ahLst/>
            <a:cxnLst/>
            <a:rect l="l" t="t" r="r" b="b"/>
            <a:pathLst>
              <a:path w="2271718" h="161925">
                <a:moveTo>
                  <a:pt x="0" y="0"/>
                </a:moveTo>
                <a:lnTo>
                  <a:pt x="2271718" y="0"/>
                </a:lnTo>
                <a:lnTo>
                  <a:pt x="2271718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7" name="Text 46"/>
          <p:cNvSpPr/>
          <p:nvPr/>
        </p:nvSpPr>
        <p:spPr>
          <a:xfrm>
            <a:off x="5163489" y="3895057"/>
            <a:ext cx="22717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steps make repeat use harder.</a:t>
            </a:r>
            <a:endParaRPr lang="en-US" sz="900" dirty="0"/>
          </a:p>
        </p:txBody>
      </p:sp>
      <p:sp>
        <p:nvSpPr>
          <p:cNvPr id="58" name="Shape 47"/>
          <p:cNvSpPr/>
          <p:nvPr/>
        </p:nvSpPr>
        <p:spPr>
          <a:xfrm>
            <a:off x="438142" y="4381530"/>
            <a:ext cx="8267719" cy="419101"/>
          </a:xfrm>
          <a:custGeom>
            <a:avLst/>
            <a:gdLst/>
            <a:ahLst/>
            <a:cxnLst/>
            <a:rect l="l" t="t" r="r" b="b"/>
            <a:pathLst>
              <a:path w="8267719" h="419101">
                <a:moveTo>
                  <a:pt x="62346" y="0"/>
                </a:moveTo>
                <a:lnTo>
                  <a:pt x="8205374" y="0"/>
                </a:lnTo>
                <a:quadBezTo>
                  <a:pt x="8267719" y="0"/>
                  <a:pt x="8267719" y="62346"/>
                </a:quadBezTo>
                <a:lnTo>
                  <a:pt x="8267719" y="356756"/>
                </a:lnTo>
                <a:quadBezTo>
                  <a:pt x="8267719" y="419101"/>
                  <a:pt x="8205374" y="419101"/>
                </a:quadBezTo>
                <a:lnTo>
                  <a:pt x="62346" y="419101"/>
                </a:lnTo>
                <a:quadBezTo>
                  <a:pt x="0" y="419101"/>
                  <a:pt x="0" y="356756"/>
                </a:quadBezTo>
                <a:lnTo>
                  <a:pt x="0" y="62346"/>
                </a:lnTo>
                <a:quadBezTo>
                  <a:pt x="0" y="0"/>
                  <a:pt x="62346" y="0"/>
                </a:quadBezTo>
                <a:close/>
              </a:path>
            </a:pathLst>
          </a:custGeom>
          <a:solidFill>
            <a:srgbClr val="0B1F3A"/>
          </a:solidFill>
          <a:ln/>
        </p:spPr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523" y="4514872"/>
            <a:ext cx="152367" cy="152367"/>
          </a:xfrm>
          <a:prstGeom prst="rect">
            <a:avLst/>
          </a:prstGeom>
        </p:spPr>
      </p:pic>
      <p:sp>
        <p:nvSpPr>
          <p:cNvPr id="60" name="Shape 48"/>
          <p:cNvSpPr/>
          <p:nvPr/>
        </p:nvSpPr>
        <p:spPr>
          <a:xfrm>
            <a:off x="847463" y="4507739"/>
            <a:ext cx="3719521" cy="166688"/>
          </a:xfrm>
          <a:custGeom>
            <a:avLst/>
            <a:gdLst/>
            <a:ahLst/>
            <a:cxnLst/>
            <a:rect l="l" t="t" r="r" b="b"/>
            <a:pathLst>
              <a:path w="3719521" h="166688">
                <a:moveTo>
                  <a:pt x="0" y="0"/>
                </a:moveTo>
                <a:lnTo>
                  <a:pt x="3719521" y="0"/>
                </a:lnTo>
                <a:lnTo>
                  <a:pt x="3719521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1" name="Text 49"/>
          <p:cNvSpPr/>
          <p:nvPr/>
        </p:nvSpPr>
        <p:spPr>
          <a:xfrm>
            <a:off x="847463" y="4507739"/>
            <a:ext cx="3719521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Faster service improves satisfaction and repeat usage.</a:t>
            </a:r>
            <a:endParaRPr lang="en-US" sz="900" dirty="0"/>
          </a:p>
        </p:txBody>
      </p:sp>
      <p:sp>
        <p:nvSpPr>
          <p:cNvPr id="62" name="Shape 50"/>
          <p:cNvSpPr/>
          <p:nvPr/>
        </p:nvSpPr>
        <p:spPr>
          <a:xfrm>
            <a:off x="6718877" y="4529169"/>
            <a:ext cx="1814518" cy="123825"/>
          </a:xfrm>
          <a:custGeom>
            <a:avLst/>
            <a:gdLst/>
            <a:ahLst/>
            <a:cxnLst/>
            <a:rect l="l" t="t" r="r" b="b"/>
            <a:pathLst>
              <a:path w="1814518" h="123825">
                <a:moveTo>
                  <a:pt x="0" y="0"/>
                </a:moveTo>
                <a:lnTo>
                  <a:pt x="1814518" y="0"/>
                </a:lnTo>
                <a:lnTo>
                  <a:pt x="1814518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3" name="Text 51"/>
          <p:cNvSpPr/>
          <p:nvPr/>
        </p:nvSpPr>
        <p:spPr>
          <a:xfrm>
            <a:off x="6718877" y="4529169"/>
            <a:ext cx="181451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QUEUE TO CONFIDENCE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0" y="-6"/>
            <a:ext cx="9144022" cy="5143511"/>
          </a:xfrm>
          <a:custGeom>
            <a:avLst/>
            <a:gdLst/>
            <a:ahLst/>
            <a:cxnLst/>
            <a:rect l="l" t="t" r="r" b="b"/>
            <a:pathLst>
              <a:path w="9144022" h="5143511">
                <a:moveTo>
                  <a:pt x="0" y="0"/>
                </a:moveTo>
                <a:lnTo>
                  <a:pt x="9144022" y="0"/>
                </a:lnTo>
                <a:lnTo>
                  <a:pt x="9144022" y="5143511"/>
                </a:lnTo>
                <a:lnTo>
                  <a:pt x="0" y="514351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-10" y="-6"/>
            <a:ext cx="9144022" cy="5143511"/>
          </a:xfrm>
          <a:custGeom>
            <a:avLst/>
            <a:gdLst/>
            <a:ahLst/>
            <a:cxnLst/>
            <a:rect l="l" t="t" r="r" b="b"/>
            <a:pathLst>
              <a:path w="9144022" h="5143511">
                <a:moveTo>
                  <a:pt x="0" y="0"/>
                </a:moveTo>
                <a:lnTo>
                  <a:pt x="9144022" y="0"/>
                </a:lnTo>
                <a:lnTo>
                  <a:pt x="9144022" y="5143511"/>
                </a:lnTo>
                <a:lnTo>
                  <a:pt x="0" y="5143511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438142" y="370959"/>
            <a:ext cx="8267719" cy="138113"/>
          </a:xfrm>
          <a:custGeom>
            <a:avLst/>
            <a:gdLst/>
            <a:ahLst/>
            <a:cxnLst/>
            <a:rect l="l" t="t" r="r" b="b"/>
            <a:pathLst>
              <a:path w="8267719" h="138113">
                <a:moveTo>
                  <a:pt x="0" y="0"/>
                </a:moveTo>
                <a:lnTo>
                  <a:pt x="8267719" y="0"/>
                </a:lnTo>
                <a:lnTo>
                  <a:pt x="8267719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38142" y="370959"/>
            <a:ext cx="826771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OPERATIONAL BENEFITS FOR STAFF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38142" y="575500"/>
            <a:ext cx="8267719" cy="328613"/>
          </a:xfrm>
          <a:custGeom>
            <a:avLst/>
            <a:gdLst/>
            <a:ahLst/>
            <a:cxnLst/>
            <a:rect l="l" t="t" r="r" b="b"/>
            <a:pathLst>
              <a:path w="8267719" h="328613">
                <a:moveTo>
                  <a:pt x="0" y="0"/>
                </a:moveTo>
                <a:lnTo>
                  <a:pt x="8267719" y="0"/>
                </a:lnTo>
                <a:lnTo>
                  <a:pt x="8267719" y="328613"/>
                </a:lnTo>
                <a:lnTo>
                  <a:pt x="0" y="3286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38142" y="575500"/>
            <a:ext cx="8267719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913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smoother service shift, from entry to handoff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093" y="972008"/>
            <a:ext cx="5619763" cy="409576"/>
          </a:xfrm>
          <a:custGeom>
            <a:avLst/>
            <a:gdLst/>
            <a:ahLst/>
            <a:cxnLst/>
            <a:rect l="l" t="t" r="r" b="b"/>
            <a:pathLst>
              <a:path w="5619763" h="409576">
                <a:moveTo>
                  <a:pt x="0" y="0"/>
                </a:moveTo>
                <a:lnTo>
                  <a:pt x="5619763" y="0"/>
                </a:lnTo>
                <a:lnTo>
                  <a:pt x="5619763" y="409576"/>
                </a:lnTo>
                <a:lnTo>
                  <a:pt x="0" y="409576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38093" y="972008"/>
            <a:ext cx="5619763" cy="40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 ordering removes friction where kitchen teams feel it most: queues, rework, and peak-period pressure.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7929" y="1924797"/>
            <a:ext cx="4743461" cy="2305055"/>
          </a:xfrm>
          <a:custGeom>
            <a:avLst/>
            <a:gdLst/>
            <a:ahLst/>
            <a:cxnLst/>
            <a:rect l="l" t="t" r="r" b="b"/>
            <a:pathLst>
              <a:path w="4743461" h="2305055">
                <a:moveTo>
                  <a:pt x="52901" y="0"/>
                </a:moveTo>
                <a:lnTo>
                  <a:pt x="4690560" y="0"/>
                </a:lnTo>
                <a:quadBezTo>
                  <a:pt x="4743461" y="0"/>
                  <a:pt x="4743461" y="52901"/>
                </a:quadBezTo>
                <a:lnTo>
                  <a:pt x="4743461" y="2252154"/>
                </a:lnTo>
                <a:quadBezTo>
                  <a:pt x="4743461" y="2305055"/>
                  <a:pt x="4690560" y="2305055"/>
                </a:quadBezTo>
                <a:lnTo>
                  <a:pt x="52901" y="2305055"/>
                </a:lnTo>
                <a:quadBezTo>
                  <a:pt x="0" y="2305055"/>
                  <a:pt x="0" y="2252154"/>
                </a:quadBezTo>
                <a:lnTo>
                  <a:pt x="0" y="52901"/>
                </a:lnTo>
                <a:quadBezTo>
                  <a:pt x="0" y="0"/>
                  <a:pt x="52901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80975" dist="85725" dir="2700000">
              <a:srgbClr val="0b1f3a">
                <a:alpha val="7843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5753" y="2144492"/>
            <a:ext cx="257176" cy="257176"/>
          </a:xfrm>
          <a:custGeom>
            <a:avLst/>
            <a:gdLst/>
            <a:ahLst/>
            <a:cxnLst/>
            <a:rect l="l" t="t" r="r" b="b"/>
            <a:pathLst>
              <a:path w="257176" h="257176">
                <a:moveTo>
                  <a:pt x="67733" y="0"/>
                </a:moveTo>
                <a:lnTo>
                  <a:pt x="189444" y="0"/>
                </a:lnTo>
                <a:quadBezTo>
                  <a:pt x="257176" y="0"/>
                  <a:pt x="257176" y="67733"/>
                </a:quadBezTo>
                <a:lnTo>
                  <a:pt x="257176" y="189444"/>
                </a:lnTo>
                <a:quadBezTo>
                  <a:pt x="257176" y="257176"/>
                  <a:pt x="189444" y="257176"/>
                </a:quadBezTo>
                <a:lnTo>
                  <a:pt x="67733" y="257176"/>
                </a:lnTo>
                <a:quadBezTo>
                  <a:pt x="0" y="257176"/>
                  <a:pt x="0" y="189444"/>
                </a:quadBezTo>
                <a:lnTo>
                  <a:pt x="0" y="67733"/>
                </a:lnTo>
                <a:quadBezTo>
                  <a:pt x="0" y="0"/>
                  <a:pt x="67733" y="0"/>
                </a:quadBezTo>
                <a:close/>
              </a:path>
            </a:pathLst>
          </a:custGeom>
          <a:solidFill>
            <a:srgbClr val="E0F7F4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895" y="2201631"/>
            <a:ext cx="142845" cy="14284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29164" y="2173040"/>
            <a:ext cx="1681166" cy="200025"/>
          </a:xfrm>
          <a:custGeom>
            <a:avLst/>
            <a:gdLst/>
            <a:ahLst/>
            <a:cxnLst/>
            <a:rect l="l" t="t" r="r" b="b"/>
            <a:pathLst>
              <a:path w="1681166" h="200025">
                <a:moveTo>
                  <a:pt x="0" y="0"/>
                </a:moveTo>
                <a:lnTo>
                  <a:pt x="1681166" y="0"/>
                </a:lnTo>
                <a:lnTo>
                  <a:pt x="1681166" y="200025"/>
                </a:lnTo>
                <a:lnTo>
                  <a:pt x="0" y="2000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1029164" y="2173040"/>
            <a:ext cx="16811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391"/>
              </a:lnSpc>
              <a:spcBef>
                <a:spcPts val="281"/>
              </a:spcBef>
              <a:buNone/>
            </a:pPr>
            <a:r>
              <a:rPr lang="en-US" sz="14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Operational gains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56" y="2587335"/>
            <a:ext cx="142845" cy="142845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32863" y="2572578"/>
            <a:ext cx="3543308" cy="166688"/>
          </a:xfrm>
          <a:custGeom>
            <a:avLst/>
            <a:gdLst/>
            <a:ahLst/>
            <a:cxnLst/>
            <a:rect l="l" t="t" r="r" b="b"/>
            <a:pathLst>
              <a:path w="3543308" h="166688">
                <a:moveTo>
                  <a:pt x="0" y="0"/>
                </a:moveTo>
                <a:lnTo>
                  <a:pt x="3543308" y="0"/>
                </a:lnTo>
                <a:lnTo>
                  <a:pt x="3543308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3"/>
          <p:cNvSpPr/>
          <p:nvPr/>
        </p:nvSpPr>
        <p:spPr>
          <a:xfrm>
            <a:off x="932863" y="2572578"/>
            <a:ext cx="3543308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Less manual entry and payment handling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932863" y="2772990"/>
            <a:ext cx="3543308" cy="152400"/>
          </a:xfrm>
          <a:custGeom>
            <a:avLst/>
            <a:gdLst/>
            <a:ahLst/>
            <a:cxnLst/>
            <a:rect l="l" t="t" r="r" b="b"/>
            <a:pathLst>
              <a:path w="3543308" h="152400">
                <a:moveTo>
                  <a:pt x="0" y="0"/>
                </a:moveTo>
                <a:lnTo>
                  <a:pt x="3543308" y="0"/>
                </a:lnTo>
                <a:lnTo>
                  <a:pt x="3543308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932863" y="2772990"/>
            <a:ext cx="35433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Staff spend more time preparing orders, not processing them.</a:t>
            </a:r>
            <a:endParaRPr lang="en-US" sz="9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56" y="3073890"/>
            <a:ext cx="142845" cy="142845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933026" y="3059133"/>
            <a:ext cx="3248033" cy="166688"/>
          </a:xfrm>
          <a:custGeom>
            <a:avLst/>
            <a:gdLst/>
            <a:ahLst/>
            <a:cxnLst/>
            <a:rect l="l" t="t" r="r" b="b"/>
            <a:pathLst>
              <a:path w="3248033" h="166688">
                <a:moveTo>
                  <a:pt x="0" y="0"/>
                </a:moveTo>
                <a:lnTo>
                  <a:pt x="3248033" y="0"/>
                </a:lnTo>
                <a:lnTo>
                  <a:pt x="3248033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933026" y="3059133"/>
            <a:ext cx="324803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Clearer workload visibility for the kitchen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933026" y="3259545"/>
            <a:ext cx="3248033" cy="152400"/>
          </a:xfrm>
          <a:custGeom>
            <a:avLst/>
            <a:gdLst/>
            <a:ahLst/>
            <a:cxnLst/>
            <a:rect l="l" t="t" r="r" b="b"/>
            <a:pathLst>
              <a:path w="3248033" h="152400">
                <a:moveTo>
                  <a:pt x="0" y="0"/>
                </a:moveTo>
                <a:lnTo>
                  <a:pt x="3248033" y="0"/>
                </a:lnTo>
                <a:lnTo>
                  <a:pt x="3248033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933026" y="3259545"/>
            <a:ext cx="32480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Teams can see what is coming and organize the handoff.</a:t>
            </a:r>
            <a:endParaRPr lang="en-US" sz="9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56" y="3560445"/>
            <a:ext cx="142845" cy="142845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933367" y="3545688"/>
            <a:ext cx="3924309" cy="166688"/>
          </a:xfrm>
          <a:custGeom>
            <a:avLst/>
            <a:gdLst/>
            <a:ahLst/>
            <a:cxnLst/>
            <a:rect l="l" t="t" r="r" b="b"/>
            <a:pathLst>
              <a:path w="3924309" h="166688">
                <a:moveTo>
                  <a:pt x="0" y="0"/>
                </a:moveTo>
                <a:lnTo>
                  <a:pt x="3924309" y="0"/>
                </a:lnTo>
                <a:lnTo>
                  <a:pt x="3924309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1"/>
          <p:cNvSpPr/>
          <p:nvPr/>
        </p:nvSpPr>
        <p:spPr>
          <a:xfrm>
            <a:off x="933367" y="3545688"/>
            <a:ext cx="3924309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mistakes, remakes, and peak-period bottlenecks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933367" y="3746100"/>
            <a:ext cx="3924309" cy="152400"/>
          </a:xfrm>
          <a:custGeom>
            <a:avLst/>
            <a:gdLst/>
            <a:ahLst/>
            <a:cxnLst/>
            <a:rect l="l" t="t" r="r" b="b"/>
            <a:pathLst>
              <a:path w="3924309" h="152400">
                <a:moveTo>
                  <a:pt x="0" y="0"/>
                </a:moveTo>
                <a:lnTo>
                  <a:pt x="3924309" y="0"/>
                </a:lnTo>
                <a:lnTo>
                  <a:pt x="3924309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3"/>
          <p:cNvSpPr/>
          <p:nvPr/>
        </p:nvSpPr>
        <p:spPr>
          <a:xfrm>
            <a:off x="933367" y="3746100"/>
            <a:ext cx="39243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cleaner flow supports faster, more reliable throughput.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5409974" y="1924797"/>
            <a:ext cx="3295658" cy="2305055"/>
          </a:xfrm>
          <a:custGeom>
            <a:avLst/>
            <a:gdLst/>
            <a:ahLst/>
            <a:cxnLst/>
            <a:rect l="l" t="t" r="r" b="b"/>
            <a:pathLst>
              <a:path w="3295658" h="2305055">
                <a:moveTo>
                  <a:pt x="52901" y="0"/>
                </a:moveTo>
                <a:lnTo>
                  <a:pt x="3242757" y="0"/>
                </a:lnTo>
                <a:quadBezTo>
                  <a:pt x="3295658" y="0"/>
                  <a:pt x="3295658" y="52901"/>
                </a:quadBezTo>
                <a:lnTo>
                  <a:pt x="3295658" y="2252154"/>
                </a:lnTo>
                <a:quadBezTo>
                  <a:pt x="3295658" y="2305055"/>
                  <a:pt x="3242757" y="2305055"/>
                </a:quadBezTo>
                <a:lnTo>
                  <a:pt x="52901" y="2305055"/>
                </a:lnTo>
                <a:quadBezTo>
                  <a:pt x="0" y="2305055"/>
                  <a:pt x="0" y="2252154"/>
                </a:quadBezTo>
                <a:lnTo>
                  <a:pt x="0" y="52901"/>
                </a:lnTo>
                <a:quadBezTo>
                  <a:pt x="0" y="0"/>
                  <a:pt x="52901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32" name="Shape 25"/>
          <p:cNvSpPr/>
          <p:nvPr/>
        </p:nvSpPr>
        <p:spPr>
          <a:xfrm>
            <a:off x="5628784" y="2144492"/>
            <a:ext cx="257176" cy="257176"/>
          </a:xfrm>
          <a:custGeom>
            <a:avLst/>
            <a:gdLst/>
            <a:ahLst/>
            <a:cxnLst/>
            <a:rect l="l" t="t" r="r" b="b"/>
            <a:pathLst>
              <a:path w="257176" h="257176">
                <a:moveTo>
                  <a:pt x="67733" y="0"/>
                </a:moveTo>
                <a:lnTo>
                  <a:pt x="189444" y="0"/>
                </a:lnTo>
                <a:quadBezTo>
                  <a:pt x="257176" y="0"/>
                  <a:pt x="257176" y="67733"/>
                </a:quadBezTo>
                <a:lnTo>
                  <a:pt x="257176" y="189444"/>
                </a:lnTo>
                <a:quadBezTo>
                  <a:pt x="257176" y="257176"/>
                  <a:pt x="189444" y="257176"/>
                </a:quadBezTo>
                <a:lnTo>
                  <a:pt x="67733" y="257176"/>
                </a:lnTo>
                <a:quadBezTo>
                  <a:pt x="0" y="257176"/>
                  <a:pt x="0" y="189444"/>
                </a:quadBezTo>
                <a:lnTo>
                  <a:pt x="0" y="67733"/>
                </a:lnTo>
                <a:quadBezTo>
                  <a:pt x="0" y="0"/>
                  <a:pt x="67733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5926" y="2201631"/>
            <a:ext cx="142845" cy="142845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5972016" y="2173040"/>
            <a:ext cx="1414466" cy="200025"/>
          </a:xfrm>
          <a:custGeom>
            <a:avLst/>
            <a:gdLst/>
            <a:ahLst/>
            <a:cxnLst/>
            <a:rect l="l" t="t" r="r" b="b"/>
            <a:pathLst>
              <a:path w="1414466" h="200025">
                <a:moveTo>
                  <a:pt x="0" y="0"/>
                </a:moveTo>
                <a:lnTo>
                  <a:pt x="1414466" y="0"/>
                </a:lnTo>
                <a:lnTo>
                  <a:pt x="1414466" y="200025"/>
                </a:lnTo>
                <a:lnTo>
                  <a:pt x="0" y="2000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27"/>
          <p:cNvSpPr/>
          <p:nvPr/>
        </p:nvSpPr>
        <p:spPr>
          <a:xfrm>
            <a:off x="5972016" y="2173040"/>
            <a:ext cx="14144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391"/>
              </a:lnSpc>
              <a:spcBef>
                <a:spcPts val="281"/>
              </a:spcBef>
              <a:buNone/>
            </a:pPr>
            <a:r>
              <a:rPr lang="en-US" sz="14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Legacy friction</a:t>
            </a:r>
            <a:endParaRPr lang="en-US" sz="9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8786" y="2577813"/>
            <a:ext cx="133321" cy="133321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5848099" y="2564012"/>
            <a:ext cx="2638431" cy="333376"/>
          </a:xfrm>
          <a:custGeom>
            <a:avLst/>
            <a:gdLst/>
            <a:ahLst/>
            <a:cxnLst/>
            <a:rect l="l" t="t" r="r" b="b"/>
            <a:pathLst>
              <a:path w="2638431" h="333376">
                <a:moveTo>
                  <a:pt x="0" y="0"/>
                </a:moveTo>
                <a:lnTo>
                  <a:pt x="2638431" y="0"/>
                </a:lnTo>
                <a:lnTo>
                  <a:pt x="2638431" y="333376"/>
                </a:lnTo>
                <a:lnTo>
                  <a:pt x="0" y="333376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29"/>
          <p:cNvSpPr/>
          <p:nvPr/>
        </p:nvSpPr>
        <p:spPr>
          <a:xfrm>
            <a:off x="5848099" y="2564012"/>
            <a:ext cx="2638431" cy="33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783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steps slow service at the busiest moments.</a:t>
            </a:r>
            <a:endParaRPr lang="en-US" sz="9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8786" y="3045426"/>
            <a:ext cx="133321" cy="133321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5848099" y="3031625"/>
            <a:ext cx="2638431" cy="333376"/>
          </a:xfrm>
          <a:custGeom>
            <a:avLst/>
            <a:gdLst/>
            <a:ahLst/>
            <a:cxnLst/>
            <a:rect l="l" t="t" r="r" b="b"/>
            <a:pathLst>
              <a:path w="2638431" h="333376">
                <a:moveTo>
                  <a:pt x="0" y="0"/>
                </a:moveTo>
                <a:lnTo>
                  <a:pt x="2638431" y="0"/>
                </a:lnTo>
                <a:lnTo>
                  <a:pt x="2638431" y="333376"/>
                </a:lnTo>
                <a:lnTo>
                  <a:pt x="0" y="333376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1" name="Text 31"/>
          <p:cNvSpPr/>
          <p:nvPr/>
        </p:nvSpPr>
        <p:spPr>
          <a:xfrm>
            <a:off x="5848099" y="3031625"/>
            <a:ext cx="2638431" cy="33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783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Limited visibility makes errors and remakes harder to prevent.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5629046" y="3725164"/>
            <a:ext cx="2857508" cy="304801"/>
          </a:xfrm>
          <a:custGeom>
            <a:avLst/>
            <a:gdLst/>
            <a:ahLst/>
            <a:cxnLst/>
            <a:rect l="l" t="t" r="r" b="b"/>
            <a:pathLst>
              <a:path w="2857508" h="304801">
                <a:moveTo>
                  <a:pt x="0" y="0"/>
                </a:moveTo>
                <a:lnTo>
                  <a:pt x="2857508" y="0"/>
                </a:lnTo>
                <a:lnTo>
                  <a:pt x="2857508" y="304801"/>
                </a:lnTo>
                <a:lnTo>
                  <a:pt x="0" y="304801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3"/>
          <p:cNvSpPr/>
          <p:nvPr/>
        </p:nvSpPr>
        <p:spPr>
          <a:xfrm>
            <a:off x="5629046" y="3725164"/>
            <a:ext cx="2857508" cy="304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operational gap is felt behind the counter.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438116" y="4391055"/>
            <a:ext cx="8267719" cy="409576"/>
          </a:xfrm>
          <a:custGeom>
            <a:avLst/>
            <a:gdLst/>
            <a:ahLst/>
            <a:cxnLst/>
            <a:rect l="l" t="t" r="r" b="b"/>
            <a:pathLst>
              <a:path w="8267719" h="409576">
                <a:moveTo>
                  <a:pt x="58479" y="0"/>
                </a:moveTo>
                <a:lnTo>
                  <a:pt x="8209240" y="0"/>
                </a:lnTo>
                <a:quadBezTo>
                  <a:pt x="8267719" y="0"/>
                  <a:pt x="8267719" y="58479"/>
                </a:quadBezTo>
                <a:lnTo>
                  <a:pt x="8267719" y="351097"/>
                </a:lnTo>
                <a:quadBezTo>
                  <a:pt x="8267719" y="409576"/>
                  <a:pt x="8209240" y="409576"/>
                </a:quadBezTo>
                <a:lnTo>
                  <a:pt x="58479" y="409576"/>
                </a:lnTo>
                <a:quadBezTo>
                  <a:pt x="0" y="409576"/>
                  <a:pt x="0" y="351097"/>
                </a:quadBezTo>
                <a:lnTo>
                  <a:pt x="0" y="58479"/>
                </a:lnTo>
                <a:quadBezTo>
                  <a:pt x="0" y="0"/>
                  <a:pt x="58479" y="0"/>
                </a:quadBezTo>
                <a:close/>
              </a:path>
            </a:pathLst>
          </a:custGeom>
          <a:solidFill>
            <a:srgbClr val="0B1F3A"/>
          </a:solidFill>
          <a:ln/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998" y="4524397"/>
            <a:ext cx="142845" cy="142845"/>
          </a:xfrm>
          <a:prstGeom prst="rect">
            <a:avLst/>
          </a:prstGeom>
        </p:spPr>
      </p:pic>
      <p:sp>
        <p:nvSpPr>
          <p:cNvPr id="46" name="Shape 35"/>
          <p:cNvSpPr/>
          <p:nvPr/>
        </p:nvSpPr>
        <p:spPr>
          <a:xfrm>
            <a:off x="828585" y="4514855"/>
            <a:ext cx="1243015" cy="161925"/>
          </a:xfrm>
          <a:custGeom>
            <a:avLst/>
            <a:gdLst/>
            <a:ahLst/>
            <a:cxnLst/>
            <a:rect l="l" t="t" r="r" b="b"/>
            <a:pathLst>
              <a:path w="1243015" h="161925">
                <a:moveTo>
                  <a:pt x="0" y="0"/>
                </a:moveTo>
                <a:lnTo>
                  <a:pt x="1243015" y="0"/>
                </a:lnTo>
                <a:lnTo>
                  <a:pt x="1243015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7" name="Text 36"/>
          <p:cNvSpPr/>
          <p:nvPr/>
        </p:nvSpPr>
        <p:spPr>
          <a:xfrm>
            <a:off x="828585" y="4514855"/>
            <a:ext cx="12430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48" name="Shape 37"/>
          <p:cNvSpPr/>
          <p:nvPr/>
        </p:nvSpPr>
        <p:spPr>
          <a:xfrm>
            <a:off x="3675767" y="4514880"/>
            <a:ext cx="4867286" cy="161925"/>
          </a:xfrm>
          <a:custGeom>
            <a:avLst/>
            <a:gdLst/>
            <a:ahLst/>
            <a:cxnLst/>
            <a:rect l="l" t="t" r="r" b="b"/>
            <a:pathLst>
              <a:path w="4867286" h="161925">
                <a:moveTo>
                  <a:pt x="0" y="0"/>
                </a:moveTo>
                <a:lnTo>
                  <a:pt x="4867286" y="0"/>
                </a:lnTo>
                <a:lnTo>
                  <a:pt x="486728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9" name="Text 38"/>
          <p:cNvSpPr/>
          <p:nvPr/>
        </p:nvSpPr>
        <p:spPr>
          <a:xfrm>
            <a:off x="3675767" y="4514880"/>
            <a:ext cx="48672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435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Prioritize the digital flow where staff workload and peak demand intersect.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0" y="-6"/>
            <a:ext cx="9144022" cy="5143511"/>
          </a:xfrm>
          <a:custGeom>
            <a:avLst/>
            <a:gdLst/>
            <a:ahLst/>
            <a:cxnLst/>
            <a:rect l="l" t="t" r="r" b="b"/>
            <a:pathLst>
              <a:path w="9144022" h="5143511">
                <a:moveTo>
                  <a:pt x="0" y="0"/>
                </a:moveTo>
                <a:lnTo>
                  <a:pt x="9144022" y="0"/>
                </a:lnTo>
                <a:lnTo>
                  <a:pt x="9144022" y="5143511"/>
                </a:lnTo>
                <a:lnTo>
                  <a:pt x="0" y="514351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-10" y="-6"/>
            <a:ext cx="9144022" cy="5143511"/>
          </a:xfrm>
          <a:custGeom>
            <a:avLst/>
            <a:gdLst/>
            <a:ahLst/>
            <a:cxnLst/>
            <a:rect l="l" t="t" r="r" b="b"/>
            <a:pathLst>
              <a:path w="9144022" h="5143511">
                <a:moveTo>
                  <a:pt x="0" y="0"/>
                </a:moveTo>
                <a:lnTo>
                  <a:pt x="9144022" y="0"/>
                </a:lnTo>
                <a:lnTo>
                  <a:pt x="9144022" y="5143511"/>
                </a:lnTo>
                <a:lnTo>
                  <a:pt x="0" y="5143511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71492" y="370959"/>
            <a:ext cx="8001018" cy="138113"/>
          </a:xfrm>
          <a:custGeom>
            <a:avLst/>
            <a:gdLst/>
            <a:ahLst/>
            <a:cxnLst/>
            <a:rect l="l" t="t" r="r" b="b"/>
            <a:pathLst>
              <a:path w="8001018" h="138113">
                <a:moveTo>
                  <a:pt x="0" y="0"/>
                </a:moveTo>
                <a:lnTo>
                  <a:pt x="8001018" y="0"/>
                </a:lnTo>
                <a:lnTo>
                  <a:pt x="8001018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71492" y="370959"/>
            <a:ext cx="800101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71492" y="576254"/>
            <a:ext cx="8001018" cy="347663"/>
          </a:xfrm>
          <a:custGeom>
            <a:avLst/>
            <a:gdLst/>
            <a:ahLst/>
            <a:cxnLst/>
            <a:rect l="l" t="t" r="r" b="b"/>
            <a:pathLst>
              <a:path w="8001018" h="347663">
                <a:moveTo>
                  <a:pt x="0" y="0"/>
                </a:moveTo>
                <a:lnTo>
                  <a:pt x="8001018" y="0"/>
                </a:lnTo>
                <a:lnTo>
                  <a:pt x="8001018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71492" y="576254"/>
            <a:ext cx="8001018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Roadmap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1492" y="992078"/>
            <a:ext cx="8001018" cy="204787"/>
          </a:xfrm>
          <a:custGeom>
            <a:avLst/>
            <a:gdLst/>
            <a:ahLst/>
            <a:cxnLst/>
            <a:rect l="l" t="t" r="r" b="b"/>
            <a:pathLst>
              <a:path w="8001018" h="204787">
                <a:moveTo>
                  <a:pt x="0" y="0"/>
                </a:moveTo>
                <a:lnTo>
                  <a:pt x="8001018" y="0"/>
                </a:lnTo>
                <a:lnTo>
                  <a:pt x="8001018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71492" y="992078"/>
            <a:ext cx="8001018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focused, connect the operation, then scale with confidence.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428742" y="1739647"/>
            <a:ext cx="6286514" cy="747714"/>
          </a:xfrm>
          <a:custGeom>
            <a:avLst/>
            <a:gdLst/>
            <a:ahLst/>
            <a:cxnLst/>
            <a:rect l="l" t="t" r="r" b="b"/>
            <a:pathLst>
              <a:path w="6286514" h="747714">
                <a:moveTo>
                  <a:pt x="128136" y="0"/>
                </a:moveTo>
                <a:lnTo>
                  <a:pt x="6158378" y="0"/>
                </a:lnTo>
                <a:quadBezTo>
                  <a:pt x="6286514" y="0"/>
                  <a:pt x="6286514" y="128136"/>
                </a:quadBezTo>
                <a:lnTo>
                  <a:pt x="6286514" y="619578"/>
                </a:lnTo>
                <a:quadBezTo>
                  <a:pt x="6286514" y="747714"/>
                  <a:pt x="6158378" y="747714"/>
                </a:quadBezTo>
                <a:lnTo>
                  <a:pt x="128136" y="747714"/>
                </a:lnTo>
                <a:quadBezTo>
                  <a:pt x="0" y="747714"/>
                  <a:pt x="0" y="619578"/>
                </a:quadBezTo>
                <a:lnTo>
                  <a:pt x="0" y="128136"/>
                </a:lnTo>
                <a:quadBezTo>
                  <a:pt x="0" y="0"/>
                  <a:pt x="128136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57150" dir="2700000">
              <a:srgbClr val="0b1f3a">
                <a:alpha val="7843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628724" y="1937266"/>
            <a:ext cx="352426" cy="352426"/>
          </a:xfrm>
          <a:custGeom>
            <a:avLst/>
            <a:gdLst/>
            <a:ahLst/>
            <a:cxnLst/>
            <a:rect l="l" t="t" r="r" b="b"/>
            <a:pathLst>
              <a:path w="352426" h="352426">
                <a:moveTo>
                  <a:pt x="0" y="176213"/>
                </a:moveTo>
                <a:cubicBezTo>
                  <a:pt x="0" y="273533"/>
                  <a:pt x="78893" y="352426"/>
                  <a:pt x="176213" y="352426"/>
                </a:cubicBezTo>
                <a:cubicBezTo>
                  <a:pt x="273533" y="352426"/>
                  <a:pt x="352426" y="273533"/>
                  <a:pt x="352426" y="176213"/>
                </a:cubicBezTo>
                <a:cubicBezTo>
                  <a:pt x="352426" y="78893"/>
                  <a:pt x="273533" y="0"/>
                  <a:pt x="176213" y="0"/>
                </a:cubicBezTo>
                <a:cubicBezTo>
                  <a:pt x="78893" y="0"/>
                  <a:pt x="0" y="78893"/>
                  <a:pt x="0" y="176213"/>
                </a:cubicBezTo>
                <a:close/>
              </a:path>
            </a:pathLst>
          </a:custGeom>
          <a:solidFill>
            <a:srgbClr val="0B1F3A"/>
          </a:solidFill>
          <a:ln/>
        </p:spPr>
      </p:sp>
      <p:sp>
        <p:nvSpPr>
          <p:cNvPr id="13" name="Text 10"/>
          <p:cNvSpPr/>
          <p:nvPr/>
        </p:nvSpPr>
        <p:spPr>
          <a:xfrm>
            <a:off x="1628724" y="1937266"/>
            <a:ext cx="352426" cy="352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143007" y="1884205"/>
            <a:ext cx="904878" cy="300038"/>
          </a:xfrm>
          <a:custGeom>
            <a:avLst/>
            <a:gdLst/>
            <a:ahLst/>
            <a:cxnLst/>
            <a:rect l="l" t="t" r="r" b="b"/>
            <a:pathLst>
              <a:path w="904878" h="300038">
                <a:moveTo>
                  <a:pt x="0" y="0"/>
                </a:moveTo>
                <a:lnTo>
                  <a:pt x="904878" y="0"/>
                </a:lnTo>
                <a:lnTo>
                  <a:pt x="904878" y="300038"/>
                </a:lnTo>
                <a:lnTo>
                  <a:pt x="0" y="3000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2143007" y="1884205"/>
            <a:ext cx="90487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Pilot the model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143007" y="2224137"/>
            <a:ext cx="904878" cy="119062"/>
          </a:xfrm>
          <a:custGeom>
            <a:avLst/>
            <a:gdLst/>
            <a:ahLst/>
            <a:cxnLst/>
            <a:rect l="l" t="t" r="r" b="b"/>
            <a:pathLst>
              <a:path w="904878" h="119062">
                <a:moveTo>
                  <a:pt x="0" y="0"/>
                </a:moveTo>
                <a:lnTo>
                  <a:pt x="904878" y="0"/>
                </a:lnTo>
                <a:lnTo>
                  <a:pt x="904878" y="119062"/>
                </a:lnTo>
                <a:lnTo>
                  <a:pt x="0" y="1190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2143007" y="2224137"/>
            <a:ext cx="904878" cy="11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261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1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209736" y="1961104"/>
            <a:ext cx="14288" cy="304801"/>
          </a:xfrm>
          <a:custGeom>
            <a:avLst/>
            <a:gdLst/>
            <a:ahLst/>
            <a:cxnLst/>
            <a:rect l="l" t="t" r="r" b="b"/>
            <a:pathLst>
              <a:path w="14288" h="304801">
                <a:moveTo>
                  <a:pt x="12700" y="0"/>
                </a:moveTo>
                <a:lnTo>
                  <a:pt x="12700" y="0"/>
                </a:lnTo>
                <a:quadBezTo>
                  <a:pt x="25400" y="0"/>
                  <a:pt x="25400" y="12700"/>
                </a:quadBezTo>
                <a:lnTo>
                  <a:pt x="25400" y="529169"/>
                </a:lnTo>
                <a:quadBezTo>
                  <a:pt x="25400" y="541869"/>
                  <a:pt x="12700" y="541869"/>
                </a:quadBezTo>
                <a:lnTo>
                  <a:pt x="12700" y="541869"/>
                </a:lnTo>
                <a:quadBezTo>
                  <a:pt x="0" y="541869"/>
                  <a:pt x="0" y="529169"/>
                </a:quadBezTo>
                <a:lnTo>
                  <a:pt x="0" y="12700"/>
                </a:lnTo>
                <a:quadBezTo>
                  <a:pt x="0" y="0"/>
                  <a:pt x="12700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19" name="Shape 16"/>
          <p:cNvSpPr/>
          <p:nvPr/>
        </p:nvSpPr>
        <p:spPr>
          <a:xfrm>
            <a:off x="3384993" y="2030134"/>
            <a:ext cx="3881446" cy="166688"/>
          </a:xfrm>
          <a:custGeom>
            <a:avLst/>
            <a:gdLst/>
            <a:ahLst/>
            <a:cxnLst/>
            <a:rect l="l" t="t" r="r" b="b"/>
            <a:pathLst>
              <a:path w="3881446" h="166688">
                <a:moveTo>
                  <a:pt x="0" y="0"/>
                </a:moveTo>
                <a:lnTo>
                  <a:pt x="3881446" y="0"/>
                </a:lnTo>
                <a:lnTo>
                  <a:pt x="3881446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3384993" y="2030134"/>
            <a:ext cx="3881446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Pilot at one canteen outlet and validate the daily service flow.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428742" y="2600406"/>
            <a:ext cx="6286514" cy="747714"/>
          </a:xfrm>
          <a:custGeom>
            <a:avLst/>
            <a:gdLst/>
            <a:ahLst/>
            <a:cxnLst/>
            <a:rect l="l" t="t" r="r" b="b"/>
            <a:pathLst>
              <a:path w="6286514" h="747714">
                <a:moveTo>
                  <a:pt x="128136" y="0"/>
                </a:moveTo>
                <a:lnTo>
                  <a:pt x="6158378" y="0"/>
                </a:lnTo>
                <a:quadBezTo>
                  <a:pt x="6286514" y="0"/>
                  <a:pt x="6286514" y="128136"/>
                </a:quadBezTo>
                <a:lnTo>
                  <a:pt x="6286514" y="619578"/>
                </a:lnTo>
                <a:quadBezTo>
                  <a:pt x="6286514" y="747714"/>
                  <a:pt x="6158378" y="747714"/>
                </a:quadBezTo>
                <a:lnTo>
                  <a:pt x="128136" y="747714"/>
                </a:lnTo>
                <a:quadBezTo>
                  <a:pt x="0" y="747714"/>
                  <a:pt x="0" y="619578"/>
                </a:quadBezTo>
                <a:lnTo>
                  <a:pt x="0" y="128136"/>
                </a:lnTo>
                <a:quadBezTo>
                  <a:pt x="0" y="0"/>
                  <a:pt x="128136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22" name="Shape 19"/>
          <p:cNvSpPr/>
          <p:nvPr/>
        </p:nvSpPr>
        <p:spPr>
          <a:xfrm>
            <a:off x="1628724" y="2798025"/>
            <a:ext cx="352426" cy="352426"/>
          </a:xfrm>
          <a:custGeom>
            <a:avLst/>
            <a:gdLst/>
            <a:ahLst/>
            <a:cxnLst/>
            <a:rect l="l" t="t" r="r" b="b"/>
            <a:pathLst>
              <a:path w="352426" h="352426">
                <a:moveTo>
                  <a:pt x="0" y="176213"/>
                </a:moveTo>
                <a:cubicBezTo>
                  <a:pt x="0" y="273533"/>
                  <a:pt x="78893" y="352426"/>
                  <a:pt x="176213" y="352426"/>
                </a:cubicBezTo>
                <a:cubicBezTo>
                  <a:pt x="273533" y="352426"/>
                  <a:pt x="352426" y="273533"/>
                  <a:pt x="352426" y="176213"/>
                </a:cubicBezTo>
                <a:cubicBezTo>
                  <a:pt x="352426" y="78893"/>
                  <a:pt x="273533" y="0"/>
                  <a:pt x="176213" y="0"/>
                </a:cubicBezTo>
                <a:cubicBezTo>
                  <a:pt x="78893" y="0"/>
                  <a:pt x="0" y="78893"/>
                  <a:pt x="0" y="176213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23" name="Text 20"/>
          <p:cNvSpPr/>
          <p:nvPr/>
        </p:nvSpPr>
        <p:spPr>
          <a:xfrm>
            <a:off x="1628724" y="2798025"/>
            <a:ext cx="352426" cy="352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143007" y="2744965"/>
            <a:ext cx="904878" cy="300038"/>
          </a:xfrm>
          <a:custGeom>
            <a:avLst/>
            <a:gdLst/>
            <a:ahLst/>
            <a:cxnLst/>
            <a:rect l="l" t="t" r="r" b="b"/>
            <a:pathLst>
              <a:path w="904878" h="300038">
                <a:moveTo>
                  <a:pt x="0" y="0"/>
                </a:moveTo>
                <a:lnTo>
                  <a:pt x="904878" y="0"/>
                </a:lnTo>
                <a:lnTo>
                  <a:pt x="904878" y="300038"/>
                </a:lnTo>
                <a:lnTo>
                  <a:pt x="0" y="3000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2143007" y="2744965"/>
            <a:ext cx="90487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 operations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143007" y="3084896"/>
            <a:ext cx="904878" cy="119062"/>
          </a:xfrm>
          <a:custGeom>
            <a:avLst/>
            <a:gdLst/>
            <a:ahLst/>
            <a:cxnLst/>
            <a:rect l="l" t="t" r="r" b="b"/>
            <a:pathLst>
              <a:path w="904878" h="119062">
                <a:moveTo>
                  <a:pt x="0" y="0"/>
                </a:moveTo>
                <a:lnTo>
                  <a:pt x="904878" y="0"/>
                </a:lnTo>
                <a:lnTo>
                  <a:pt x="904878" y="119062"/>
                </a:lnTo>
                <a:lnTo>
                  <a:pt x="0" y="1190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2143007" y="3084896"/>
            <a:ext cx="904878" cy="11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261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2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209736" y="2821863"/>
            <a:ext cx="14288" cy="304801"/>
          </a:xfrm>
          <a:custGeom>
            <a:avLst/>
            <a:gdLst/>
            <a:ahLst/>
            <a:cxnLst/>
            <a:rect l="l" t="t" r="r" b="b"/>
            <a:pathLst>
              <a:path w="14288" h="304801">
                <a:moveTo>
                  <a:pt x="12700" y="0"/>
                </a:moveTo>
                <a:lnTo>
                  <a:pt x="12700" y="0"/>
                </a:lnTo>
                <a:quadBezTo>
                  <a:pt x="25400" y="0"/>
                  <a:pt x="25400" y="12700"/>
                </a:quadBezTo>
                <a:lnTo>
                  <a:pt x="25400" y="529169"/>
                </a:lnTo>
                <a:quadBezTo>
                  <a:pt x="25400" y="541869"/>
                  <a:pt x="12700" y="541869"/>
                </a:quadBezTo>
                <a:lnTo>
                  <a:pt x="12700" y="541869"/>
                </a:lnTo>
                <a:quadBezTo>
                  <a:pt x="0" y="541869"/>
                  <a:pt x="0" y="529169"/>
                </a:quadBezTo>
                <a:lnTo>
                  <a:pt x="0" y="12700"/>
                </a:lnTo>
                <a:quadBezTo>
                  <a:pt x="0" y="0"/>
                  <a:pt x="12700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Shape 26"/>
          <p:cNvSpPr/>
          <p:nvPr/>
        </p:nvSpPr>
        <p:spPr>
          <a:xfrm>
            <a:off x="3386238" y="2890893"/>
            <a:ext cx="4276735" cy="166688"/>
          </a:xfrm>
          <a:custGeom>
            <a:avLst/>
            <a:gdLst/>
            <a:ahLst/>
            <a:cxnLst/>
            <a:rect l="l" t="t" r="r" b="b"/>
            <a:pathLst>
              <a:path w="4276735" h="166688">
                <a:moveTo>
                  <a:pt x="0" y="0"/>
                </a:moveTo>
                <a:lnTo>
                  <a:pt x="4276735" y="0"/>
                </a:lnTo>
                <a:lnTo>
                  <a:pt x="4276735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3386238" y="2890893"/>
            <a:ext cx="4276735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 payments and the kitchen display for seamless execution.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428742" y="3461167"/>
            <a:ext cx="6286514" cy="747714"/>
          </a:xfrm>
          <a:custGeom>
            <a:avLst/>
            <a:gdLst/>
            <a:ahLst/>
            <a:cxnLst/>
            <a:rect l="l" t="t" r="r" b="b"/>
            <a:pathLst>
              <a:path w="6286514" h="747714">
                <a:moveTo>
                  <a:pt x="128136" y="0"/>
                </a:moveTo>
                <a:lnTo>
                  <a:pt x="6158378" y="0"/>
                </a:lnTo>
                <a:quadBezTo>
                  <a:pt x="6286514" y="0"/>
                  <a:pt x="6286514" y="128136"/>
                </a:quadBezTo>
                <a:lnTo>
                  <a:pt x="6286514" y="619578"/>
                </a:lnTo>
                <a:quadBezTo>
                  <a:pt x="6286514" y="747714"/>
                  <a:pt x="6158378" y="747714"/>
                </a:quadBezTo>
                <a:lnTo>
                  <a:pt x="128136" y="747714"/>
                </a:lnTo>
                <a:quadBezTo>
                  <a:pt x="0" y="747714"/>
                  <a:pt x="0" y="619578"/>
                </a:quadBezTo>
                <a:lnTo>
                  <a:pt x="0" y="128136"/>
                </a:lnTo>
                <a:quadBezTo>
                  <a:pt x="0" y="0"/>
                  <a:pt x="128136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57150" dir="2700000">
              <a:srgbClr val="0b1f3a">
                <a:alpha val="7843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1628724" y="3658784"/>
            <a:ext cx="352426" cy="352426"/>
          </a:xfrm>
          <a:custGeom>
            <a:avLst/>
            <a:gdLst/>
            <a:ahLst/>
            <a:cxnLst/>
            <a:rect l="l" t="t" r="r" b="b"/>
            <a:pathLst>
              <a:path w="352426" h="352426">
                <a:moveTo>
                  <a:pt x="0" y="176213"/>
                </a:moveTo>
                <a:cubicBezTo>
                  <a:pt x="0" y="273533"/>
                  <a:pt x="78893" y="352426"/>
                  <a:pt x="176213" y="352426"/>
                </a:cubicBezTo>
                <a:cubicBezTo>
                  <a:pt x="273533" y="352426"/>
                  <a:pt x="352426" y="273533"/>
                  <a:pt x="352426" y="176213"/>
                </a:cubicBezTo>
                <a:cubicBezTo>
                  <a:pt x="352426" y="78893"/>
                  <a:pt x="273533" y="0"/>
                  <a:pt x="176213" y="0"/>
                </a:cubicBezTo>
                <a:cubicBezTo>
                  <a:pt x="78893" y="0"/>
                  <a:pt x="0" y="78893"/>
                  <a:pt x="0" y="176213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3" name="Text 30"/>
          <p:cNvSpPr/>
          <p:nvPr/>
        </p:nvSpPr>
        <p:spPr>
          <a:xfrm>
            <a:off x="1628724" y="3658784"/>
            <a:ext cx="352426" cy="352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143007" y="3605724"/>
            <a:ext cx="904878" cy="300038"/>
          </a:xfrm>
          <a:custGeom>
            <a:avLst/>
            <a:gdLst/>
            <a:ahLst/>
            <a:cxnLst/>
            <a:rect l="l" t="t" r="r" b="b"/>
            <a:pathLst>
              <a:path w="904878" h="300038">
                <a:moveTo>
                  <a:pt x="0" y="0"/>
                </a:moveTo>
                <a:lnTo>
                  <a:pt x="904878" y="0"/>
                </a:lnTo>
                <a:lnTo>
                  <a:pt x="904878" y="300038"/>
                </a:lnTo>
                <a:lnTo>
                  <a:pt x="0" y="3000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2143007" y="3605724"/>
            <a:ext cx="90487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 and scale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143007" y="3945656"/>
            <a:ext cx="904878" cy="119062"/>
          </a:xfrm>
          <a:custGeom>
            <a:avLst/>
            <a:gdLst/>
            <a:ahLst/>
            <a:cxnLst/>
            <a:rect l="l" t="t" r="r" b="b"/>
            <a:pathLst>
              <a:path w="904878" h="119062">
                <a:moveTo>
                  <a:pt x="0" y="0"/>
                </a:moveTo>
                <a:lnTo>
                  <a:pt x="904878" y="0"/>
                </a:lnTo>
                <a:lnTo>
                  <a:pt x="904878" y="119062"/>
                </a:lnTo>
                <a:lnTo>
                  <a:pt x="0" y="1190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2143007" y="3945656"/>
            <a:ext cx="904878" cy="11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261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22C5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Phases 3–4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3209736" y="3682623"/>
            <a:ext cx="14288" cy="304801"/>
          </a:xfrm>
          <a:custGeom>
            <a:avLst/>
            <a:gdLst/>
            <a:ahLst/>
            <a:cxnLst/>
            <a:rect l="l" t="t" r="r" b="b"/>
            <a:pathLst>
              <a:path w="14288" h="304801">
                <a:moveTo>
                  <a:pt x="12700" y="0"/>
                </a:moveTo>
                <a:lnTo>
                  <a:pt x="12700" y="0"/>
                </a:lnTo>
                <a:quadBezTo>
                  <a:pt x="25400" y="0"/>
                  <a:pt x="25400" y="12700"/>
                </a:quadBezTo>
                <a:lnTo>
                  <a:pt x="25400" y="529169"/>
                </a:lnTo>
                <a:quadBezTo>
                  <a:pt x="25400" y="541869"/>
                  <a:pt x="12700" y="541869"/>
                </a:quadBezTo>
                <a:lnTo>
                  <a:pt x="12700" y="541869"/>
                </a:lnTo>
                <a:quadBezTo>
                  <a:pt x="0" y="541869"/>
                  <a:pt x="0" y="529169"/>
                </a:quadBezTo>
                <a:lnTo>
                  <a:pt x="0" y="12700"/>
                </a:lnTo>
                <a:quadBezTo>
                  <a:pt x="0" y="0"/>
                  <a:pt x="12700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39" name="Shape 36"/>
          <p:cNvSpPr/>
          <p:nvPr/>
        </p:nvSpPr>
        <p:spPr>
          <a:xfrm>
            <a:off x="3386033" y="3670690"/>
            <a:ext cx="4129096" cy="328613"/>
          </a:xfrm>
          <a:custGeom>
            <a:avLst/>
            <a:gdLst/>
            <a:ahLst/>
            <a:cxnLst/>
            <a:rect l="l" t="t" r="r" b="b"/>
            <a:pathLst>
              <a:path w="4129096" h="328613">
                <a:moveTo>
                  <a:pt x="0" y="0"/>
                </a:moveTo>
                <a:lnTo>
                  <a:pt x="4129096" y="0"/>
                </a:lnTo>
                <a:lnTo>
                  <a:pt x="4129096" y="328613"/>
                </a:lnTo>
                <a:lnTo>
                  <a:pt x="0" y="3286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3386033" y="3670690"/>
            <a:ext cx="4129096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analytics and demand forecasting, then scale across campus or the organization.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1428742" y="4407971"/>
            <a:ext cx="6286514" cy="390526"/>
          </a:xfrm>
          <a:custGeom>
            <a:avLst/>
            <a:gdLst/>
            <a:ahLst/>
            <a:cxnLst/>
            <a:rect l="l" t="t" r="r" b="b"/>
            <a:pathLst>
              <a:path w="6286514" h="390526">
                <a:moveTo>
                  <a:pt x="50179" y="0"/>
                </a:moveTo>
                <a:lnTo>
                  <a:pt x="6236335" y="0"/>
                </a:lnTo>
                <a:quadBezTo>
                  <a:pt x="6286514" y="0"/>
                  <a:pt x="6286514" y="50179"/>
                </a:quadBezTo>
                <a:lnTo>
                  <a:pt x="6286514" y="340348"/>
                </a:lnTo>
                <a:quadBezTo>
                  <a:pt x="6286514" y="390526"/>
                  <a:pt x="6236335" y="390526"/>
                </a:quadBezTo>
                <a:lnTo>
                  <a:pt x="50179" y="390526"/>
                </a:lnTo>
                <a:quadBezTo>
                  <a:pt x="0" y="390526"/>
                  <a:pt x="0" y="340348"/>
                </a:quadBezTo>
                <a:lnTo>
                  <a:pt x="0" y="50179"/>
                </a:lnTo>
                <a:quadBezTo>
                  <a:pt x="0" y="0"/>
                  <a:pt x="50179" y="0"/>
                </a:quadBezTo>
                <a:close/>
              </a:path>
            </a:pathLst>
          </a:custGeom>
          <a:solidFill>
            <a:srgbClr val="0B1F3A"/>
          </a:solidFill>
          <a:ln/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8737" y="4536572"/>
            <a:ext cx="133321" cy="133321"/>
          </a:xfrm>
          <a:prstGeom prst="rect">
            <a:avLst/>
          </a:prstGeom>
        </p:spPr>
      </p:pic>
      <p:sp>
        <p:nvSpPr>
          <p:cNvPr id="43" name="Shape 39"/>
          <p:cNvSpPr/>
          <p:nvPr/>
        </p:nvSpPr>
        <p:spPr>
          <a:xfrm>
            <a:off x="1838189" y="4531796"/>
            <a:ext cx="3452820" cy="142875"/>
          </a:xfrm>
          <a:custGeom>
            <a:avLst/>
            <a:gdLst/>
            <a:ahLst/>
            <a:cxnLst/>
            <a:rect l="l" t="t" r="r" b="b"/>
            <a:pathLst>
              <a:path w="3452820" h="142875">
                <a:moveTo>
                  <a:pt x="0" y="0"/>
                </a:moveTo>
                <a:lnTo>
                  <a:pt x="3452820" y="0"/>
                </a:lnTo>
                <a:lnTo>
                  <a:pt x="345282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4" name="Text 40"/>
          <p:cNvSpPr/>
          <p:nvPr/>
        </p:nvSpPr>
        <p:spPr>
          <a:xfrm>
            <a:off x="1838189" y="4531796"/>
            <a:ext cx="34528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controlled rollout turns early learning into repeatable scale.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0" y="-6"/>
            <a:ext cx="9144022" cy="5143511"/>
          </a:xfrm>
          <a:custGeom>
            <a:avLst/>
            <a:gdLst/>
            <a:ahLst/>
            <a:cxnLst/>
            <a:rect l="l" t="t" r="r" b="b"/>
            <a:pathLst>
              <a:path w="9144022" h="5143511">
                <a:moveTo>
                  <a:pt x="0" y="0"/>
                </a:moveTo>
                <a:lnTo>
                  <a:pt x="9144022" y="0"/>
                </a:lnTo>
                <a:lnTo>
                  <a:pt x="9144022" y="5143511"/>
                </a:lnTo>
                <a:lnTo>
                  <a:pt x="0" y="514351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-10" y="-6"/>
            <a:ext cx="9144022" cy="5143511"/>
          </a:xfrm>
          <a:custGeom>
            <a:avLst/>
            <a:gdLst/>
            <a:ahLst/>
            <a:cxnLst/>
            <a:rect l="l" t="t" r="r" b="b"/>
            <a:pathLst>
              <a:path w="9144022" h="5143511">
                <a:moveTo>
                  <a:pt x="0" y="0"/>
                </a:moveTo>
                <a:lnTo>
                  <a:pt x="9144022" y="0"/>
                </a:lnTo>
                <a:lnTo>
                  <a:pt x="9144022" y="5143511"/>
                </a:lnTo>
                <a:lnTo>
                  <a:pt x="0" y="5143511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438142" y="370959"/>
            <a:ext cx="8267719" cy="138113"/>
          </a:xfrm>
          <a:custGeom>
            <a:avLst/>
            <a:gdLst/>
            <a:ahLst/>
            <a:cxnLst/>
            <a:rect l="l" t="t" r="r" b="b"/>
            <a:pathLst>
              <a:path w="8267719" h="138113">
                <a:moveTo>
                  <a:pt x="0" y="0"/>
                </a:moveTo>
                <a:lnTo>
                  <a:pt x="8267719" y="0"/>
                </a:lnTo>
                <a:lnTo>
                  <a:pt x="8267719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38142" y="370959"/>
            <a:ext cx="826771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OPERATIONS SCORECARD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38142" y="585776"/>
            <a:ext cx="8267719" cy="347663"/>
          </a:xfrm>
          <a:custGeom>
            <a:avLst/>
            <a:gdLst/>
            <a:ahLst/>
            <a:cxnLst/>
            <a:rect l="l" t="t" r="r" b="b"/>
            <a:pathLst>
              <a:path w="8267719" h="347663">
                <a:moveTo>
                  <a:pt x="0" y="0"/>
                </a:moveTo>
                <a:lnTo>
                  <a:pt x="8267719" y="0"/>
                </a:lnTo>
                <a:lnTo>
                  <a:pt x="8267719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38142" y="585776"/>
            <a:ext cx="8267719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Success Metrics to Track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142" y="1011123"/>
            <a:ext cx="8267719" cy="204787"/>
          </a:xfrm>
          <a:custGeom>
            <a:avLst/>
            <a:gdLst/>
            <a:ahLst/>
            <a:cxnLst/>
            <a:rect l="l" t="t" r="r" b="b"/>
            <a:pathLst>
              <a:path w="8267719" h="204787">
                <a:moveTo>
                  <a:pt x="0" y="0"/>
                </a:moveTo>
                <a:lnTo>
                  <a:pt x="8267719" y="0"/>
                </a:lnTo>
                <a:lnTo>
                  <a:pt x="8267719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38142" y="1011123"/>
            <a:ext cx="8267719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 the system where service speed, precision, and loyalty meet.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7341" y="1845070"/>
            <a:ext cx="2624144" cy="2590806"/>
          </a:xfrm>
          <a:custGeom>
            <a:avLst/>
            <a:gdLst/>
            <a:ahLst/>
            <a:cxnLst/>
            <a:rect l="l" t="t" r="r" b="b"/>
            <a:pathLst>
              <a:path w="2624144" h="2590806">
                <a:moveTo>
                  <a:pt x="47075" y="0"/>
                </a:moveTo>
                <a:lnTo>
                  <a:pt x="2577069" y="0"/>
                </a:lnTo>
                <a:quadBezTo>
                  <a:pt x="2624144" y="0"/>
                  <a:pt x="2624144" y="47075"/>
                </a:quadBezTo>
                <a:lnTo>
                  <a:pt x="2624144" y="2543731"/>
                </a:lnTo>
                <a:quadBezTo>
                  <a:pt x="2624144" y="2590806"/>
                  <a:pt x="2577069" y="2590806"/>
                </a:quadBezTo>
                <a:lnTo>
                  <a:pt x="47075" y="2590806"/>
                </a:lnTo>
                <a:quadBezTo>
                  <a:pt x="0" y="2590806"/>
                  <a:pt x="0" y="2543731"/>
                </a:quadBezTo>
                <a:lnTo>
                  <a:pt x="0" y="47075"/>
                </a:lnTo>
                <a:quadBezTo>
                  <a:pt x="0" y="0"/>
                  <a:pt x="47075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0" dist="85725" dir="2700000">
              <a:srgbClr val="0b1f3a">
                <a:alpha val="10196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7603" y="2064033"/>
            <a:ext cx="323851" cy="323851"/>
          </a:xfrm>
          <a:custGeom>
            <a:avLst/>
            <a:gdLst/>
            <a:ahLst/>
            <a:cxnLst/>
            <a:rect l="l" t="t" r="r" b="b"/>
            <a:pathLst>
              <a:path w="323851" h="323851">
                <a:moveTo>
                  <a:pt x="67235" y="0"/>
                </a:moveTo>
                <a:lnTo>
                  <a:pt x="256617" y="0"/>
                </a:lnTo>
                <a:quadBezTo>
                  <a:pt x="323851" y="0"/>
                  <a:pt x="323851" y="67235"/>
                </a:quadBezTo>
                <a:lnTo>
                  <a:pt x="323851" y="256617"/>
                </a:lnTo>
                <a:quadBezTo>
                  <a:pt x="323851" y="323851"/>
                  <a:pt x="256617" y="323851"/>
                </a:quadBezTo>
                <a:lnTo>
                  <a:pt x="67235" y="323851"/>
                </a:lnTo>
                <a:quadBezTo>
                  <a:pt x="0" y="323851"/>
                  <a:pt x="0" y="256617"/>
                </a:quadBezTo>
                <a:lnTo>
                  <a:pt x="0" y="67235"/>
                </a:lnTo>
                <a:quadBezTo>
                  <a:pt x="0" y="0"/>
                  <a:pt x="6723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20" y="2149749"/>
            <a:ext cx="152367" cy="15236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6891" y="2644090"/>
            <a:ext cx="2205043" cy="161925"/>
          </a:xfrm>
          <a:custGeom>
            <a:avLst/>
            <a:gdLst/>
            <a:ahLst/>
            <a:cxnLst/>
            <a:rect l="l" t="t" r="r" b="b"/>
            <a:pathLst>
              <a:path w="2205043" h="161925">
                <a:moveTo>
                  <a:pt x="0" y="0"/>
                </a:moveTo>
                <a:lnTo>
                  <a:pt x="2205043" y="0"/>
                </a:lnTo>
                <a:lnTo>
                  <a:pt x="2205043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646891" y="2644090"/>
            <a:ext cx="22050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Wait Time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46891" y="2938380"/>
            <a:ext cx="2205043" cy="266701"/>
          </a:xfrm>
          <a:custGeom>
            <a:avLst/>
            <a:gdLst/>
            <a:ahLst/>
            <a:cxnLst/>
            <a:rect l="l" t="t" r="r" b="b"/>
            <a:pathLst>
              <a:path w="2205043" h="266701">
                <a:moveTo>
                  <a:pt x="0" y="0"/>
                </a:moveTo>
                <a:lnTo>
                  <a:pt x="2205043" y="0"/>
                </a:lnTo>
                <a:lnTo>
                  <a:pt x="2205043" y="266701"/>
                </a:lnTo>
                <a:lnTo>
                  <a:pt x="0" y="266701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646891" y="2938380"/>
            <a:ext cx="2205043" cy="266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2098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46891" y="3753804"/>
            <a:ext cx="2205043" cy="481014"/>
          </a:xfrm>
          <a:custGeom>
            <a:avLst/>
            <a:gdLst/>
            <a:ahLst/>
            <a:cxnLst/>
            <a:rect l="l" t="t" r="r" b="b"/>
            <a:pathLst>
              <a:path w="2205043" h="481014">
                <a:moveTo>
                  <a:pt x="0" y="0"/>
                </a:moveTo>
                <a:lnTo>
                  <a:pt x="2205043" y="0"/>
                </a:lnTo>
                <a:lnTo>
                  <a:pt x="2205043" y="481014"/>
                </a:lnTo>
                <a:lnTo>
                  <a:pt x="0" y="481014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646891" y="3753804"/>
            <a:ext cx="2205043" cy="481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Shorter queues signal a smoother service flow.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259929" y="1845070"/>
            <a:ext cx="2624144" cy="2590806"/>
          </a:xfrm>
          <a:custGeom>
            <a:avLst/>
            <a:gdLst/>
            <a:ahLst/>
            <a:cxnLst/>
            <a:rect l="l" t="t" r="r" b="b"/>
            <a:pathLst>
              <a:path w="2624144" h="2590806">
                <a:moveTo>
                  <a:pt x="47075" y="0"/>
                </a:moveTo>
                <a:lnTo>
                  <a:pt x="2577069" y="0"/>
                </a:lnTo>
                <a:quadBezTo>
                  <a:pt x="2624144" y="0"/>
                  <a:pt x="2624144" y="47075"/>
                </a:quadBezTo>
                <a:lnTo>
                  <a:pt x="2624144" y="2543731"/>
                </a:lnTo>
                <a:quadBezTo>
                  <a:pt x="2624144" y="2590806"/>
                  <a:pt x="2577069" y="2590806"/>
                </a:quadBezTo>
                <a:lnTo>
                  <a:pt x="47075" y="2590806"/>
                </a:lnTo>
                <a:quadBezTo>
                  <a:pt x="0" y="2590806"/>
                  <a:pt x="0" y="2543731"/>
                </a:quadBezTo>
                <a:lnTo>
                  <a:pt x="0" y="47075"/>
                </a:lnTo>
                <a:quadBezTo>
                  <a:pt x="0" y="0"/>
                  <a:pt x="47075" y="0"/>
                </a:quadBezTo>
                <a:close/>
              </a:path>
            </a:pathLst>
          </a:custGeom>
          <a:solidFill>
            <a:srgbClr val="0B1F3A"/>
          </a:solidFill>
          <a:ln/>
          <a:effectLst>
            <a:outerShdw sx="100000" sy="100000" kx="0" ky="0" algn="bl" rotWithShape="0" blurRad="190500" dist="85725" dir="2700000">
              <a:srgbClr val="0b1f3a">
                <a:alpha val="16078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470191" y="2064033"/>
            <a:ext cx="323851" cy="323851"/>
          </a:xfrm>
          <a:custGeom>
            <a:avLst/>
            <a:gdLst/>
            <a:ahLst/>
            <a:cxnLst/>
            <a:rect l="l" t="t" r="r" b="b"/>
            <a:pathLst>
              <a:path w="323851" h="323851">
                <a:moveTo>
                  <a:pt x="67235" y="0"/>
                </a:moveTo>
                <a:lnTo>
                  <a:pt x="256617" y="0"/>
                </a:lnTo>
                <a:quadBezTo>
                  <a:pt x="323851" y="0"/>
                  <a:pt x="323851" y="67235"/>
                </a:quadBezTo>
                <a:lnTo>
                  <a:pt x="323851" y="256617"/>
                </a:lnTo>
                <a:quadBezTo>
                  <a:pt x="323851" y="323851"/>
                  <a:pt x="256617" y="323851"/>
                </a:quadBezTo>
                <a:lnTo>
                  <a:pt x="67235" y="323851"/>
                </a:lnTo>
                <a:quadBezTo>
                  <a:pt x="0" y="323851"/>
                  <a:pt x="0" y="256617"/>
                </a:quadBezTo>
                <a:lnTo>
                  <a:pt x="0" y="67235"/>
                </a:lnTo>
                <a:quadBezTo>
                  <a:pt x="0" y="0"/>
                  <a:pt x="67235" y="0"/>
                </a:quadBezTo>
                <a:close/>
              </a:path>
            </a:pathLst>
          </a:custGeom>
          <a:solidFill>
            <a:srgbClr val="17385D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173" y="2145013"/>
            <a:ext cx="161889" cy="161889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3469479" y="2644090"/>
            <a:ext cx="2205043" cy="161925"/>
          </a:xfrm>
          <a:custGeom>
            <a:avLst/>
            <a:gdLst/>
            <a:ahLst/>
            <a:cxnLst/>
            <a:rect l="l" t="t" r="r" b="b"/>
            <a:pathLst>
              <a:path w="2205043" h="161925">
                <a:moveTo>
                  <a:pt x="0" y="0"/>
                </a:moveTo>
                <a:lnTo>
                  <a:pt x="2205043" y="0"/>
                </a:lnTo>
                <a:lnTo>
                  <a:pt x="2205043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3469479" y="2644090"/>
            <a:ext cx="22050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 Accuracy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3469479" y="2938380"/>
            <a:ext cx="2205043" cy="266701"/>
          </a:xfrm>
          <a:custGeom>
            <a:avLst/>
            <a:gdLst/>
            <a:ahLst/>
            <a:cxnLst/>
            <a:rect l="l" t="t" r="r" b="b"/>
            <a:pathLst>
              <a:path w="2205043" h="266701">
                <a:moveTo>
                  <a:pt x="0" y="0"/>
                </a:moveTo>
                <a:lnTo>
                  <a:pt x="2205043" y="0"/>
                </a:lnTo>
                <a:lnTo>
                  <a:pt x="2205043" y="266701"/>
                </a:lnTo>
                <a:lnTo>
                  <a:pt x="0" y="266701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3469479" y="2938380"/>
            <a:ext cx="2205043" cy="266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209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Right-first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469479" y="3753804"/>
            <a:ext cx="2205043" cy="481014"/>
          </a:xfrm>
          <a:custGeom>
            <a:avLst/>
            <a:gdLst/>
            <a:ahLst/>
            <a:cxnLst/>
            <a:rect l="l" t="t" r="r" b="b"/>
            <a:pathLst>
              <a:path w="2205043" h="481014">
                <a:moveTo>
                  <a:pt x="0" y="0"/>
                </a:moveTo>
                <a:lnTo>
                  <a:pt x="2205043" y="0"/>
                </a:lnTo>
                <a:lnTo>
                  <a:pt x="2205043" y="481014"/>
                </a:lnTo>
                <a:lnTo>
                  <a:pt x="0" y="481014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3469479" y="3753804"/>
            <a:ext cx="2205043" cy="481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D7E4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Pair accuracy with fulfillment to protect trust.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082516" y="1845070"/>
            <a:ext cx="2624144" cy="2590806"/>
          </a:xfrm>
          <a:custGeom>
            <a:avLst/>
            <a:gdLst/>
            <a:ahLst/>
            <a:cxnLst/>
            <a:rect l="l" t="t" r="r" b="b"/>
            <a:pathLst>
              <a:path w="2624144" h="2590806">
                <a:moveTo>
                  <a:pt x="47075" y="0"/>
                </a:moveTo>
                <a:lnTo>
                  <a:pt x="2577069" y="0"/>
                </a:lnTo>
                <a:quadBezTo>
                  <a:pt x="2624144" y="0"/>
                  <a:pt x="2624144" y="47075"/>
                </a:quadBezTo>
                <a:lnTo>
                  <a:pt x="2624144" y="2543731"/>
                </a:lnTo>
                <a:quadBezTo>
                  <a:pt x="2624144" y="2590806"/>
                  <a:pt x="2577069" y="2590806"/>
                </a:quadBezTo>
                <a:lnTo>
                  <a:pt x="47075" y="2590806"/>
                </a:lnTo>
                <a:quadBezTo>
                  <a:pt x="0" y="2590806"/>
                  <a:pt x="0" y="2543731"/>
                </a:quadBezTo>
                <a:lnTo>
                  <a:pt x="0" y="47075"/>
                </a:lnTo>
                <a:quadBezTo>
                  <a:pt x="0" y="0"/>
                  <a:pt x="47075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0" dist="85725" dir="2700000">
              <a:srgbClr val="0b1f3a">
                <a:alpha val="10196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292784" y="2064033"/>
            <a:ext cx="323851" cy="323851"/>
          </a:xfrm>
          <a:custGeom>
            <a:avLst/>
            <a:gdLst/>
            <a:ahLst/>
            <a:cxnLst/>
            <a:rect l="l" t="t" r="r" b="b"/>
            <a:pathLst>
              <a:path w="323851" h="323851">
                <a:moveTo>
                  <a:pt x="67235" y="0"/>
                </a:moveTo>
                <a:lnTo>
                  <a:pt x="256617" y="0"/>
                </a:lnTo>
                <a:quadBezTo>
                  <a:pt x="323851" y="0"/>
                  <a:pt x="323851" y="67235"/>
                </a:quadBezTo>
                <a:lnTo>
                  <a:pt x="323851" y="256617"/>
                </a:lnTo>
                <a:quadBezTo>
                  <a:pt x="323851" y="323851"/>
                  <a:pt x="256617" y="323851"/>
                </a:quadBezTo>
                <a:lnTo>
                  <a:pt x="67235" y="323851"/>
                </a:lnTo>
                <a:quadBezTo>
                  <a:pt x="0" y="323851"/>
                  <a:pt x="0" y="256617"/>
                </a:quadBezTo>
                <a:lnTo>
                  <a:pt x="0" y="67235"/>
                </a:lnTo>
                <a:quadBezTo>
                  <a:pt x="0" y="0"/>
                  <a:pt x="67235" y="0"/>
                </a:quadBezTo>
                <a:close/>
              </a:path>
            </a:pathLst>
          </a:custGeom>
          <a:solidFill>
            <a:srgbClr val="E8F7F4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760" y="2145013"/>
            <a:ext cx="161889" cy="161889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6292071" y="2644090"/>
            <a:ext cx="2205043" cy="161925"/>
          </a:xfrm>
          <a:custGeom>
            <a:avLst/>
            <a:gdLst/>
            <a:ahLst/>
            <a:cxnLst/>
            <a:rect l="l" t="t" r="r" b="b"/>
            <a:pathLst>
              <a:path w="2205043" h="161925">
                <a:moveTo>
                  <a:pt x="0" y="0"/>
                </a:moveTo>
                <a:lnTo>
                  <a:pt x="2205043" y="0"/>
                </a:lnTo>
                <a:lnTo>
                  <a:pt x="2205043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3" name="Text 27"/>
          <p:cNvSpPr/>
          <p:nvPr/>
        </p:nvSpPr>
        <p:spPr>
          <a:xfrm>
            <a:off x="6292071" y="2644090"/>
            <a:ext cx="22050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Peak-Hour Throughput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6292071" y="2938380"/>
            <a:ext cx="2205043" cy="266701"/>
          </a:xfrm>
          <a:custGeom>
            <a:avLst/>
            <a:gdLst/>
            <a:ahLst/>
            <a:cxnLst/>
            <a:rect l="l" t="t" r="r" b="b"/>
            <a:pathLst>
              <a:path w="2205043" h="266701">
                <a:moveTo>
                  <a:pt x="0" y="0"/>
                </a:moveTo>
                <a:lnTo>
                  <a:pt x="2205043" y="0"/>
                </a:lnTo>
                <a:lnTo>
                  <a:pt x="2205043" y="266701"/>
                </a:lnTo>
                <a:lnTo>
                  <a:pt x="0" y="266701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29"/>
          <p:cNvSpPr/>
          <p:nvPr/>
        </p:nvSpPr>
        <p:spPr>
          <a:xfrm>
            <a:off x="6292071" y="2938380"/>
            <a:ext cx="2205043" cy="266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2098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6292071" y="3753804"/>
            <a:ext cx="2205043" cy="481014"/>
          </a:xfrm>
          <a:custGeom>
            <a:avLst/>
            <a:gdLst/>
            <a:ahLst/>
            <a:cxnLst/>
            <a:rect l="l" t="t" r="r" b="b"/>
            <a:pathLst>
              <a:path w="2205043" h="481014">
                <a:moveTo>
                  <a:pt x="0" y="0"/>
                </a:moveTo>
                <a:lnTo>
                  <a:pt x="2205043" y="0"/>
                </a:lnTo>
                <a:lnTo>
                  <a:pt x="2205043" y="481014"/>
                </a:lnTo>
                <a:lnTo>
                  <a:pt x="0" y="481014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7" name="Text 31"/>
          <p:cNvSpPr/>
          <p:nvPr/>
        </p:nvSpPr>
        <p:spPr>
          <a:xfrm>
            <a:off x="6292071" y="3753804"/>
            <a:ext cx="2205043" cy="481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orders per hour, satisfaction, and repeat adoption.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438187" y="4663491"/>
            <a:ext cx="2857508" cy="138113"/>
          </a:xfrm>
          <a:custGeom>
            <a:avLst/>
            <a:gdLst/>
            <a:ahLst/>
            <a:cxnLst/>
            <a:rect l="l" t="t" r="r" b="b"/>
            <a:pathLst>
              <a:path w="2857508" h="138113">
                <a:moveTo>
                  <a:pt x="0" y="0"/>
                </a:moveTo>
                <a:lnTo>
                  <a:pt x="2857508" y="0"/>
                </a:lnTo>
                <a:lnTo>
                  <a:pt x="2857508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3"/>
          <p:cNvSpPr/>
          <p:nvPr/>
        </p:nvSpPr>
        <p:spPr>
          <a:xfrm>
            <a:off x="438187" y="4663491"/>
            <a:ext cx="285750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goal: faster service that customers choose again.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7111967" y="470397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1" name="Shape 35"/>
          <p:cNvSpPr/>
          <p:nvPr/>
        </p:nvSpPr>
        <p:spPr>
          <a:xfrm>
            <a:off x="7235770" y="4667813"/>
            <a:ext cx="1470123" cy="126555"/>
          </a:xfrm>
          <a:custGeom>
            <a:avLst/>
            <a:gdLst/>
            <a:ahLst/>
            <a:cxnLst/>
            <a:rect l="l" t="t" r="r" b="b"/>
            <a:pathLst>
              <a:path w="1470123" h="126555">
                <a:moveTo>
                  <a:pt x="0" y="0"/>
                </a:moveTo>
                <a:lnTo>
                  <a:pt x="1470123" y="0"/>
                </a:lnTo>
                <a:lnTo>
                  <a:pt x="1470123" y="126555"/>
                </a:lnTo>
                <a:lnTo>
                  <a:pt x="0" y="12655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2" name="Text 36"/>
          <p:cNvSpPr/>
          <p:nvPr/>
        </p:nvSpPr>
        <p:spPr>
          <a:xfrm>
            <a:off x="7235770" y="4667813"/>
            <a:ext cx="1470123" cy="126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PERFORMANCE VIEW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0" y="-6"/>
            <a:ext cx="9144022" cy="5143511"/>
          </a:xfrm>
          <a:custGeom>
            <a:avLst/>
            <a:gdLst/>
            <a:ahLst/>
            <a:cxnLst/>
            <a:rect l="l" t="t" r="r" b="b"/>
            <a:pathLst>
              <a:path w="9144022" h="5143511">
                <a:moveTo>
                  <a:pt x="0" y="0"/>
                </a:moveTo>
                <a:lnTo>
                  <a:pt x="9144022" y="0"/>
                </a:lnTo>
                <a:lnTo>
                  <a:pt x="9144022" y="5143511"/>
                </a:lnTo>
                <a:lnTo>
                  <a:pt x="0" y="514351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-10" y="-6"/>
            <a:ext cx="9144022" cy="5143511"/>
          </a:xfrm>
          <a:custGeom>
            <a:avLst/>
            <a:gdLst/>
            <a:ahLst/>
            <a:cxnLst/>
            <a:rect l="l" t="t" r="r" b="b"/>
            <a:pathLst>
              <a:path w="9144022" h="5143511">
                <a:moveTo>
                  <a:pt x="0" y="0"/>
                </a:moveTo>
                <a:lnTo>
                  <a:pt x="9144022" y="0"/>
                </a:lnTo>
                <a:lnTo>
                  <a:pt x="9144022" y="5143511"/>
                </a:lnTo>
                <a:lnTo>
                  <a:pt x="0" y="5143511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457192" y="361437"/>
            <a:ext cx="8229619" cy="138113"/>
          </a:xfrm>
          <a:custGeom>
            <a:avLst/>
            <a:gdLst/>
            <a:ahLst/>
            <a:cxnLst/>
            <a:rect l="l" t="t" r="r" b="b"/>
            <a:pathLst>
              <a:path w="8229619" h="138113">
                <a:moveTo>
                  <a:pt x="0" y="0"/>
                </a:moveTo>
                <a:lnTo>
                  <a:pt x="8229619" y="0"/>
                </a:lnTo>
                <a:lnTo>
                  <a:pt x="8229619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192" y="361437"/>
            <a:ext cx="822961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MANAGEMENT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192" y="566730"/>
            <a:ext cx="8229619" cy="347663"/>
          </a:xfrm>
          <a:custGeom>
            <a:avLst/>
            <a:gdLst/>
            <a:ahLst/>
            <a:cxnLst/>
            <a:rect l="l" t="t" r="r" b="b"/>
            <a:pathLst>
              <a:path w="8229619" h="347663">
                <a:moveTo>
                  <a:pt x="0" y="0"/>
                </a:moveTo>
                <a:lnTo>
                  <a:pt x="8229619" y="0"/>
                </a:lnTo>
                <a:lnTo>
                  <a:pt x="8229619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192" y="566730"/>
            <a:ext cx="8229619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Risks and Mitigation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156" y="982092"/>
            <a:ext cx="5000636" cy="385763"/>
          </a:xfrm>
          <a:custGeom>
            <a:avLst/>
            <a:gdLst/>
            <a:ahLst/>
            <a:cxnLst/>
            <a:rect l="l" t="t" r="r" b="b"/>
            <a:pathLst>
              <a:path w="5000636" h="385763">
                <a:moveTo>
                  <a:pt x="0" y="0"/>
                </a:moveTo>
                <a:lnTo>
                  <a:pt x="5000636" y="0"/>
                </a:lnTo>
                <a:lnTo>
                  <a:pt x="5000636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57156" y="982092"/>
            <a:ext cx="500063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for friction early, so canteen operations stay fast, reliable, and trusted.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6386" y="1911523"/>
            <a:ext cx="2624144" cy="2343155"/>
          </a:xfrm>
          <a:custGeom>
            <a:avLst/>
            <a:gdLst/>
            <a:ahLst/>
            <a:cxnLst/>
            <a:rect l="l" t="t" r="r" b="b"/>
            <a:pathLst>
              <a:path w="2624144" h="2343155">
                <a:moveTo>
                  <a:pt x="52041" y="0"/>
                </a:moveTo>
                <a:lnTo>
                  <a:pt x="2572102" y="0"/>
                </a:lnTo>
                <a:quadBezTo>
                  <a:pt x="2624144" y="0"/>
                  <a:pt x="2624144" y="52041"/>
                </a:quadBezTo>
                <a:lnTo>
                  <a:pt x="2624144" y="2291114"/>
                </a:lnTo>
                <a:quadBezTo>
                  <a:pt x="2624144" y="2343155"/>
                  <a:pt x="2572102" y="2343155"/>
                </a:quadBezTo>
                <a:lnTo>
                  <a:pt x="52041" y="2343155"/>
                </a:lnTo>
                <a:quadBezTo>
                  <a:pt x="0" y="2343155"/>
                  <a:pt x="0" y="2291114"/>
                </a:quadBezTo>
                <a:lnTo>
                  <a:pt x="0" y="52041"/>
                </a:lnTo>
                <a:quadBezTo>
                  <a:pt x="0" y="0"/>
                  <a:pt x="52041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3350" dist="57150" dir="2700000">
              <a:srgbClr val="0b1f3a">
                <a:alpha val="7843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7607" y="2110765"/>
            <a:ext cx="295276" cy="295276"/>
          </a:xfrm>
          <a:custGeom>
            <a:avLst/>
            <a:gdLst/>
            <a:ahLst/>
            <a:cxnLst/>
            <a:rect l="l" t="t" r="r" b="b"/>
            <a:pathLst>
              <a:path w="295276" h="295276">
                <a:moveTo>
                  <a:pt x="66369" y="0"/>
                </a:moveTo>
                <a:lnTo>
                  <a:pt x="228907" y="0"/>
                </a:lnTo>
                <a:quadBezTo>
                  <a:pt x="295276" y="0"/>
                  <a:pt x="295276" y="66369"/>
                </a:quadBezTo>
                <a:lnTo>
                  <a:pt x="295276" y="228907"/>
                </a:lnTo>
                <a:quadBezTo>
                  <a:pt x="295276" y="295276"/>
                  <a:pt x="228907" y="295276"/>
                </a:quadBezTo>
                <a:lnTo>
                  <a:pt x="66369" y="295276"/>
                </a:lnTo>
                <a:quadBezTo>
                  <a:pt x="0" y="295276"/>
                  <a:pt x="0" y="228907"/>
                </a:quadBezTo>
                <a:lnTo>
                  <a:pt x="0" y="66369"/>
                </a:lnTo>
                <a:quadBezTo>
                  <a:pt x="0" y="0"/>
                  <a:pt x="66369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795" y="2186957"/>
            <a:ext cx="142845" cy="14284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159872" y="2196465"/>
            <a:ext cx="728664" cy="123825"/>
          </a:xfrm>
          <a:custGeom>
            <a:avLst/>
            <a:gdLst/>
            <a:ahLst/>
            <a:cxnLst/>
            <a:rect l="l" t="t" r="r" b="b"/>
            <a:pathLst>
              <a:path w="728664" h="123825">
                <a:moveTo>
                  <a:pt x="0" y="0"/>
                </a:moveTo>
                <a:lnTo>
                  <a:pt x="728664" y="0"/>
                </a:lnTo>
                <a:lnTo>
                  <a:pt x="728664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2159872" y="2196465"/>
            <a:ext cx="7286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PEOPLE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46887" y="2569074"/>
            <a:ext cx="2243143" cy="200025"/>
          </a:xfrm>
          <a:custGeom>
            <a:avLst/>
            <a:gdLst/>
            <a:ahLst/>
            <a:cxnLst/>
            <a:rect l="l" t="t" r="r" b="b"/>
            <a:pathLst>
              <a:path w="2243143" h="200025">
                <a:moveTo>
                  <a:pt x="0" y="0"/>
                </a:moveTo>
                <a:lnTo>
                  <a:pt x="2243143" y="0"/>
                </a:lnTo>
                <a:lnTo>
                  <a:pt x="2243143" y="200025"/>
                </a:lnTo>
                <a:lnTo>
                  <a:pt x="0" y="2000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646887" y="2569074"/>
            <a:ext cx="22431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957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Adoption resistance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47603" y="2846429"/>
            <a:ext cx="323851" cy="19050"/>
          </a:xfrm>
          <a:custGeom>
            <a:avLst/>
            <a:gdLst/>
            <a:ahLst/>
            <a:cxnLst/>
            <a:rect l="l" t="t" r="r" b="b"/>
            <a:pathLst>
              <a:path w="323851" h="19050">
                <a:moveTo>
                  <a:pt x="16933" y="0"/>
                </a:moveTo>
                <a:lnTo>
                  <a:pt x="558802" y="0"/>
                </a:lnTo>
                <a:quadBezTo>
                  <a:pt x="575736" y="0"/>
                  <a:pt x="575736" y="16933"/>
                </a:quadBezTo>
                <a:lnTo>
                  <a:pt x="575736" y="16933"/>
                </a:lnTo>
                <a:quadBezTo>
                  <a:pt x="575736" y="33867"/>
                  <a:pt x="558802" y="33867"/>
                </a:quadBezTo>
                <a:lnTo>
                  <a:pt x="16933" y="33867"/>
                </a:lnTo>
                <a:quadBezTo>
                  <a:pt x="0" y="33867"/>
                  <a:pt x="0" y="16933"/>
                </a:quadBezTo>
                <a:lnTo>
                  <a:pt x="0" y="16933"/>
                </a:lnTo>
                <a:quadBezTo>
                  <a:pt x="0" y="0"/>
                  <a:pt x="16933" y="0"/>
                </a:quad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9" name="Shape 15"/>
          <p:cNvSpPr/>
          <p:nvPr/>
        </p:nvSpPr>
        <p:spPr>
          <a:xfrm>
            <a:off x="646887" y="2999449"/>
            <a:ext cx="2243143" cy="366712"/>
          </a:xfrm>
          <a:custGeom>
            <a:avLst/>
            <a:gdLst/>
            <a:ahLst/>
            <a:cxnLst/>
            <a:rect l="l" t="t" r="r" b="b"/>
            <a:pathLst>
              <a:path w="2243143" h="366712">
                <a:moveTo>
                  <a:pt x="0" y="0"/>
                </a:moveTo>
                <a:lnTo>
                  <a:pt x="2243143" y="0"/>
                </a:lnTo>
                <a:lnTo>
                  <a:pt x="2243143" y="366712"/>
                </a:lnTo>
                <a:lnTo>
                  <a:pt x="0" y="3667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646887" y="2999449"/>
            <a:ext cx="2243143" cy="36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8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 staff and make the benefits visible from day one.</a:t>
            </a:r>
            <a:endParaRPr lang="en-US" sz="9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12" y="3951822"/>
            <a:ext cx="114275" cy="114275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18993" y="3942310"/>
            <a:ext cx="1852618" cy="133350"/>
          </a:xfrm>
          <a:custGeom>
            <a:avLst/>
            <a:gdLst/>
            <a:ahLst/>
            <a:cxnLst/>
            <a:rect l="l" t="t" r="r" b="b"/>
            <a:pathLst>
              <a:path w="1852618" h="133350">
                <a:moveTo>
                  <a:pt x="0" y="0"/>
                </a:moveTo>
                <a:lnTo>
                  <a:pt x="1852618" y="0"/>
                </a:lnTo>
                <a:lnTo>
                  <a:pt x="1852618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18993" y="3942310"/>
            <a:ext cx="18526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confidence through practice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3259929" y="1911523"/>
            <a:ext cx="2624144" cy="2343155"/>
          </a:xfrm>
          <a:custGeom>
            <a:avLst/>
            <a:gdLst/>
            <a:ahLst/>
            <a:cxnLst/>
            <a:rect l="l" t="t" r="r" b="b"/>
            <a:pathLst>
              <a:path w="2624144" h="2343155">
                <a:moveTo>
                  <a:pt x="52041" y="0"/>
                </a:moveTo>
                <a:lnTo>
                  <a:pt x="2572102" y="0"/>
                </a:lnTo>
                <a:quadBezTo>
                  <a:pt x="2624144" y="0"/>
                  <a:pt x="2624144" y="52041"/>
                </a:quadBezTo>
                <a:lnTo>
                  <a:pt x="2624144" y="2291114"/>
                </a:lnTo>
                <a:quadBezTo>
                  <a:pt x="2624144" y="2343155"/>
                  <a:pt x="2572102" y="2343155"/>
                </a:quadBezTo>
                <a:lnTo>
                  <a:pt x="52041" y="2343155"/>
                </a:lnTo>
                <a:quadBezTo>
                  <a:pt x="0" y="2343155"/>
                  <a:pt x="0" y="2291114"/>
                </a:quadBezTo>
                <a:lnTo>
                  <a:pt x="0" y="52041"/>
                </a:lnTo>
                <a:quadBezTo>
                  <a:pt x="0" y="0"/>
                  <a:pt x="52041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3350" dist="57150" dir="2700000">
              <a:srgbClr val="0b1f3a">
                <a:alpha val="7843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451149" y="2110765"/>
            <a:ext cx="295276" cy="295276"/>
          </a:xfrm>
          <a:custGeom>
            <a:avLst/>
            <a:gdLst/>
            <a:ahLst/>
            <a:cxnLst/>
            <a:rect l="l" t="t" r="r" b="b"/>
            <a:pathLst>
              <a:path w="295276" h="295276">
                <a:moveTo>
                  <a:pt x="66369" y="0"/>
                </a:moveTo>
                <a:lnTo>
                  <a:pt x="228907" y="0"/>
                </a:lnTo>
                <a:quadBezTo>
                  <a:pt x="295276" y="0"/>
                  <a:pt x="295276" y="66369"/>
                </a:quadBezTo>
                <a:lnTo>
                  <a:pt x="295276" y="228907"/>
                </a:lnTo>
                <a:quadBezTo>
                  <a:pt x="295276" y="295276"/>
                  <a:pt x="228907" y="295276"/>
                </a:quadBezTo>
                <a:lnTo>
                  <a:pt x="66369" y="295276"/>
                </a:lnTo>
                <a:quadBezTo>
                  <a:pt x="0" y="295276"/>
                  <a:pt x="0" y="228907"/>
                </a:quadBezTo>
                <a:lnTo>
                  <a:pt x="0" y="66369"/>
                </a:lnTo>
                <a:quadBezTo>
                  <a:pt x="0" y="0"/>
                  <a:pt x="66369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342" y="2186957"/>
            <a:ext cx="142845" cy="142845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4674067" y="2196465"/>
            <a:ext cx="1019178" cy="123825"/>
          </a:xfrm>
          <a:custGeom>
            <a:avLst/>
            <a:gdLst/>
            <a:ahLst/>
            <a:cxnLst/>
            <a:rect l="l" t="t" r="r" b="b"/>
            <a:pathLst>
              <a:path w="1019178" h="123825">
                <a:moveTo>
                  <a:pt x="0" y="0"/>
                </a:moveTo>
                <a:lnTo>
                  <a:pt x="1019178" y="0"/>
                </a:lnTo>
                <a:lnTo>
                  <a:pt x="1019178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4674067" y="2196465"/>
            <a:ext cx="101917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CONTINUITY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450429" y="2569074"/>
            <a:ext cx="2243143" cy="200025"/>
          </a:xfrm>
          <a:custGeom>
            <a:avLst/>
            <a:gdLst/>
            <a:ahLst/>
            <a:cxnLst/>
            <a:rect l="l" t="t" r="r" b="b"/>
            <a:pathLst>
              <a:path w="2243143" h="200025">
                <a:moveTo>
                  <a:pt x="0" y="0"/>
                </a:moveTo>
                <a:lnTo>
                  <a:pt x="2243143" y="0"/>
                </a:lnTo>
                <a:lnTo>
                  <a:pt x="2243143" y="200025"/>
                </a:lnTo>
                <a:lnTo>
                  <a:pt x="0" y="2000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3450429" y="2569074"/>
            <a:ext cx="22431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957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downtime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3451146" y="2846429"/>
            <a:ext cx="323851" cy="19050"/>
          </a:xfrm>
          <a:custGeom>
            <a:avLst/>
            <a:gdLst/>
            <a:ahLst/>
            <a:cxnLst/>
            <a:rect l="l" t="t" r="r" b="b"/>
            <a:pathLst>
              <a:path w="323851" h="19050">
                <a:moveTo>
                  <a:pt x="16933" y="0"/>
                </a:moveTo>
                <a:lnTo>
                  <a:pt x="558802" y="0"/>
                </a:lnTo>
                <a:quadBezTo>
                  <a:pt x="575736" y="0"/>
                  <a:pt x="575736" y="16933"/>
                </a:quadBezTo>
                <a:lnTo>
                  <a:pt x="575736" y="16933"/>
                </a:lnTo>
                <a:quadBezTo>
                  <a:pt x="575736" y="33867"/>
                  <a:pt x="558802" y="33867"/>
                </a:quadBezTo>
                <a:lnTo>
                  <a:pt x="16933" y="33867"/>
                </a:lnTo>
                <a:quadBezTo>
                  <a:pt x="0" y="33867"/>
                  <a:pt x="0" y="16933"/>
                </a:quadBezTo>
                <a:lnTo>
                  <a:pt x="0" y="16933"/>
                </a:lnTo>
                <a:quadBezTo>
                  <a:pt x="0" y="0"/>
                  <a:pt x="16933" y="0"/>
                </a:quad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32" name="Shape 26"/>
          <p:cNvSpPr/>
          <p:nvPr/>
        </p:nvSpPr>
        <p:spPr>
          <a:xfrm>
            <a:off x="3450429" y="2999449"/>
            <a:ext cx="2243143" cy="366712"/>
          </a:xfrm>
          <a:custGeom>
            <a:avLst/>
            <a:gdLst/>
            <a:ahLst/>
            <a:cxnLst/>
            <a:rect l="l" t="t" r="r" b="b"/>
            <a:pathLst>
              <a:path w="2243143" h="366712">
                <a:moveTo>
                  <a:pt x="0" y="0"/>
                </a:moveTo>
                <a:lnTo>
                  <a:pt x="2243143" y="0"/>
                </a:lnTo>
                <a:lnTo>
                  <a:pt x="2243143" y="366712"/>
                </a:lnTo>
                <a:lnTo>
                  <a:pt x="0" y="3667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3" name="Text 27"/>
          <p:cNvSpPr/>
          <p:nvPr/>
        </p:nvSpPr>
        <p:spPr>
          <a:xfrm>
            <a:off x="3450429" y="2999449"/>
            <a:ext cx="2243143" cy="36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8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Enable backup ordering options to keep service moving.</a:t>
            </a:r>
            <a:endParaRPr lang="en-US" sz="9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1155" y="3951822"/>
            <a:ext cx="114275" cy="114275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3622708" y="3942310"/>
            <a:ext cx="1581154" cy="133350"/>
          </a:xfrm>
          <a:custGeom>
            <a:avLst/>
            <a:gdLst/>
            <a:ahLst/>
            <a:cxnLst/>
            <a:rect l="l" t="t" r="r" b="b"/>
            <a:pathLst>
              <a:path w="1581154" h="133350">
                <a:moveTo>
                  <a:pt x="0" y="0"/>
                </a:moveTo>
                <a:lnTo>
                  <a:pt x="1581154" y="0"/>
                </a:lnTo>
                <a:lnTo>
                  <a:pt x="1581154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6" name="Text 29"/>
          <p:cNvSpPr/>
          <p:nvPr/>
        </p:nvSpPr>
        <p:spPr>
          <a:xfrm>
            <a:off x="3622708" y="3942310"/>
            <a:ext cx="15811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Keep a reliable fallback ready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6063471" y="1911523"/>
            <a:ext cx="2624144" cy="2343155"/>
          </a:xfrm>
          <a:custGeom>
            <a:avLst/>
            <a:gdLst/>
            <a:ahLst/>
            <a:cxnLst/>
            <a:rect l="l" t="t" r="r" b="b"/>
            <a:pathLst>
              <a:path w="2624144" h="2343155">
                <a:moveTo>
                  <a:pt x="52041" y="0"/>
                </a:moveTo>
                <a:lnTo>
                  <a:pt x="2572102" y="0"/>
                </a:lnTo>
                <a:quadBezTo>
                  <a:pt x="2624144" y="0"/>
                  <a:pt x="2624144" y="52041"/>
                </a:quadBezTo>
                <a:lnTo>
                  <a:pt x="2624144" y="2291114"/>
                </a:lnTo>
                <a:quadBezTo>
                  <a:pt x="2624144" y="2343155"/>
                  <a:pt x="2572102" y="2343155"/>
                </a:quadBezTo>
                <a:lnTo>
                  <a:pt x="52041" y="2343155"/>
                </a:lnTo>
                <a:quadBezTo>
                  <a:pt x="0" y="2343155"/>
                  <a:pt x="0" y="2291114"/>
                </a:quadBezTo>
                <a:lnTo>
                  <a:pt x="0" y="52041"/>
                </a:lnTo>
                <a:quadBezTo>
                  <a:pt x="0" y="0"/>
                  <a:pt x="52041" y="0"/>
                </a:quadBezTo>
                <a:close/>
              </a:path>
            </a:pathLst>
          </a:custGeom>
          <a:solidFill>
            <a:srgbClr val="0B1F3A"/>
          </a:solidFill>
          <a:ln/>
          <a:effectLst>
            <a:outerShdw sx="100000" sy="100000" kx="0" ky="0" algn="bl" rotWithShape="0" blurRad="133350" dist="57150" dir="2700000">
              <a:srgbClr val="0b1f3a">
                <a:alpha val="14118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6254692" y="2110765"/>
            <a:ext cx="295276" cy="295276"/>
          </a:xfrm>
          <a:custGeom>
            <a:avLst/>
            <a:gdLst/>
            <a:ahLst/>
            <a:cxnLst/>
            <a:rect l="l" t="t" r="r" b="b"/>
            <a:pathLst>
              <a:path w="295276" h="295276">
                <a:moveTo>
                  <a:pt x="66369" y="0"/>
                </a:moveTo>
                <a:lnTo>
                  <a:pt x="228907" y="0"/>
                </a:lnTo>
                <a:quadBezTo>
                  <a:pt x="295276" y="0"/>
                  <a:pt x="295276" y="66369"/>
                </a:quadBezTo>
                <a:lnTo>
                  <a:pt x="295276" y="228907"/>
                </a:lnTo>
                <a:quadBezTo>
                  <a:pt x="295276" y="295276"/>
                  <a:pt x="228907" y="295276"/>
                </a:quadBezTo>
                <a:lnTo>
                  <a:pt x="66369" y="295276"/>
                </a:lnTo>
                <a:quadBezTo>
                  <a:pt x="0" y="295276"/>
                  <a:pt x="0" y="228907"/>
                </a:quadBezTo>
                <a:lnTo>
                  <a:pt x="0" y="66369"/>
                </a:lnTo>
                <a:quadBezTo>
                  <a:pt x="0" y="0"/>
                  <a:pt x="66369" y="0"/>
                </a:quadBezTo>
                <a:close/>
              </a:path>
            </a:pathLst>
          </a:custGeom>
          <a:solidFill>
            <a:srgbClr val="17365D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0884" y="2186957"/>
            <a:ext cx="142845" cy="142845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7842945" y="2196465"/>
            <a:ext cx="652464" cy="123825"/>
          </a:xfrm>
          <a:custGeom>
            <a:avLst/>
            <a:gdLst/>
            <a:ahLst/>
            <a:cxnLst/>
            <a:rect l="l" t="t" r="r" b="b"/>
            <a:pathLst>
              <a:path w="652464" h="123825">
                <a:moveTo>
                  <a:pt x="0" y="0"/>
                </a:moveTo>
                <a:lnTo>
                  <a:pt x="652464" y="0"/>
                </a:lnTo>
                <a:lnTo>
                  <a:pt x="652464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1" name="Text 33"/>
          <p:cNvSpPr/>
          <p:nvPr/>
        </p:nvSpPr>
        <p:spPr>
          <a:xfrm>
            <a:off x="7842945" y="2196465"/>
            <a:ext cx="6524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9FB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SCALE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6253971" y="2569074"/>
            <a:ext cx="2243143" cy="200025"/>
          </a:xfrm>
          <a:custGeom>
            <a:avLst/>
            <a:gdLst/>
            <a:ahLst/>
            <a:cxnLst/>
            <a:rect l="l" t="t" r="r" b="b"/>
            <a:pathLst>
              <a:path w="2243143" h="200025">
                <a:moveTo>
                  <a:pt x="0" y="0"/>
                </a:moveTo>
                <a:lnTo>
                  <a:pt x="2243143" y="0"/>
                </a:lnTo>
                <a:lnTo>
                  <a:pt x="2243143" y="200025"/>
                </a:lnTo>
                <a:lnTo>
                  <a:pt x="0" y="2000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5"/>
          <p:cNvSpPr/>
          <p:nvPr/>
        </p:nvSpPr>
        <p:spPr>
          <a:xfrm>
            <a:off x="6253971" y="2569074"/>
            <a:ext cx="22431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957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Peak overload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6254688" y="2846429"/>
            <a:ext cx="323851" cy="19050"/>
          </a:xfrm>
          <a:custGeom>
            <a:avLst/>
            <a:gdLst/>
            <a:ahLst/>
            <a:cxnLst/>
            <a:rect l="l" t="t" r="r" b="b"/>
            <a:pathLst>
              <a:path w="323851" h="19050">
                <a:moveTo>
                  <a:pt x="16933" y="0"/>
                </a:moveTo>
                <a:lnTo>
                  <a:pt x="558802" y="0"/>
                </a:lnTo>
                <a:quadBezTo>
                  <a:pt x="575736" y="0"/>
                  <a:pt x="575736" y="16933"/>
                </a:quadBezTo>
                <a:lnTo>
                  <a:pt x="575736" y="16933"/>
                </a:lnTo>
                <a:quadBezTo>
                  <a:pt x="575736" y="33867"/>
                  <a:pt x="558802" y="33867"/>
                </a:quadBezTo>
                <a:lnTo>
                  <a:pt x="16933" y="33867"/>
                </a:lnTo>
                <a:quadBezTo>
                  <a:pt x="0" y="33867"/>
                  <a:pt x="0" y="16933"/>
                </a:quadBezTo>
                <a:lnTo>
                  <a:pt x="0" y="16933"/>
                </a:lnTo>
                <a:quadBezTo>
                  <a:pt x="0" y="0"/>
                  <a:pt x="16933" y="0"/>
                </a:quad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45" name="Shape 37"/>
          <p:cNvSpPr/>
          <p:nvPr/>
        </p:nvSpPr>
        <p:spPr>
          <a:xfrm>
            <a:off x="6253971" y="2999449"/>
            <a:ext cx="2243143" cy="366712"/>
          </a:xfrm>
          <a:custGeom>
            <a:avLst/>
            <a:gdLst/>
            <a:ahLst/>
            <a:cxnLst/>
            <a:rect l="l" t="t" r="r" b="b"/>
            <a:pathLst>
              <a:path w="2243143" h="366712">
                <a:moveTo>
                  <a:pt x="0" y="0"/>
                </a:moveTo>
                <a:lnTo>
                  <a:pt x="2243143" y="0"/>
                </a:lnTo>
                <a:lnTo>
                  <a:pt x="2243143" y="366712"/>
                </a:lnTo>
                <a:lnTo>
                  <a:pt x="0" y="3667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6" name="Text 38"/>
          <p:cNvSpPr/>
          <p:nvPr/>
        </p:nvSpPr>
        <p:spPr>
          <a:xfrm>
            <a:off x="6253971" y="2999449"/>
            <a:ext cx="2243143" cy="36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8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D7E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scalable cloud infrastructure for demand spikes.</a:t>
            </a:r>
            <a:endParaRPr lang="en-US" sz="900" dirty="0"/>
          </a:p>
        </p:txBody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698" y="3951822"/>
            <a:ext cx="114275" cy="114275"/>
          </a:xfrm>
          <a:prstGeom prst="rect">
            <a:avLst/>
          </a:prstGeom>
        </p:spPr>
      </p:pic>
      <p:sp>
        <p:nvSpPr>
          <p:cNvPr id="48" name="Shape 39"/>
          <p:cNvSpPr/>
          <p:nvPr/>
        </p:nvSpPr>
        <p:spPr>
          <a:xfrm>
            <a:off x="6427052" y="3942310"/>
            <a:ext cx="1747843" cy="133350"/>
          </a:xfrm>
          <a:custGeom>
            <a:avLst/>
            <a:gdLst/>
            <a:ahLst/>
            <a:cxnLst/>
            <a:rect l="l" t="t" r="r" b="b"/>
            <a:pathLst>
              <a:path w="1747843" h="133350">
                <a:moveTo>
                  <a:pt x="0" y="0"/>
                </a:moveTo>
                <a:lnTo>
                  <a:pt x="1747843" y="0"/>
                </a:lnTo>
                <a:lnTo>
                  <a:pt x="1747843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9" name="Text 40"/>
          <p:cNvSpPr/>
          <p:nvPr/>
        </p:nvSpPr>
        <p:spPr>
          <a:xfrm>
            <a:off x="6427052" y="3942310"/>
            <a:ext cx="17478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Scale capacity when queues rise</a:t>
            </a:r>
            <a:endParaRPr lang="en-US" sz="900" dirty="0"/>
          </a:p>
        </p:txBody>
      </p:sp>
      <p:sp>
        <p:nvSpPr>
          <p:cNvPr id="50" name="Shape 41"/>
          <p:cNvSpPr/>
          <p:nvPr/>
        </p:nvSpPr>
        <p:spPr>
          <a:xfrm>
            <a:off x="457192" y="4418456"/>
            <a:ext cx="8229619" cy="381001"/>
          </a:xfrm>
          <a:custGeom>
            <a:avLst/>
            <a:gdLst/>
            <a:ahLst/>
            <a:cxnLst/>
            <a:rect l="l" t="t" r="r" b="b"/>
            <a:pathLst>
              <a:path w="8229619" h="381001">
                <a:moveTo>
                  <a:pt x="62865" y="0"/>
                </a:moveTo>
                <a:lnTo>
                  <a:pt x="8166754" y="0"/>
                </a:lnTo>
                <a:quadBezTo>
                  <a:pt x="8229619" y="0"/>
                  <a:pt x="8229619" y="62865"/>
                </a:quadBezTo>
                <a:lnTo>
                  <a:pt x="8229619" y="318136"/>
                </a:lnTo>
                <a:quadBezTo>
                  <a:pt x="8229619" y="381001"/>
                  <a:pt x="8166754" y="381001"/>
                </a:quadBezTo>
                <a:lnTo>
                  <a:pt x="62865" y="381001"/>
                </a:lnTo>
                <a:quadBezTo>
                  <a:pt x="0" y="381001"/>
                  <a:pt x="0" y="318136"/>
                </a:quadBezTo>
                <a:lnTo>
                  <a:pt x="0" y="62865"/>
                </a:lnTo>
                <a:quadBezTo>
                  <a:pt x="0" y="0"/>
                  <a:pt x="6286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042" y="4542296"/>
            <a:ext cx="133321" cy="133321"/>
          </a:xfrm>
          <a:prstGeom prst="rect">
            <a:avLst/>
          </a:prstGeom>
        </p:spPr>
      </p:pic>
      <p:sp>
        <p:nvSpPr>
          <p:cNvPr id="52" name="Shape 42"/>
          <p:cNvSpPr/>
          <p:nvPr/>
        </p:nvSpPr>
        <p:spPr>
          <a:xfrm>
            <a:off x="838658" y="4535138"/>
            <a:ext cx="828678" cy="147637"/>
          </a:xfrm>
          <a:custGeom>
            <a:avLst/>
            <a:gdLst/>
            <a:ahLst/>
            <a:cxnLst/>
            <a:rect l="l" t="t" r="r" b="b"/>
            <a:pathLst>
              <a:path w="828678" h="147637">
                <a:moveTo>
                  <a:pt x="0" y="0"/>
                </a:moveTo>
                <a:lnTo>
                  <a:pt x="828678" y="0"/>
                </a:lnTo>
                <a:lnTo>
                  <a:pt x="828678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3" name="Text 43"/>
          <p:cNvSpPr/>
          <p:nvPr/>
        </p:nvSpPr>
        <p:spPr>
          <a:xfrm>
            <a:off x="838658" y="4535138"/>
            <a:ext cx="828678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layer</a:t>
            </a:r>
            <a:endParaRPr lang="en-US" sz="900" dirty="0"/>
          </a:p>
        </p:txBody>
      </p:sp>
      <p:sp>
        <p:nvSpPr>
          <p:cNvPr id="54" name="Shape 44"/>
          <p:cNvSpPr/>
          <p:nvPr/>
        </p:nvSpPr>
        <p:spPr>
          <a:xfrm>
            <a:off x="4909583" y="4532756"/>
            <a:ext cx="3614746" cy="152400"/>
          </a:xfrm>
          <a:custGeom>
            <a:avLst/>
            <a:gdLst/>
            <a:ahLst/>
            <a:cxnLst/>
            <a:rect l="l" t="t" r="r" b="b"/>
            <a:pathLst>
              <a:path w="3614746" h="152400">
                <a:moveTo>
                  <a:pt x="0" y="0"/>
                </a:moveTo>
                <a:lnTo>
                  <a:pt x="3614746" y="0"/>
                </a:lnTo>
                <a:lnTo>
                  <a:pt x="3614746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5" name="Text 45"/>
          <p:cNvSpPr/>
          <p:nvPr/>
        </p:nvSpPr>
        <p:spPr>
          <a:xfrm>
            <a:off x="4909583" y="4532756"/>
            <a:ext cx="36147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 access controls protect data while the service scales.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0" y="-6"/>
            <a:ext cx="9144022" cy="5143511"/>
          </a:xfrm>
          <a:custGeom>
            <a:avLst/>
            <a:gdLst/>
            <a:ahLst/>
            <a:cxnLst/>
            <a:rect l="l" t="t" r="r" b="b"/>
            <a:pathLst>
              <a:path w="9144022" h="5143511">
                <a:moveTo>
                  <a:pt x="0" y="0"/>
                </a:moveTo>
                <a:lnTo>
                  <a:pt x="9144022" y="0"/>
                </a:lnTo>
                <a:lnTo>
                  <a:pt x="9144022" y="5143511"/>
                </a:lnTo>
                <a:lnTo>
                  <a:pt x="0" y="514351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-10" y="-6"/>
            <a:ext cx="9144022" cy="5143511"/>
          </a:xfrm>
          <a:custGeom>
            <a:avLst/>
            <a:gdLst/>
            <a:ahLst/>
            <a:cxnLst/>
            <a:rect l="l" t="t" r="r" b="b"/>
            <a:pathLst>
              <a:path w="9144022" h="5143511">
                <a:moveTo>
                  <a:pt x="0" y="0"/>
                </a:moveTo>
                <a:lnTo>
                  <a:pt x="9144022" y="0"/>
                </a:lnTo>
                <a:lnTo>
                  <a:pt x="9144022" y="5143511"/>
                </a:lnTo>
                <a:lnTo>
                  <a:pt x="0" y="5143511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4007618" y="361437"/>
            <a:ext cx="1128715" cy="138113"/>
          </a:xfrm>
          <a:custGeom>
            <a:avLst/>
            <a:gdLst/>
            <a:ahLst/>
            <a:cxnLst/>
            <a:rect l="l" t="t" r="r" b="b"/>
            <a:pathLst>
              <a:path w="1128715" h="138113">
                <a:moveTo>
                  <a:pt x="0" y="0"/>
                </a:moveTo>
                <a:lnTo>
                  <a:pt x="1128715" y="0"/>
                </a:lnTo>
                <a:lnTo>
                  <a:pt x="1128715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007618" y="361437"/>
            <a:ext cx="112871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TAKEAWAY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721870" y="585024"/>
            <a:ext cx="1700216" cy="328613"/>
          </a:xfrm>
          <a:custGeom>
            <a:avLst/>
            <a:gdLst/>
            <a:ahLst/>
            <a:cxnLst/>
            <a:rect l="l" t="t" r="r" b="b"/>
            <a:pathLst>
              <a:path w="1700216" h="328613">
                <a:moveTo>
                  <a:pt x="0" y="0"/>
                </a:moveTo>
                <a:lnTo>
                  <a:pt x="1700216" y="0"/>
                </a:lnTo>
                <a:lnTo>
                  <a:pt x="1700216" y="328613"/>
                </a:lnTo>
                <a:lnTo>
                  <a:pt x="0" y="3286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3721870" y="585024"/>
            <a:ext cx="1700216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3913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43377" y="1047218"/>
            <a:ext cx="457201" cy="28575"/>
          </a:xfrm>
          <a:custGeom>
            <a:avLst/>
            <a:gdLst/>
            <a:ahLst/>
            <a:cxnLst/>
            <a:rect l="l" t="t" r="r" b="b"/>
            <a:pathLst>
              <a:path w="457201" h="28575">
                <a:moveTo>
                  <a:pt x="25400" y="0"/>
                </a:moveTo>
                <a:lnTo>
                  <a:pt x="787402" y="0"/>
                </a:lnTo>
                <a:quadBezTo>
                  <a:pt x="812802" y="0"/>
                  <a:pt x="812802" y="25400"/>
                </a:quadBezTo>
                <a:lnTo>
                  <a:pt x="812802" y="25400"/>
                </a:lnTo>
                <a:quadBezTo>
                  <a:pt x="812802" y="50800"/>
                  <a:pt x="787402" y="50800"/>
                </a:quadBezTo>
                <a:lnTo>
                  <a:pt x="25400" y="50800"/>
                </a:lnTo>
                <a:quadBezTo>
                  <a:pt x="0" y="50800"/>
                  <a:pt x="0" y="25400"/>
                </a:quadBezTo>
                <a:lnTo>
                  <a:pt x="0" y="25400"/>
                </a:lnTo>
                <a:quadBezTo>
                  <a:pt x="0" y="0"/>
                  <a:pt x="25400" y="0"/>
                </a:quad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0" name="Shape 7"/>
          <p:cNvSpPr/>
          <p:nvPr/>
        </p:nvSpPr>
        <p:spPr>
          <a:xfrm>
            <a:off x="1904994" y="1919033"/>
            <a:ext cx="5334011" cy="1714504"/>
          </a:xfrm>
          <a:custGeom>
            <a:avLst/>
            <a:gdLst/>
            <a:ahLst/>
            <a:cxnLst/>
            <a:rect l="l" t="t" r="r" b="b"/>
            <a:pathLst>
              <a:path w="5334011" h="1714504">
                <a:moveTo>
                  <a:pt x="76193" y="0"/>
                </a:moveTo>
                <a:lnTo>
                  <a:pt x="5257819" y="0"/>
                </a:lnTo>
                <a:quadBezTo>
                  <a:pt x="5334011" y="0"/>
                  <a:pt x="5334011" y="76193"/>
                </a:quadBezTo>
                <a:lnTo>
                  <a:pt x="5334011" y="1638311"/>
                </a:lnTo>
                <a:quadBezTo>
                  <a:pt x="5334011" y="1714504"/>
                  <a:pt x="5257819" y="1714504"/>
                </a:quadBezTo>
                <a:lnTo>
                  <a:pt x="76193" y="1714504"/>
                </a:lnTo>
                <a:quadBezTo>
                  <a:pt x="0" y="1714504"/>
                  <a:pt x="0" y="1638311"/>
                </a:quadBezTo>
                <a:lnTo>
                  <a:pt x="0" y="76193"/>
                </a:lnTo>
                <a:quadBezTo>
                  <a:pt x="0" y="0"/>
                  <a:pt x="76193" y="0"/>
                </a:quadBezTo>
                <a:close/>
              </a:path>
            </a:pathLst>
          </a:custGeom>
          <a:solidFill>
            <a:srgbClr val="0B1F3A"/>
          </a:solidFill>
          <a:ln/>
          <a:effectLst>
            <a:outerShdw sx="100000" sy="100000" kx="0" ky="0" algn="bl" rotWithShape="0" blurRad="200025" dist="85725" dir="2700000">
              <a:srgbClr val="0b1f3a">
                <a:alpha val="14118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247894" y="2176236"/>
            <a:ext cx="4648211" cy="595314"/>
          </a:xfrm>
          <a:custGeom>
            <a:avLst/>
            <a:gdLst/>
            <a:ahLst/>
            <a:cxnLst/>
            <a:rect l="l" t="t" r="r" b="b"/>
            <a:pathLst>
              <a:path w="4648211" h="595314">
                <a:moveTo>
                  <a:pt x="0" y="0"/>
                </a:moveTo>
                <a:lnTo>
                  <a:pt x="4648211" y="0"/>
                </a:lnTo>
                <a:lnTo>
                  <a:pt x="4648211" y="595314"/>
                </a:lnTo>
                <a:lnTo>
                  <a:pt x="0" y="595314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2247894" y="2176236"/>
            <a:ext cx="4648211" cy="595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7391"/>
              </a:lnSpc>
              <a:spcBef>
                <a:spcPts val="281"/>
              </a:spcBef>
              <a:buNone/>
            </a:pPr>
            <a:r>
              <a:rPr lang="en-US" sz="209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Smarter queues mean faster service.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881285" y="2885686"/>
            <a:ext cx="3381383" cy="195263"/>
          </a:xfrm>
          <a:custGeom>
            <a:avLst/>
            <a:gdLst/>
            <a:ahLst/>
            <a:cxnLst/>
            <a:rect l="l" t="t" r="r" b="b"/>
            <a:pathLst>
              <a:path w="3381383" h="195263">
                <a:moveTo>
                  <a:pt x="0" y="0"/>
                </a:moveTo>
                <a:lnTo>
                  <a:pt x="3381383" y="0"/>
                </a:lnTo>
                <a:lnTo>
                  <a:pt x="3381383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2881285" y="2885686"/>
            <a:ext cx="338138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DCE9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 ordering improves accuracy and control.</a:t>
            </a:r>
            <a:endParaRPr lang="en-US" sz="9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2197" y="3233335"/>
            <a:ext cx="133321" cy="133321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412283" y="3223795"/>
            <a:ext cx="2519368" cy="152400"/>
          </a:xfrm>
          <a:custGeom>
            <a:avLst/>
            <a:gdLst/>
            <a:ahLst/>
            <a:cxnLst/>
            <a:rect l="l" t="t" r="r" b="b"/>
            <a:pathLst>
              <a:path w="2519368" h="152400">
                <a:moveTo>
                  <a:pt x="0" y="0"/>
                </a:moveTo>
                <a:lnTo>
                  <a:pt x="2519368" y="0"/>
                </a:lnTo>
                <a:lnTo>
                  <a:pt x="2519368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3412283" y="3223795"/>
            <a:ext cx="25193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small, measure results, then scale.</a:t>
            </a:r>
            <a:endParaRPr lang="en-US" sz="9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847" y="3901241"/>
            <a:ext cx="142845" cy="14284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2353986" y="3898845"/>
            <a:ext cx="881065" cy="147637"/>
          </a:xfrm>
          <a:custGeom>
            <a:avLst/>
            <a:gdLst/>
            <a:ahLst/>
            <a:cxnLst/>
            <a:rect l="l" t="t" r="r" b="b"/>
            <a:pathLst>
              <a:path w="881065" h="147637">
                <a:moveTo>
                  <a:pt x="0" y="0"/>
                </a:moveTo>
                <a:lnTo>
                  <a:pt x="881065" y="0"/>
                </a:lnTo>
                <a:lnTo>
                  <a:pt x="881065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2353986" y="3898845"/>
            <a:ext cx="881065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Faster service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577024" y="3891700"/>
            <a:ext cx="4763" cy="161925"/>
          </a:xfrm>
          <a:custGeom>
            <a:avLst/>
            <a:gdLst/>
            <a:ahLst/>
            <a:cxnLst/>
            <a:rect l="l" t="t" r="r" b="b"/>
            <a:pathLst>
              <a:path w="4763" h="161925">
                <a:moveTo>
                  <a:pt x="0" y="0"/>
                </a:moveTo>
                <a:lnTo>
                  <a:pt x="4763" y="0"/>
                </a:lnTo>
                <a:lnTo>
                  <a:pt x="4763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CBD5E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648" y="3901241"/>
            <a:ext cx="142845" cy="142845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42674" y="3898845"/>
            <a:ext cx="966790" cy="147637"/>
          </a:xfrm>
          <a:custGeom>
            <a:avLst/>
            <a:gdLst/>
            <a:ahLst/>
            <a:cxnLst/>
            <a:rect l="l" t="t" r="r" b="b"/>
            <a:pathLst>
              <a:path w="966790" h="147637">
                <a:moveTo>
                  <a:pt x="0" y="0"/>
                </a:moveTo>
                <a:lnTo>
                  <a:pt x="966790" y="0"/>
                </a:lnTo>
                <a:lnTo>
                  <a:pt x="966790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4" name="Text 18"/>
          <p:cNvSpPr/>
          <p:nvPr/>
        </p:nvSpPr>
        <p:spPr>
          <a:xfrm>
            <a:off x="4142674" y="3898845"/>
            <a:ext cx="96679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Greater control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5451326" y="3891700"/>
            <a:ext cx="4763" cy="161925"/>
          </a:xfrm>
          <a:custGeom>
            <a:avLst/>
            <a:gdLst/>
            <a:ahLst/>
            <a:cxnLst/>
            <a:rect l="l" t="t" r="r" b="b"/>
            <a:pathLst>
              <a:path w="4763" h="161925">
                <a:moveTo>
                  <a:pt x="0" y="0"/>
                </a:moveTo>
                <a:lnTo>
                  <a:pt x="4763" y="0"/>
                </a:lnTo>
                <a:lnTo>
                  <a:pt x="4763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CBD5E1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952" y="3901241"/>
            <a:ext cx="142845" cy="142845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017743" y="3898845"/>
            <a:ext cx="990603" cy="147637"/>
          </a:xfrm>
          <a:custGeom>
            <a:avLst/>
            <a:gdLst/>
            <a:ahLst/>
            <a:cxnLst/>
            <a:rect l="l" t="t" r="r" b="b"/>
            <a:pathLst>
              <a:path w="990603" h="147637">
                <a:moveTo>
                  <a:pt x="0" y="0"/>
                </a:moveTo>
                <a:lnTo>
                  <a:pt x="990603" y="0"/>
                </a:lnTo>
                <a:lnTo>
                  <a:pt x="990603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1"/>
          <p:cNvSpPr/>
          <p:nvPr/>
        </p:nvSpPr>
        <p:spPr>
          <a:xfrm>
            <a:off x="6017743" y="3898845"/>
            <a:ext cx="990603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Confident scale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533394" y="4686325"/>
            <a:ext cx="8077218" cy="114300"/>
          </a:xfrm>
          <a:custGeom>
            <a:avLst/>
            <a:gdLst/>
            <a:ahLst/>
            <a:cxnLst/>
            <a:rect l="l" t="t" r="r" b="b"/>
            <a:pathLst>
              <a:path w="8077218" h="114300">
                <a:moveTo>
                  <a:pt x="0" y="0"/>
                </a:moveTo>
                <a:lnTo>
                  <a:pt x="8077218" y="0"/>
                </a:lnTo>
                <a:lnTo>
                  <a:pt x="8077218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3"/>
          <p:cNvSpPr/>
          <p:nvPr/>
        </p:nvSpPr>
        <p:spPr>
          <a:xfrm>
            <a:off x="533394" y="4686325"/>
            <a:ext cx="80772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better queue is a better service experience.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2026-09-18T18:04:07Z</dcterms:created>
  <dcterms:modified xsi:type="dcterms:W3CDTF">2026-09-18T18:04:07Z</dcterms:modified>
</cp:coreProperties>
</file>