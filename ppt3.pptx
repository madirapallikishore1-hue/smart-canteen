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Bold" charset="1" panose="00000800000000000000"/>
      <p:regular r:id="rId15"/>
    </p:embeddedFont>
    <p:embeddedFont>
      <p:font typeface="Open Sauce" charset="1" panose="00000500000000000000"/>
      <p:regular r:id="rId16"/>
    </p:embeddedFont>
    <p:embeddedFont>
      <p:font typeface="Open Sauce Light" charset="1" panose="00000400000000000000"/>
      <p:regular r:id="rId17"/>
    </p:embeddedFont>
    <p:embeddedFont>
      <p:font typeface="DM Sans Italics" charset="1" panose="00000000000000000000"/>
      <p:regular r:id="rId18"/>
    </p:embeddedFont>
    <p:embeddedFont>
      <p:font typeface="Open Sauce Medium" charset="1" panose="00000600000000000000"/>
      <p:regular r:id="rId19"/>
    </p:embeddedFont>
    <p:embeddedFont>
      <p:font typeface="Open Sauce Light Italics" charset="1" panose="00000400000000000000"/>
      <p:regular r:id="rId20"/>
    </p:embeddedFont>
    <p:embeddedFont>
      <p:font typeface="Aileron"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grpSp>
        <p:nvGrpSpPr>
          <p:cNvPr name="Group 7" id="7"/>
          <p:cNvGrpSpPr/>
          <p:nvPr/>
        </p:nvGrpSpPr>
        <p:grpSpPr>
          <a:xfrm rot="0">
            <a:off x="11900294" y="-429985"/>
            <a:ext cx="6960165" cy="11146969"/>
            <a:chOff x="0" y="0"/>
            <a:chExt cx="1078312" cy="1726957"/>
          </a:xfrm>
        </p:grpSpPr>
        <p:sp>
          <p:nvSpPr>
            <p:cNvPr name="Freeform 8" id="8"/>
            <p:cNvSpPr/>
            <p:nvPr/>
          </p:nvSpPr>
          <p:spPr>
            <a:xfrm flipH="false" flipV="false" rot="0">
              <a:off x="0" y="0"/>
              <a:ext cx="1078312" cy="1726957"/>
            </a:xfrm>
            <a:custGeom>
              <a:avLst/>
              <a:gdLst/>
              <a:ahLst/>
              <a:cxnLst/>
              <a:rect r="r" b="b" t="t" l="l"/>
              <a:pathLst>
                <a:path h="1726957" w="1078312">
                  <a:moveTo>
                    <a:pt x="0" y="0"/>
                  </a:moveTo>
                  <a:lnTo>
                    <a:pt x="1078312" y="0"/>
                  </a:lnTo>
                  <a:lnTo>
                    <a:pt x="1078312" y="1726957"/>
                  </a:lnTo>
                  <a:lnTo>
                    <a:pt x="0" y="1726957"/>
                  </a:lnTo>
                  <a:close/>
                </a:path>
              </a:pathLst>
            </a:custGeom>
            <a:blipFill>
              <a:blip r:embed="rId2"/>
              <a:stretch>
                <a:fillRect l="-348" t="0" r="-348" b="0"/>
              </a:stretch>
            </a:blipFill>
            <a:ln w="19050" cap="sq">
              <a:solidFill>
                <a:srgbClr val="000000"/>
              </a:solidFill>
              <a:prstDash val="solid"/>
              <a:miter/>
            </a:ln>
          </p:spPr>
        </p:sp>
      </p:grpSp>
      <p:grpSp>
        <p:nvGrpSpPr>
          <p:cNvPr name="Group 9" id="9"/>
          <p:cNvGrpSpPr/>
          <p:nvPr/>
        </p:nvGrpSpPr>
        <p:grpSpPr>
          <a:xfrm rot="0">
            <a:off x="576919" y="1746421"/>
            <a:ext cx="15948405" cy="6083932"/>
            <a:chOff x="0" y="0"/>
            <a:chExt cx="4200403" cy="1602353"/>
          </a:xfrm>
        </p:grpSpPr>
        <p:sp>
          <p:nvSpPr>
            <p:cNvPr name="Freeform 10" id="10"/>
            <p:cNvSpPr/>
            <p:nvPr/>
          </p:nvSpPr>
          <p:spPr>
            <a:xfrm flipH="false" flipV="false" rot="0">
              <a:off x="0" y="0"/>
              <a:ext cx="4200403" cy="1602352"/>
            </a:xfrm>
            <a:custGeom>
              <a:avLst/>
              <a:gdLst/>
              <a:ahLst/>
              <a:cxnLst/>
              <a:rect r="r" b="b" t="t" l="l"/>
              <a:pathLst>
                <a:path h="1602352" w="4200403">
                  <a:moveTo>
                    <a:pt x="23786" y="0"/>
                  </a:moveTo>
                  <a:lnTo>
                    <a:pt x="4176617" y="0"/>
                  </a:lnTo>
                  <a:cubicBezTo>
                    <a:pt x="4182925" y="0"/>
                    <a:pt x="4188975" y="2506"/>
                    <a:pt x="4193436" y="6967"/>
                  </a:cubicBezTo>
                  <a:cubicBezTo>
                    <a:pt x="4197897" y="11428"/>
                    <a:pt x="4200403" y="17478"/>
                    <a:pt x="4200403" y="23786"/>
                  </a:cubicBezTo>
                  <a:lnTo>
                    <a:pt x="4200403" y="1578566"/>
                  </a:lnTo>
                  <a:cubicBezTo>
                    <a:pt x="4200403" y="1584875"/>
                    <a:pt x="4197897" y="1590925"/>
                    <a:pt x="4193436" y="1595386"/>
                  </a:cubicBezTo>
                  <a:cubicBezTo>
                    <a:pt x="4188975" y="1599846"/>
                    <a:pt x="4182925" y="1602352"/>
                    <a:pt x="4176617" y="1602352"/>
                  </a:cubicBezTo>
                  <a:lnTo>
                    <a:pt x="23786" y="1602352"/>
                  </a:lnTo>
                  <a:cubicBezTo>
                    <a:pt x="17478" y="1602352"/>
                    <a:pt x="11428" y="1599846"/>
                    <a:pt x="6967" y="1595386"/>
                  </a:cubicBezTo>
                  <a:cubicBezTo>
                    <a:pt x="2506" y="1590925"/>
                    <a:pt x="0" y="1584875"/>
                    <a:pt x="0" y="1578566"/>
                  </a:cubicBezTo>
                  <a:lnTo>
                    <a:pt x="0" y="23786"/>
                  </a:lnTo>
                  <a:cubicBezTo>
                    <a:pt x="0" y="17478"/>
                    <a:pt x="2506" y="11428"/>
                    <a:pt x="6967" y="6967"/>
                  </a:cubicBezTo>
                  <a:cubicBezTo>
                    <a:pt x="11428" y="2506"/>
                    <a:pt x="17478" y="0"/>
                    <a:pt x="23786" y="0"/>
                  </a:cubicBezTo>
                  <a:close/>
                </a:path>
              </a:pathLst>
            </a:custGeom>
            <a:solidFill>
              <a:srgbClr val="FFFFFF"/>
            </a:solidFill>
            <a:ln w="38100" cap="rnd">
              <a:solidFill>
                <a:srgbClr val="000000"/>
              </a:solidFill>
              <a:prstDash val="solid"/>
              <a:round/>
            </a:ln>
          </p:spPr>
        </p:sp>
        <p:sp>
          <p:nvSpPr>
            <p:cNvPr name="TextBox 11" id="11"/>
            <p:cNvSpPr txBox="true"/>
            <p:nvPr/>
          </p:nvSpPr>
          <p:spPr>
            <a:xfrm>
              <a:off x="0" y="-38100"/>
              <a:ext cx="4200403" cy="1640453"/>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5584634" y="2255596"/>
            <a:ext cx="469589" cy="46958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14" id="14"/>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1040885" y="6335797"/>
            <a:ext cx="9466957" cy="929919"/>
            <a:chOff x="0" y="0"/>
            <a:chExt cx="16386122" cy="1609575"/>
          </a:xfrm>
        </p:grpSpPr>
        <p:sp>
          <p:nvSpPr>
            <p:cNvPr name="Freeform 16" id="16"/>
            <p:cNvSpPr/>
            <p:nvPr/>
          </p:nvSpPr>
          <p:spPr>
            <a:xfrm flipH="false" flipV="false" rot="0">
              <a:off x="0" y="0"/>
              <a:ext cx="16386122" cy="1609575"/>
            </a:xfrm>
            <a:custGeom>
              <a:avLst/>
              <a:gdLst/>
              <a:ahLst/>
              <a:cxnLst/>
              <a:rect r="r" b="b" t="t" l="l"/>
              <a:pathLst>
                <a:path h="1609575" w="16386122">
                  <a:moveTo>
                    <a:pt x="39254" y="0"/>
                  </a:moveTo>
                  <a:lnTo>
                    <a:pt x="16346869" y="0"/>
                  </a:lnTo>
                  <a:cubicBezTo>
                    <a:pt x="16357279" y="0"/>
                    <a:pt x="16367265" y="4136"/>
                    <a:pt x="16374625" y="11497"/>
                  </a:cubicBezTo>
                  <a:cubicBezTo>
                    <a:pt x="16381986" y="18859"/>
                    <a:pt x="16386122" y="28843"/>
                    <a:pt x="16386122" y="39254"/>
                  </a:cubicBezTo>
                  <a:lnTo>
                    <a:pt x="16386122" y="1570321"/>
                  </a:lnTo>
                  <a:cubicBezTo>
                    <a:pt x="16386122" y="1580732"/>
                    <a:pt x="16381986" y="1590716"/>
                    <a:pt x="16374625" y="1598078"/>
                  </a:cubicBezTo>
                  <a:cubicBezTo>
                    <a:pt x="16367265" y="1605439"/>
                    <a:pt x="16357279" y="1609575"/>
                    <a:pt x="16346869" y="1609575"/>
                  </a:cubicBezTo>
                  <a:lnTo>
                    <a:pt x="39254" y="1609575"/>
                  </a:lnTo>
                  <a:cubicBezTo>
                    <a:pt x="28843" y="1609575"/>
                    <a:pt x="18859" y="1605439"/>
                    <a:pt x="11497" y="1598078"/>
                  </a:cubicBezTo>
                  <a:cubicBezTo>
                    <a:pt x="4136" y="1590716"/>
                    <a:pt x="0" y="1580732"/>
                    <a:pt x="0" y="1570321"/>
                  </a:cubicBezTo>
                  <a:lnTo>
                    <a:pt x="0" y="39254"/>
                  </a:lnTo>
                  <a:cubicBezTo>
                    <a:pt x="0" y="28843"/>
                    <a:pt x="4136" y="18859"/>
                    <a:pt x="11497" y="11497"/>
                  </a:cubicBezTo>
                  <a:cubicBezTo>
                    <a:pt x="18859" y="4136"/>
                    <a:pt x="28843" y="0"/>
                    <a:pt x="39254" y="0"/>
                  </a:cubicBezTo>
                  <a:close/>
                </a:path>
              </a:pathLst>
            </a:custGeom>
            <a:gradFill rotWithShape="true">
              <a:gsLst>
                <a:gs pos="0">
                  <a:srgbClr val="EB3A84">
                    <a:alpha val="100000"/>
                  </a:srgbClr>
                </a:gs>
                <a:gs pos="100000">
                  <a:srgbClr val="BF105A">
                    <a:alpha val="100000"/>
                  </a:srgbClr>
                </a:gs>
              </a:gsLst>
              <a:lin ang="0"/>
            </a:gradFill>
            <a:ln w="19050" cap="rnd">
              <a:solidFill>
                <a:srgbClr val="000000"/>
              </a:solidFill>
              <a:prstDash val="solid"/>
              <a:round/>
            </a:ln>
          </p:spPr>
        </p:sp>
        <p:sp>
          <p:nvSpPr>
            <p:cNvPr name="TextBox 17" id="17"/>
            <p:cNvSpPr txBox="true"/>
            <p:nvPr/>
          </p:nvSpPr>
          <p:spPr>
            <a:xfrm>
              <a:off x="0" y="-38100"/>
              <a:ext cx="16386122" cy="1647675"/>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0819038" y="6335797"/>
            <a:ext cx="929919" cy="92991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EB3A84">
                    <a:alpha val="100000"/>
                  </a:srgbClr>
                </a:gs>
                <a:gs pos="100000">
                  <a:srgbClr val="BF105A">
                    <a:alpha val="100000"/>
                  </a:srgbClr>
                </a:gs>
              </a:gsLst>
              <a:lin ang="0"/>
            </a:gradFill>
            <a:ln w="19050" cap="rnd">
              <a:solidFill>
                <a:srgbClr val="000000"/>
              </a:solidFill>
              <a:prstDash val="solid"/>
              <a:round/>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21" id="21"/>
          <p:cNvSpPr/>
          <p:nvPr/>
        </p:nvSpPr>
        <p:spPr>
          <a:xfrm>
            <a:off x="11016990" y="6791083"/>
            <a:ext cx="433173" cy="0"/>
          </a:xfrm>
          <a:prstGeom prst="line">
            <a:avLst/>
          </a:prstGeom>
          <a:ln cap="rnd" w="76200">
            <a:solidFill>
              <a:srgbClr val="FFFFFF"/>
            </a:solidFill>
            <a:prstDash val="solid"/>
            <a:headEnd type="none" len="sm" w="sm"/>
            <a:tailEnd type="none" len="sm" w="sm"/>
          </a:ln>
        </p:spPr>
      </p:sp>
      <p:sp>
        <p:nvSpPr>
          <p:cNvPr name="AutoShape 22" id="22"/>
          <p:cNvSpPr/>
          <p:nvPr/>
        </p:nvSpPr>
        <p:spPr>
          <a:xfrm flipV="true">
            <a:off x="11233577" y="6772400"/>
            <a:ext cx="287115" cy="324351"/>
          </a:xfrm>
          <a:prstGeom prst="line">
            <a:avLst/>
          </a:prstGeom>
          <a:ln cap="rnd" w="76200">
            <a:solidFill>
              <a:srgbClr val="FFFFFF"/>
            </a:solidFill>
            <a:prstDash val="solid"/>
            <a:headEnd type="none" len="sm" w="sm"/>
            <a:tailEnd type="none" len="sm" w="sm"/>
          </a:ln>
        </p:spPr>
      </p:sp>
      <p:sp>
        <p:nvSpPr>
          <p:cNvPr name="AutoShape 23" id="23"/>
          <p:cNvSpPr/>
          <p:nvPr/>
        </p:nvSpPr>
        <p:spPr>
          <a:xfrm>
            <a:off x="11235442" y="6504755"/>
            <a:ext cx="287029" cy="324427"/>
          </a:xfrm>
          <a:prstGeom prst="line">
            <a:avLst/>
          </a:prstGeom>
          <a:ln cap="rnd" w="76200">
            <a:solidFill>
              <a:srgbClr val="FFFFFF"/>
            </a:solidFill>
            <a:prstDash val="solid"/>
            <a:headEnd type="none" len="sm" w="sm"/>
            <a:tailEnd type="none" len="sm" w="sm"/>
          </a:ln>
        </p:spPr>
      </p:sp>
      <p:sp>
        <p:nvSpPr>
          <p:cNvPr name="TextBox 24" id="24"/>
          <p:cNvSpPr txBox="true"/>
          <p:nvPr/>
        </p:nvSpPr>
        <p:spPr>
          <a:xfrm rot="0">
            <a:off x="1040885" y="2665171"/>
            <a:ext cx="14543750" cy="1773949"/>
          </a:xfrm>
          <a:prstGeom prst="rect">
            <a:avLst/>
          </a:prstGeom>
        </p:spPr>
        <p:txBody>
          <a:bodyPr anchor="t" rtlCol="false" tIns="0" lIns="0" bIns="0" rIns="0">
            <a:spAutoFit/>
          </a:bodyPr>
          <a:lstStyle/>
          <a:p>
            <a:pPr algn="l" marL="0" indent="0" lvl="0">
              <a:lnSpc>
                <a:spcPts val="12952"/>
              </a:lnSpc>
            </a:pPr>
            <a:r>
              <a:rPr lang="en-US" b="true" sz="14391" spc="-863">
                <a:solidFill>
                  <a:srgbClr val="222223"/>
                </a:solidFill>
                <a:latin typeface="Open Sauce Bold"/>
                <a:ea typeface="Open Sauce Bold"/>
                <a:cs typeface="Open Sauce Bold"/>
                <a:sym typeface="Open Sauce Bold"/>
              </a:rPr>
              <a:t>Smart Canteen</a:t>
            </a:r>
          </a:p>
        </p:txBody>
      </p:sp>
      <p:sp>
        <p:nvSpPr>
          <p:cNvPr name="TextBox 25" id="25"/>
          <p:cNvSpPr txBox="true"/>
          <p:nvPr/>
        </p:nvSpPr>
        <p:spPr>
          <a:xfrm rot="0">
            <a:off x="1040885" y="4466418"/>
            <a:ext cx="11688151" cy="1635546"/>
          </a:xfrm>
          <a:prstGeom prst="rect">
            <a:avLst/>
          </a:prstGeom>
        </p:spPr>
        <p:txBody>
          <a:bodyPr anchor="t" rtlCol="false" tIns="0" lIns="0" bIns="0" rIns="0">
            <a:spAutoFit/>
          </a:bodyPr>
          <a:lstStyle/>
          <a:p>
            <a:pPr algn="l" marL="0" indent="0" lvl="0">
              <a:lnSpc>
                <a:spcPts val="11972"/>
              </a:lnSpc>
            </a:pPr>
            <a:r>
              <a:rPr lang="en-US" sz="13302" spc="-798">
                <a:solidFill>
                  <a:srgbClr val="222223"/>
                </a:solidFill>
                <a:latin typeface="Open Sauce"/>
                <a:ea typeface="Open Sauce"/>
                <a:cs typeface="Open Sauce"/>
                <a:sym typeface="Open Sauce"/>
              </a:rPr>
              <a:t>Queue &amp; Order</a:t>
            </a:r>
          </a:p>
        </p:txBody>
      </p:sp>
      <p:sp>
        <p:nvSpPr>
          <p:cNvPr name="TextBox 26" id="26"/>
          <p:cNvSpPr txBox="true"/>
          <p:nvPr/>
        </p:nvSpPr>
        <p:spPr>
          <a:xfrm rot="0">
            <a:off x="11634751" y="4391400"/>
            <a:ext cx="2256748" cy="1259037"/>
          </a:xfrm>
          <a:prstGeom prst="rect">
            <a:avLst/>
          </a:prstGeom>
        </p:spPr>
        <p:txBody>
          <a:bodyPr anchor="t" rtlCol="false" tIns="0" lIns="0" bIns="0" rIns="0">
            <a:spAutoFit/>
          </a:bodyPr>
          <a:lstStyle/>
          <a:p>
            <a:pPr algn="l" marL="0" indent="0" lvl="0">
              <a:lnSpc>
                <a:spcPts val="10369"/>
              </a:lnSpc>
            </a:pPr>
            <a:r>
              <a:rPr lang="en-US" sz="7406" spc="-629">
                <a:solidFill>
                  <a:srgbClr val="222223"/>
                </a:solidFill>
                <a:latin typeface="Open Sauce Light"/>
                <a:ea typeface="Open Sauce Light"/>
                <a:cs typeface="Open Sauce Light"/>
                <a:sym typeface="Open Sauce Light"/>
              </a:rPr>
              <a:t>//</a:t>
            </a:r>
          </a:p>
        </p:txBody>
      </p:sp>
      <p:sp>
        <p:nvSpPr>
          <p:cNvPr name="TextBox 27" id="27"/>
          <p:cNvSpPr txBox="true"/>
          <p:nvPr/>
        </p:nvSpPr>
        <p:spPr>
          <a:xfrm rot="0">
            <a:off x="12748310" y="4673631"/>
            <a:ext cx="716109" cy="517286"/>
          </a:xfrm>
          <a:prstGeom prst="rect">
            <a:avLst/>
          </a:prstGeom>
        </p:spPr>
        <p:txBody>
          <a:bodyPr anchor="t" rtlCol="false" tIns="0" lIns="0" bIns="0" rIns="0">
            <a:spAutoFit/>
          </a:bodyPr>
          <a:lstStyle/>
          <a:p>
            <a:pPr algn="l" marL="0" indent="0" lvl="0">
              <a:lnSpc>
                <a:spcPts val="4237"/>
              </a:lnSpc>
            </a:pPr>
            <a:r>
              <a:rPr lang="en-US" sz="3027" spc="-257">
                <a:solidFill>
                  <a:srgbClr val="222223"/>
                </a:solidFill>
                <a:latin typeface="Open Sauce Light"/>
                <a:ea typeface="Open Sauce Light"/>
                <a:cs typeface="Open Sauce Light"/>
                <a:sym typeface="Open Sauce Light"/>
              </a:rPr>
              <a:t>01</a:t>
            </a:r>
          </a:p>
        </p:txBody>
      </p:sp>
      <p:sp>
        <p:nvSpPr>
          <p:cNvPr name="TextBox 28" id="28"/>
          <p:cNvSpPr txBox="true"/>
          <p:nvPr/>
        </p:nvSpPr>
        <p:spPr>
          <a:xfrm rot="0">
            <a:off x="13375501" y="4673631"/>
            <a:ext cx="2443928" cy="517286"/>
          </a:xfrm>
          <a:prstGeom prst="rect">
            <a:avLst/>
          </a:prstGeom>
        </p:spPr>
        <p:txBody>
          <a:bodyPr anchor="t" rtlCol="false" tIns="0" lIns="0" bIns="0" rIns="0">
            <a:spAutoFit/>
          </a:bodyPr>
          <a:lstStyle/>
          <a:p>
            <a:pPr algn="l" marL="0" indent="0" lvl="0">
              <a:lnSpc>
                <a:spcPts val="4237"/>
              </a:lnSpc>
            </a:pPr>
            <a:r>
              <a:rPr lang="en-US" sz="3027" spc="-257">
                <a:solidFill>
                  <a:srgbClr val="222223"/>
                </a:solidFill>
                <a:latin typeface="Open Sauce Light"/>
                <a:ea typeface="Open Sauce Light"/>
                <a:cs typeface="Open Sauce Light"/>
                <a:sym typeface="Open Sauce Light"/>
              </a:rPr>
              <a:t>Overview</a:t>
            </a:r>
          </a:p>
        </p:txBody>
      </p:sp>
      <p:sp>
        <p:nvSpPr>
          <p:cNvPr name="TextBox 29" id="29"/>
          <p:cNvSpPr txBox="true"/>
          <p:nvPr/>
        </p:nvSpPr>
        <p:spPr>
          <a:xfrm rot="0">
            <a:off x="1564480" y="6477359"/>
            <a:ext cx="8785973" cy="563398"/>
          </a:xfrm>
          <a:prstGeom prst="rect">
            <a:avLst/>
          </a:prstGeom>
        </p:spPr>
        <p:txBody>
          <a:bodyPr anchor="t" rtlCol="false" tIns="0" lIns="0" bIns="0" rIns="0">
            <a:spAutoFit/>
          </a:bodyPr>
          <a:lstStyle/>
          <a:p>
            <a:pPr algn="l" marL="0" indent="0" lvl="0">
              <a:lnSpc>
                <a:spcPts val="4646"/>
              </a:lnSpc>
            </a:pPr>
            <a:r>
              <a:rPr lang="en-US" sz="3318" spc="-282">
                <a:solidFill>
                  <a:srgbClr val="FFFFFF"/>
                </a:solidFill>
                <a:latin typeface="Open Sauce Light"/>
                <a:ea typeface="Open Sauce Light"/>
                <a:cs typeface="Open Sauce Light"/>
                <a:sym typeface="Open Sauce Light"/>
              </a:rPr>
              <a:t>Faster Ordering, Shorter Queues, Happier Customers</a:t>
            </a:r>
          </a:p>
        </p:txBody>
      </p:sp>
      <p:sp>
        <p:nvSpPr>
          <p:cNvPr name="TextBox 30" id="30"/>
          <p:cNvSpPr txBox="true"/>
          <p:nvPr/>
        </p:nvSpPr>
        <p:spPr>
          <a:xfrm rot="0">
            <a:off x="13375501" y="5106925"/>
            <a:ext cx="2443928" cy="517286"/>
          </a:xfrm>
          <a:prstGeom prst="rect">
            <a:avLst/>
          </a:prstGeom>
        </p:spPr>
        <p:txBody>
          <a:bodyPr anchor="t" rtlCol="false" tIns="0" lIns="0" bIns="0" rIns="0">
            <a:spAutoFit/>
          </a:bodyPr>
          <a:lstStyle/>
          <a:p>
            <a:pPr algn="l" marL="0" indent="0" lvl="0">
              <a:lnSpc>
                <a:spcPts val="4237"/>
              </a:lnSpc>
            </a:pPr>
            <a:r>
              <a:rPr lang="en-US" sz="3027" spc="-257">
                <a:solidFill>
                  <a:srgbClr val="222223"/>
                </a:solidFill>
                <a:latin typeface="Open Sauce Light"/>
                <a:ea typeface="Open Sauce Light"/>
                <a:cs typeface="Open Sauce Light"/>
                <a:sym typeface="Open Sauce Light"/>
              </a:rPr>
              <a:t>Management</a:t>
            </a:r>
          </a:p>
        </p:txBody>
      </p:sp>
      <p:sp>
        <p:nvSpPr>
          <p:cNvPr name="TextBox 31" id="31"/>
          <p:cNvSpPr txBox="true"/>
          <p:nvPr/>
        </p:nvSpPr>
        <p:spPr>
          <a:xfrm rot="0">
            <a:off x="12748310" y="5106925"/>
            <a:ext cx="748947" cy="517286"/>
          </a:xfrm>
          <a:prstGeom prst="rect">
            <a:avLst/>
          </a:prstGeom>
        </p:spPr>
        <p:txBody>
          <a:bodyPr anchor="t" rtlCol="false" tIns="0" lIns="0" bIns="0" rIns="0">
            <a:spAutoFit/>
          </a:bodyPr>
          <a:lstStyle/>
          <a:p>
            <a:pPr algn="l" marL="0" indent="0" lvl="0">
              <a:lnSpc>
                <a:spcPts val="4237"/>
              </a:lnSpc>
            </a:pPr>
            <a:r>
              <a:rPr lang="en-US" sz="3027" spc="-257">
                <a:solidFill>
                  <a:srgbClr val="222223"/>
                </a:solidFill>
                <a:latin typeface="Open Sauce Light"/>
                <a:ea typeface="Open Sauce Light"/>
                <a:cs typeface="Open Sauce Light"/>
                <a:sym typeface="Open Sauce Light"/>
              </a:rPr>
              <a:t>09</a:t>
            </a:r>
          </a:p>
        </p:txBody>
      </p:sp>
      <p:sp>
        <p:nvSpPr>
          <p:cNvPr name="TextBox 32" id="32"/>
          <p:cNvSpPr txBox="true"/>
          <p:nvPr/>
        </p:nvSpPr>
        <p:spPr>
          <a:xfrm rot="0">
            <a:off x="576919" y="821550"/>
            <a:ext cx="3165747" cy="345672"/>
          </a:xfrm>
          <a:prstGeom prst="rect">
            <a:avLst/>
          </a:prstGeom>
        </p:spPr>
        <p:txBody>
          <a:bodyPr anchor="t" rtlCol="false" tIns="0" lIns="0" bIns="0" rIns="0">
            <a:spAutoFit/>
          </a:bodyPr>
          <a:lstStyle/>
          <a:p>
            <a:pPr algn="l" marL="0" indent="0" lvl="0">
              <a:lnSpc>
                <a:spcPts val="2997"/>
              </a:lnSpc>
            </a:pPr>
            <a:r>
              <a:rPr lang="en-US" b="true" sz="2140" spc="-109">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 Co.</a:t>
            </a:r>
          </a:p>
        </p:txBody>
      </p:sp>
      <p:sp>
        <p:nvSpPr>
          <p:cNvPr name="TextBox 33" id="33"/>
          <p:cNvSpPr txBox="true"/>
          <p:nvPr/>
        </p:nvSpPr>
        <p:spPr>
          <a:xfrm rot="0">
            <a:off x="9874112" y="705202"/>
            <a:ext cx="2026182" cy="563593"/>
          </a:xfrm>
          <a:prstGeom prst="rect">
            <a:avLst/>
          </a:prstGeom>
        </p:spPr>
        <p:txBody>
          <a:bodyPr anchor="t" rtlCol="false" tIns="0" lIns="0" bIns="0" rIns="0">
            <a:spAutoFit/>
          </a:bodyPr>
          <a:lstStyle/>
          <a:p>
            <a:pPr algn="ctr" marL="0" indent="0" lvl="0">
              <a:lnSpc>
                <a:spcPts val="4635"/>
              </a:lnSpc>
            </a:pPr>
            <a:r>
              <a:rPr lang="en-US" sz="3311" spc="-168">
                <a:solidFill>
                  <a:srgbClr val="222223"/>
                </a:solidFill>
                <a:latin typeface="Open Sauce"/>
                <a:ea typeface="Open Sauce"/>
                <a:cs typeface="Open Sauce"/>
                <a:sym typeface="Open Sauce"/>
              </a:rPr>
              <a:t>2030</a:t>
            </a:r>
          </a:p>
        </p:txBody>
      </p:sp>
      <p:sp>
        <p:nvSpPr>
          <p:cNvPr name="TextBox 34" id="34"/>
          <p:cNvSpPr txBox="true"/>
          <p:nvPr/>
        </p:nvSpPr>
        <p:spPr>
          <a:xfrm rot="0">
            <a:off x="1040885" y="8392329"/>
            <a:ext cx="8305755" cy="574007"/>
          </a:xfrm>
          <a:prstGeom prst="rect">
            <a:avLst/>
          </a:prstGeom>
        </p:spPr>
        <p:txBody>
          <a:bodyPr anchor="t" rtlCol="false" tIns="0" lIns="0" bIns="0" rIns="0">
            <a:spAutoFit/>
          </a:bodyPr>
          <a:lstStyle/>
          <a:p>
            <a:pPr algn="l" marL="0" indent="0" lvl="0">
              <a:lnSpc>
                <a:spcPts val="2382"/>
              </a:lnSpc>
            </a:pPr>
            <a:r>
              <a:rPr lang="en-US" sz="1751" i="true" spc="-43">
                <a:solidFill>
                  <a:srgbClr val="222223"/>
                </a:solidFill>
                <a:latin typeface="DM Sans Italics"/>
                <a:ea typeface="DM Sans Italics"/>
                <a:cs typeface="DM Sans Italics"/>
                <a:sym typeface="DM Sans Italics"/>
              </a:rPr>
              <a:t>A modern digital solution designed to streamline canteen operations, reduce wait times, and deliver a seamless ordering experience for staff and visitors alike.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TextBox 7" id="7"/>
          <p:cNvSpPr txBox="true"/>
          <p:nvPr/>
        </p:nvSpPr>
        <p:spPr>
          <a:xfrm rot="0">
            <a:off x="1028700" y="1863099"/>
            <a:ext cx="12025694" cy="1356928"/>
          </a:xfrm>
          <a:prstGeom prst="rect">
            <a:avLst/>
          </a:prstGeom>
        </p:spPr>
        <p:txBody>
          <a:bodyPr anchor="t" rtlCol="false" tIns="0" lIns="0" bIns="0" rIns="0">
            <a:spAutoFit/>
          </a:bodyPr>
          <a:lstStyle/>
          <a:p>
            <a:pPr algn="l" marL="0" indent="0" lvl="0">
              <a:lnSpc>
                <a:spcPts val="9913"/>
              </a:lnSpc>
            </a:pPr>
            <a:r>
              <a:rPr lang="en-US" b="true" sz="11015" spc="-660">
                <a:solidFill>
                  <a:srgbClr val="222223"/>
                </a:solidFill>
                <a:latin typeface="Open Sauce Bold"/>
                <a:ea typeface="Open Sauce Bold"/>
                <a:cs typeface="Open Sauce Bold"/>
                <a:sym typeface="Open Sauce Bold"/>
              </a:rPr>
              <a:t>Vision &amp; Mission.</a:t>
            </a:r>
          </a:p>
        </p:txBody>
      </p:sp>
      <p:grpSp>
        <p:nvGrpSpPr>
          <p:cNvPr name="Group 8" id="8"/>
          <p:cNvGrpSpPr/>
          <p:nvPr/>
        </p:nvGrpSpPr>
        <p:grpSpPr>
          <a:xfrm rot="0">
            <a:off x="1028700" y="5143500"/>
            <a:ext cx="6443889" cy="4439784"/>
            <a:chOff x="0" y="0"/>
            <a:chExt cx="1697156" cy="1169326"/>
          </a:xfrm>
        </p:grpSpPr>
        <p:sp>
          <p:nvSpPr>
            <p:cNvPr name="Freeform 9" id="9"/>
            <p:cNvSpPr/>
            <p:nvPr/>
          </p:nvSpPr>
          <p:spPr>
            <a:xfrm flipH="false" flipV="false" rot="0">
              <a:off x="0" y="0"/>
              <a:ext cx="1697156" cy="1169326"/>
            </a:xfrm>
            <a:custGeom>
              <a:avLst/>
              <a:gdLst/>
              <a:ahLst/>
              <a:cxnLst/>
              <a:rect r="r" b="b" t="t" l="l"/>
              <a:pathLst>
                <a:path h="1169326" w="1697156">
                  <a:moveTo>
                    <a:pt x="58870" y="0"/>
                  </a:moveTo>
                  <a:lnTo>
                    <a:pt x="1638285" y="0"/>
                  </a:lnTo>
                  <a:cubicBezTo>
                    <a:pt x="1653899" y="0"/>
                    <a:pt x="1668873" y="6202"/>
                    <a:pt x="1679913" y="17243"/>
                  </a:cubicBezTo>
                  <a:cubicBezTo>
                    <a:pt x="1690954" y="28283"/>
                    <a:pt x="1697156" y="43257"/>
                    <a:pt x="1697156" y="58870"/>
                  </a:cubicBezTo>
                  <a:lnTo>
                    <a:pt x="1697156" y="1110455"/>
                  </a:lnTo>
                  <a:cubicBezTo>
                    <a:pt x="1697156" y="1142969"/>
                    <a:pt x="1670799" y="1169326"/>
                    <a:pt x="1638285" y="1169326"/>
                  </a:cubicBezTo>
                  <a:lnTo>
                    <a:pt x="58870" y="1169326"/>
                  </a:lnTo>
                  <a:cubicBezTo>
                    <a:pt x="43257" y="1169326"/>
                    <a:pt x="28283" y="1163123"/>
                    <a:pt x="17243" y="1152083"/>
                  </a:cubicBezTo>
                  <a:cubicBezTo>
                    <a:pt x="6202" y="1141043"/>
                    <a:pt x="0" y="1126069"/>
                    <a:pt x="0" y="1110455"/>
                  </a:cubicBezTo>
                  <a:lnTo>
                    <a:pt x="0" y="58870"/>
                  </a:lnTo>
                  <a:cubicBezTo>
                    <a:pt x="0" y="43257"/>
                    <a:pt x="6202" y="28283"/>
                    <a:pt x="17243" y="17243"/>
                  </a:cubicBezTo>
                  <a:cubicBezTo>
                    <a:pt x="28283" y="6202"/>
                    <a:pt x="43257" y="0"/>
                    <a:pt x="58870" y="0"/>
                  </a:cubicBezTo>
                  <a:close/>
                </a:path>
              </a:pathLst>
            </a:custGeom>
            <a:solidFill>
              <a:srgbClr val="FFFFFF"/>
            </a:solidFill>
            <a:ln w="19050" cap="rnd">
              <a:solidFill>
                <a:srgbClr val="000000"/>
              </a:solidFill>
              <a:prstDash val="solid"/>
              <a:round/>
            </a:ln>
          </p:spPr>
        </p:sp>
        <p:sp>
          <p:nvSpPr>
            <p:cNvPr name="TextBox 10" id="10"/>
            <p:cNvSpPr txBox="true"/>
            <p:nvPr/>
          </p:nvSpPr>
          <p:spPr>
            <a:xfrm>
              <a:off x="0" y="-38100"/>
              <a:ext cx="1697156" cy="1207426"/>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2295631" y="-429985"/>
            <a:ext cx="6511119" cy="11146969"/>
            <a:chOff x="0" y="0"/>
            <a:chExt cx="1008743" cy="1726957"/>
          </a:xfrm>
        </p:grpSpPr>
        <p:sp>
          <p:nvSpPr>
            <p:cNvPr name="Freeform 12" id="12"/>
            <p:cNvSpPr/>
            <p:nvPr/>
          </p:nvSpPr>
          <p:spPr>
            <a:xfrm flipH="false" flipV="false" rot="0">
              <a:off x="0" y="0"/>
              <a:ext cx="1008743" cy="1726957"/>
            </a:xfrm>
            <a:custGeom>
              <a:avLst/>
              <a:gdLst/>
              <a:ahLst/>
              <a:cxnLst/>
              <a:rect r="r" b="b" t="t" l="l"/>
              <a:pathLst>
                <a:path h="1726957" w="1008743">
                  <a:moveTo>
                    <a:pt x="0" y="0"/>
                  </a:moveTo>
                  <a:lnTo>
                    <a:pt x="1008743" y="0"/>
                  </a:lnTo>
                  <a:lnTo>
                    <a:pt x="1008743" y="1726957"/>
                  </a:lnTo>
                  <a:lnTo>
                    <a:pt x="0" y="1726957"/>
                  </a:lnTo>
                  <a:close/>
                </a:path>
              </a:pathLst>
            </a:custGeom>
            <a:blipFill>
              <a:blip r:embed="rId2"/>
              <a:stretch>
                <a:fillRect l="0" t="-138" r="0" b="-138"/>
              </a:stretch>
            </a:blipFill>
            <a:ln w="19050" cap="sq">
              <a:solidFill>
                <a:srgbClr val="000000"/>
              </a:solidFill>
              <a:prstDash val="solid"/>
              <a:miter/>
            </a:ln>
          </p:spPr>
        </p:sp>
      </p:grpSp>
      <p:grpSp>
        <p:nvGrpSpPr>
          <p:cNvPr name="Group 13" id="13"/>
          <p:cNvGrpSpPr/>
          <p:nvPr/>
        </p:nvGrpSpPr>
        <p:grpSpPr>
          <a:xfrm rot="0">
            <a:off x="8060596" y="5143500"/>
            <a:ext cx="6443889" cy="4439784"/>
            <a:chOff x="0" y="0"/>
            <a:chExt cx="1697156" cy="1169326"/>
          </a:xfrm>
        </p:grpSpPr>
        <p:sp>
          <p:nvSpPr>
            <p:cNvPr name="Freeform 14" id="14"/>
            <p:cNvSpPr/>
            <p:nvPr/>
          </p:nvSpPr>
          <p:spPr>
            <a:xfrm flipH="false" flipV="false" rot="0">
              <a:off x="0" y="0"/>
              <a:ext cx="1697156" cy="1169326"/>
            </a:xfrm>
            <a:custGeom>
              <a:avLst/>
              <a:gdLst/>
              <a:ahLst/>
              <a:cxnLst/>
              <a:rect r="r" b="b" t="t" l="l"/>
              <a:pathLst>
                <a:path h="1169326" w="1697156">
                  <a:moveTo>
                    <a:pt x="58870" y="0"/>
                  </a:moveTo>
                  <a:lnTo>
                    <a:pt x="1638285" y="0"/>
                  </a:lnTo>
                  <a:cubicBezTo>
                    <a:pt x="1653899" y="0"/>
                    <a:pt x="1668873" y="6202"/>
                    <a:pt x="1679913" y="17243"/>
                  </a:cubicBezTo>
                  <a:cubicBezTo>
                    <a:pt x="1690954" y="28283"/>
                    <a:pt x="1697156" y="43257"/>
                    <a:pt x="1697156" y="58870"/>
                  </a:cubicBezTo>
                  <a:lnTo>
                    <a:pt x="1697156" y="1110455"/>
                  </a:lnTo>
                  <a:cubicBezTo>
                    <a:pt x="1697156" y="1142969"/>
                    <a:pt x="1670799" y="1169326"/>
                    <a:pt x="1638285" y="1169326"/>
                  </a:cubicBezTo>
                  <a:lnTo>
                    <a:pt x="58870" y="1169326"/>
                  </a:lnTo>
                  <a:cubicBezTo>
                    <a:pt x="43257" y="1169326"/>
                    <a:pt x="28283" y="1163123"/>
                    <a:pt x="17243" y="1152083"/>
                  </a:cubicBezTo>
                  <a:cubicBezTo>
                    <a:pt x="6202" y="1141043"/>
                    <a:pt x="0" y="1126069"/>
                    <a:pt x="0" y="1110455"/>
                  </a:cubicBezTo>
                  <a:lnTo>
                    <a:pt x="0" y="58870"/>
                  </a:lnTo>
                  <a:cubicBezTo>
                    <a:pt x="0" y="43257"/>
                    <a:pt x="6202" y="28283"/>
                    <a:pt x="17243" y="17243"/>
                  </a:cubicBezTo>
                  <a:cubicBezTo>
                    <a:pt x="28283" y="6202"/>
                    <a:pt x="43257" y="0"/>
                    <a:pt x="58870" y="0"/>
                  </a:cubicBezTo>
                  <a:close/>
                </a:path>
              </a:pathLst>
            </a:custGeom>
            <a:solidFill>
              <a:srgbClr val="FFFFFF"/>
            </a:solidFill>
            <a:ln w="19050" cap="rnd">
              <a:solidFill>
                <a:srgbClr val="000000"/>
              </a:solidFill>
              <a:prstDash val="solid"/>
              <a:round/>
            </a:ln>
          </p:spPr>
        </p:sp>
        <p:sp>
          <p:nvSpPr>
            <p:cNvPr name="TextBox 15" id="15"/>
            <p:cNvSpPr txBox="true"/>
            <p:nvPr/>
          </p:nvSpPr>
          <p:spPr>
            <a:xfrm>
              <a:off x="0" y="-38100"/>
              <a:ext cx="1697156" cy="1207426"/>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6607590" y="5468484"/>
            <a:ext cx="469589" cy="46958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3639486" y="5468484"/>
            <a:ext cx="469589" cy="46958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sp>
        <p:nvSpPr>
          <p:cNvPr name="TextBox 22" id="22"/>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 Co.</a:t>
            </a:r>
          </a:p>
        </p:txBody>
      </p:sp>
      <p:sp>
        <p:nvSpPr>
          <p:cNvPr name="TextBox 23" id="23"/>
          <p:cNvSpPr txBox="true"/>
          <p:nvPr/>
        </p:nvSpPr>
        <p:spPr>
          <a:xfrm rot="0">
            <a:off x="10269449"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2030</a:t>
            </a:r>
          </a:p>
        </p:txBody>
      </p:sp>
      <p:sp>
        <p:nvSpPr>
          <p:cNvPr name="TextBox 24" id="24"/>
          <p:cNvSpPr txBox="true"/>
          <p:nvPr/>
        </p:nvSpPr>
        <p:spPr>
          <a:xfrm rot="0">
            <a:off x="1748215" y="6942605"/>
            <a:ext cx="5004859"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To create a seamlessly connected canteen ecosystem where every customer enjoys a frictionless ordering experience, zero wait-time frustration, and personalized service — powered by intelligent digital technology that transforms traditional food queues into smart, data-driven workflows.</a:t>
            </a:r>
          </a:p>
        </p:txBody>
      </p:sp>
      <p:sp>
        <p:nvSpPr>
          <p:cNvPr name="TextBox 25" id="25"/>
          <p:cNvSpPr txBox="true"/>
          <p:nvPr/>
        </p:nvSpPr>
        <p:spPr>
          <a:xfrm rot="0">
            <a:off x="8780111" y="6942605"/>
            <a:ext cx="5004859"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To deliver an intuitive queue and order management platform that digitizes canteen operations end-to-end — reducing wait times, minimizing order errors, optimizing staff efficiency, and providing real-time insights that help canteen operators serve more customers with greater accuracy and satisfaction.</a:t>
            </a:r>
          </a:p>
        </p:txBody>
      </p:sp>
      <p:sp>
        <p:nvSpPr>
          <p:cNvPr name="TextBox 26" id="26"/>
          <p:cNvSpPr txBox="true"/>
          <p:nvPr/>
        </p:nvSpPr>
        <p:spPr>
          <a:xfrm rot="0">
            <a:off x="1748215" y="5839554"/>
            <a:ext cx="5004859" cy="798310"/>
          </a:xfrm>
          <a:prstGeom prst="rect">
            <a:avLst/>
          </a:prstGeom>
        </p:spPr>
        <p:txBody>
          <a:bodyPr anchor="t" rtlCol="false" tIns="0" lIns="0" bIns="0" rIns="0">
            <a:spAutoFit/>
          </a:bodyPr>
          <a:lstStyle/>
          <a:p>
            <a:pPr algn="l" marL="0" indent="0" lvl="0">
              <a:lnSpc>
                <a:spcPts val="5807"/>
              </a:lnSpc>
            </a:pPr>
            <a:r>
              <a:rPr lang="en-US" sz="6453" spc="-387">
                <a:solidFill>
                  <a:srgbClr val="222223"/>
                </a:solidFill>
                <a:latin typeface="Open Sauce"/>
                <a:ea typeface="Open Sauce"/>
                <a:cs typeface="Open Sauce"/>
                <a:sym typeface="Open Sauce"/>
              </a:rPr>
              <a:t>Vision</a:t>
            </a:r>
          </a:p>
        </p:txBody>
      </p:sp>
      <p:sp>
        <p:nvSpPr>
          <p:cNvPr name="TextBox 27" id="27"/>
          <p:cNvSpPr txBox="true"/>
          <p:nvPr/>
        </p:nvSpPr>
        <p:spPr>
          <a:xfrm rot="0">
            <a:off x="8780111" y="5839554"/>
            <a:ext cx="5004859" cy="798310"/>
          </a:xfrm>
          <a:prstGeom prst="rect">
            <a:avLst/>
          </a:prstGeom>
        </p:spPr>
        <p:txBody>
          <a:bodyPr anchor="t" rtlCol="false" tIns="0" lIns="0" bIns="0" rIns="0">
            <a:spAutoFit/>
          </a:bodyPr>
          <a:lstStyle/>
          <a:p>
            <a:pPr algn="l" marL="0" indent="0" lvl="0">
              <a:lnSpc>
                <a:spcPts val="5807"/>
              </a:lnSpc>
            </a:pPr>
            <a:r>
              <a:rPr lang="en-US" sz="6453" spc="-387">
                <a:solidFill>
                  <a:srgbClr val="222223"/>
                </a:solidFill>
                <a:latin typeface="Open Sauce"/>
                <a:ea typeface="Open Sauce"/>
                <a:cs typeface="Open Sauce"/>
                <a:sym typeface="Open Sauce"/>
              </a:rPr>
              <a:t>Mission</a:t>
            </a:r>
          </a:p>
        </p:txBody>
      </p:sp>
      <p:sp>
        <p:nvSpPr>
          <p:cNvPr name="TextBox 28" id="28"/>
          <p:cNvSpPr txBox="true"/>
          <p:nvPr/>
        </p:nvSpPr>
        <p:spPr>
          <a:xfrm rot="0">
            <a:off x="1028700" y="3448924"/>
            <a:ext cx="9240749" cy="1107853"/>
          </a:xfrm>
          <a:prstGeom prst="rect">
            <a:avLst/>
          </a:prstGeom>
        </p:spPr>
        <p:txBody>
          <a:bodyPr anchor="t" rtlCol="false" tIns="0" lIns="0" bIns="0" rIns="0">
            <a:spAutoFit/>
          </a:bodyPr>
          <a:lstStyle/>
          <a:p>
            <a:pPr algn="l" marL="0" indent="0" lvl="0">
              <a:lnSpc>
                <a:spcPts val="2989"/>
              </a:lnSpc>
            </a:pPr>
            <a:r>
              <a:rPr lang="en-US" sz="2198" i="true" spc="-54">
                <a:solidFill>
                  <a:srgbClr val="222223"/>
                </a:solidFill>
                <a:latin typeface="DM Sans Italics"/>
                <a:ea typeface="DM Sans Italics"/>
                <a:cs typeface="DM Sans Italics"/>
                <a:sym typeface="DM Sans Italics"/>
              </a:rPr>
              <a:t>We are transforming the canteen experience by digitizing ordering and queue management — empowering staff and customers with a smarter, faster, and more efficient food service platform.</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TextBox 7" id="7"/>
          <p:cNvSpPr txBox="true"/>
          <p:nvPr/>
        </p:nvSpPr>
        <p:spPr>
          <a:xfrm rot="0">
            <a:off x="1028700" y="1747286"/>
            <a:ext cx="16230600" cy="1356928"/>
          </a:xfrm>
          <a:prstGeom prst="rect">
            <a:avLst/>
          </a:prstGeom>
        </p:spPr>
        <p:txBody>
          <a:bodyPr anchor="t" rtlCol="false" tIns="0" lIns="0" bIns="0" rIns="0">
            <a:spAutoFit/>
          </a:bodyPr>
          <a:lstStyle/>
          <a:p>
            <a:pPr algn="l" marL="0" indent="0" lvl="0">
              <a:lnSpc>
                <a:spcPts val="9913"/>
              </a:lnSpc>
            </a:pPr>
            <a:r>
              <a:rPr lang="en-US" b="true" sz="11015" spc="-660">
                <a:solidFill>
                  <a:srgbClr val="222223"/>
                </a:solidFill>
                <a:latin typeface="Open Sauce Bold"/>
                <a:ea typeface="Open Sauce Bold"/>
                <a:cs typeface="Open Sauce Bold"/>
                <a:sym typeface="Open Sauce Bold"/>
              </a:rPr>
              <a:t>Why It's Important?</a:t>
            </a:r>
          </a:p>
        </p:txBody>
      </p:sp>
      <p:sp>
        <p:nvSpPr>
          <p:cNvPr name="TextBox 8" id="8"/>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a:t>
            </a:r>
          </a:p>
        </p:txBody>
      </p:sp>
      <p:sp>
        <p:nvSpPr>
          <p:cNvPr name="TextBox 9" id="9"/>
          <p:cNvSpPr txBox="true"/>
          <p:nvPr/>
        </p:nvSpPr>
        <p:spPr>
          <a:xfrm rot="0">
            <a:off x="15727620" y="733777"/>
            <a:ext cx="2026182" cy="387998"/>
          </a:xfrm>
          <a:prstGeom prst="rect">
            <a:avLst/>
          </a:prstGeom>
        </p:spPr>
        <p:txBody>
          <a:bodyPr anchor="t" rtlCol="false" tIns="0" lIns="0" bIns="0" rIns="0">
            <a:spAutoFit/>
          </a:bodyPr>
          <a:lstStyle/>
          <a:p>
            <a:pPr algn="ctr" marL="0" indent="0" lvl="0">
              <a:lnSpc>
                <a:spcPts val="3289"/>
              </a:lnSpc>
            </a:pPr>
            <a:r>
              <a:rPr lang="en-US" sz="2349" spc="-119">
                <a:solidFill>
                  <a:srgbClr val="222223"/>
                </a:solidFill>
                <a:latin typeface="Open Sauce"/>
                <a:ea typeface="Open Sauce"/>
                <a:cs typeface="Open Sauce"/>
                <a:sym typeface="Open Sauce"/>
              </a:rPr>
              <a:t>2030</a:t>
            </a:r>
          </a:p>
        </p:txBody>
      </p:sp>
      <p:grpSp>
        <p:nvGrpSpPr>
          <p:cNvPr name="Group 10" id="10"/>
          <p:cNvGrpSpPr/>
          <p:nvPr/>
        </p:nvGrpSpPr>
        <p:grpSpPr>
          <a:xfrm rot="0">
            <a:off x="771525" y="3724376"/>
            <a:ext cx="4388697" cy="5858909"/>
            <a:chOff x="0" y="0"/>
            <a:chExt cx="1155871" cy="1543087"/>
          </a:xfrm>
        </p:grpSpPr>
        <p:sp>
          <p:nvSpPr>
            <p:cNvPr name="Freeform 11" id="11"/>
            <p:cNvSpPr/>
            <p:nvPr/>
          </p:nvSpPr>
          <p:spPr>
            <a:xfrm flipH="false" flipV="false" rot="0">
              <a:off x="0" y="0"/>
              <a:ext cx="1155871" cy="1543087"/>
            </a:xfrm>
            <a:custGeom>
              <a:avLst/>
              <a:gdLst/>
              <a:ahLst/>
              <a:cxnLst/>
              <a:rect r="r" b="b" t="t" l="l"/>
              <a:pathLst>
                <a:path h="1543087" w="1155871">
                  <a:moveTo>
                    <a:pt x="86439" y="0"/>
                  </a:moveTo>
                  <a:lnTo>
                    <a:pt x="1069432" y="0"/>
                  </a:lnTo>
                  <a:cubicBezTo>
                    <a:pt x="1117171" y="0"/>
                    <a:pt x="1155871" y="38700"/>
                    <a:pt x="1155871" y="86439"/>
                  </a:cubicBezTo>
                  <a:lnTo>
                    <a:pt x="1155871" y="1456648"/>
                  </a:lnTo>
                  <a:cubicBezTo>
                    <a:pt x="1155871" y="1479573"/>
                    <a:pt x="1146764" y="1501559"/>
                    <a:pt x="1130553" y="1517770"/>
                  </a:cubicBezTo>
                  <a:cubicBezTo>
                    <a:pt x="1114343" y="1533980"/>
                    <a:pt x="1092357" y="1543087"/>
                    <a:pt x="1069432" y="1543087"/>
                  </a:cubicBezTo>
                  <a:lnTo>
                    <a:pt x="86439" y="1543087"/>
                  </a:lnTo>
                  <a:cubicBezTo>
                    <a:pt x="38700" y="1543087"/>
                    <a:pt x="0" y="1504387"/>
                    <a:pt x="0" y="1456648"/>
                  </a:cubicBezTo>
                  <a:lnTo>
                    <a:pt x="0" y="86439"/>
                  </a:lnTo>
                  <a:cubicBezTo>
                    <a:pt x="0" y="63514"/>
                    <a:pt x="9107" y="41528"/>
                    <a:pt x="25317" y="25317"/>
                  </a:cubicBezTo>
                  <a:cubicBezTo>
                    <a:pt x="41528" y="9107"/>
                    <a:pt x="63514" y="0"/>
                    <a:pt x="86439" y="0"/>
                  </a:cubicBezTo>
                  <a:close/>
                </a:path>
              </a:pathLst>
            </a:custGeom>
            <a:solidFill>
              <a:srgbClr val="FFFFFF"/>
            </a:solidFill>
            <a:ln w="19050" cap="rnd">
              <a:solidFill>
                <a:srgbClr val="000000"/>
              </a:solidFill>
              <a:prstDash val="solid"/>
              <a:round/>
            </a:ln>
          </p:spPr>
        </p:sp>
        <p:sp>
          <p:nvSpPr>
            <p:cNvPr name="TextBox 12" id="12"/>
            <p:cNvSpPr txBox="true"/>
            <p:nvPr/>
          </p:nvSpPr>
          <p:spPr>
            <a:xfrm>
              <a:off x="0" y="-38100"/>
              <a:ext cx="1155871" cy="1581187"/>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5447360" y="3578423"/>
            <a:ext cx="7530639" cy="2831985"/>
            <a:chOff x="0" y="0"/>
            <a:chExt cx="1983378" cy="745873"/>
          </a:xfrm>
        </p:grpSpPr>
        <p:sp>
          <p:nvSpPr>
            <p:cNvPr name="Freeform 14" id="14"/>
            <p:cNvSpPr/>
            <p:nvPr/>
          </p:nvSpPr>
          <p:spPr>
            <a:xfrm flipH="false" flipV="false" rot="0">
              <a:off x="0" y="0"/>
              <a:ext cx="1983378" cy="745873"/>
            </a:xfrm>
            <a:custGeom>
              <a:avLst/>
              <a:gdLst/>
              <a:ahLst/>
              <a:cxnLst/>
              <a:rect r="r" b="b" t="t" l="l"/>
              <a:pathLst>
                <a:path h="745873" w="1983378">
                  <a:moveTo>
                    <a:pt x="50375" y="0"/>
                  </a:moveTo>
                  <a:lnTo>
                    <a:pt x="1933003" y="0"/>
                  </a:lnTo>
                  <a:cubicBezTo>
                    <a:pt x="1960825" y="0"/>
                    <a:pt x="1983378" y="22554"/>
                    <a:pt x="1983378" y="50375"/>
                  </a:cubicBezTo>
                  <a:lnTo>
                    <a:pt x="1983378" y="695498"/>
                  </a:lnTo>
                  <a:cubicBezTo>
                    <a:pt x="1983378" y="723319"/>
                    <a:pt x="1960825" y="745873"/>
                    <a:pt x="1933003" y="745873"/>
                  </a:cubicBezTo>
                  <a:lnTo>
                    <a:pt x="50375" y="745873"/>
                  </a:lnTo>
                  <a:cubicBezTo>
                    <a:pt x="22554" y="745873"/>
                    <a:pt x="0" y="723319"/>
                    <a:pt x="0" y="695498"/>
                  </a:cubicBezTo>
                  <a:lnTo>
                    <a:pt x="0" y="50375"/>
                  </a:lnTo>
                  <a:cubicBezTo>
                    <a:pt x="0" y="22554"/>
                    <a:pt x="22554" y="0"/>
                    <a:pt x="50375" y="0"/>
                  </a:cubicBezTo>
                  <a:close/>
                </a:path>
              </a:pathLst>
            </a:custGeom>
            <a:gradFill rotWithShape="true">
              <a:gsLst>
                <a:gs pos="0">
                  <a:srgbClr val="EB3A84">
                    <a:alpha val="100000"/>
                  </a:srgbClr>
                </a:gs>
                <a:gs pos="100000">
                  <a:srgbClr val="BF105A">
                    <a:alpha val="100000"/>
                  </a:srgbClr>
                </a:gs>
              </a:gsLst>
              <a:lin ang="0"/>
            </a:gradFill>
            <a:ln w="19050" cap="rnd">
              <a:solidFill>
                <a:srgbClr val="000000"/>
              </a:solidFill>
              <a:prstDash val="solid"/>
              <a:round/>
            </a:ln>
          </p:spPr>
        </p:sp>
        <p:sp>
          <p:nvSpPr>
            <p:cNvPr name="TextBox 15" id="15"/>
            <p:cNvSpPr txBox="true"/>
            <p:nvPr/>
          </p:nvSpPr>
          <p:spPr>
            <a:xfrm>
              <a:off x="0" y="-38100"/>
              <a:ext cx="1983378" cy="783973"/>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5447360" y="6751299"/>
            <a:ext cx="7530639" cy="2831985"/>
            <a:chOff x="0" y="0"/>
            <a:chExt cx="1983378" cy="745873"/>
          </a:xfrm>
        </p:grpSpPr>
        <p:sp>
          <p:nvSpPr>
            <p:cNvPr name="Freeform 17" id="17"/>
            <p:cNvSpPr/>
            <p:nvPr/>
          </p:nvSpPr>
          <p:spPr>
            <a:xfrm flipH="false" flipV="false" rot="0">
              <a:off x="0" y="0"/>
              <a:ext cx="1983378" cy="745873"/>
            </a:xfrm>
            <a:custGeom>
              <a:avLst/>
              <a:gdLst/>
              <a:ahLst/>
              <a:cxnLst/>
              <a:rect r="r" b="b" t="t" l="l"/>
              <a:pathLst>
                <a:path h="745873" w="1983378">
                  <a:moveTo>
                    <a:pt x="50375" y="0"/>
                  </a:moveTo>
                  <a:lnTo>
                    <a:pt x="1933003" y="0"/>
                  </a:lnTo>
                  <a:cubicBezTo>
                    <a:pt x="1960825" y="0"/>
                    <a:pt x="1983378" y="22554"/>
                    <a:pt x="1983378" y="50375"/>
                  </a:cubicBezTo>
                  <a:lnTo>
                    <a:pt x="1983378" y="695498"/>
                  </a:lnTo>
                  <a:cubicBezTo>
                    <a:pt x="1983378" y="723319"/>
                    <a:pt x="1960825" y="745873"/>
                    <a:pt x="1933003" y="745873"/>
                  </a:cubicBezTo>
                  <a:lnTo>
                    <a:pt x="50375" y="745873"/>
                  </a:lnTo>
                  <a:cubicBezTo>
                    <a:pt x="22554" y="745873"/>
                    <a:pt x="0" y="723319"/>
                    <a:pt x="0" y="695498"/>
                  </a:cubicBezTo>
                  <a:lnTo>
                    <a:pt x="0" y="50375"/>
                  </a:lnTo>
                  <a:cubicBezTo>
                    <a:pt x="0" y="22554"/>
                    <a:pt x="22554" y="0"/>
                    <a:pt x="50375" y="0"/>
                  </a:cubicBezTo>
                  <a:close/>
                </a:path>
              </a:pathLst>
            </a:custGeom>
            <a:solidFill>
              <a:srgbClr val="FFFFFF"/>
            </a:solidFill>
            <a:ln w="19050" cap="rnd">
              <a:solidFill>
                <a:srgbClr val="000000"/>
              </a:solidFill>
              <a:prstDash val="solid"/>
              <a:round/>
            </a:ln>
          </p:spPr>
        </p:sp>
        <p:sp>
          <p:nvSpPr>
            <p:cNvPr name="TextBox 18" id="18"/>
            <p:cNvSpPr txBox="true"/>
            <p:nvPr/>
          </p:nvSpPr>
          <p:spPr>
            <a:xfrm>
              <a:off x="0" y="-38100"/>
              <a:ext cx="1983378" cy="783973"/>
            </a:xfrm>
            <a:prstGeom prst="rect">
              <a:avLst/>
            </a:prstGeom>
          </p:spPr>
          <p:txBody>
            <a:bodyPr anchor="ctr" rtlCol="false" tIns="50800" lIns="50800" bIns="50800" rIns="50800"/>
            <a:lstStyle/>
            <a:p>
              <a:pPr algn="ctr" marL="0" indent="0" lvl="0">
                <a:lnSpc>
                  <a:spcPts val="2659"/>
                </a:lnSpc>
              </a:pPr>
            </a:p>
          </p:txBody>
        </p:sp>
      </p:grpSp>
      <p:grpSp>
        <p:nvGrpSpPr>
          <p:cNvPr name="Group 19" id="19"/>
          <p:cNvGrpSpPr/>
          <p:nvPr/>
        </p:nvGrpSpPr>
        <p:grpSpPr>
          <a:xfrm rot="0">
            <a:off x="13220944" y="3724376"/>
            <a:ext cx="4388697" cy="5858909"/>
            <a:chOff x="0" y="0"/>
            <a:chExt cx="1155871" cy="1543087"/>
          </a:xfrm>
        </p:grpSpPr>
        <p:sp>
          <p:nvSpPr>
            <p:cNvPr name="Freeform 20" id="20"/>
            <p:cNvSpPr/>
            <p:nvPr/>
          </p:nvSpPr>
          <p:spPr>
            <a:xfrm flipH="false" flipV="false" rot="0">
              <a:off x="0" y="0"/>
              <a:ext cx="1155871" cy="1543087"/>
            </a:xfrm>
            <a:custGeom>
              <a:avLst/>
              <a:gdLst/>
              <a:ahLst/>
              <a:cxnLst/>
              <a:rect r="r" b="b" t="t" l="l"/>
              <a:pathLst>
                <a:path h="1543087" w="1155871">
                  <a:moveTo>
                    <a:pt x="86439" y="0"/>
                  </a:moveTo>
                  <a:lnTo>
                    <a:pt x="1069432" y="0"/>
                  </a:lnTo>
                  <a:cubicBezTo>
                    <a:pt x="1117171" y="0"/>
                    <a:pt x="1155871" y="38700"/>
                    <a:pt x="1155871" y="86439"/>
                  </a:cubicBezTo>
                  <a:lnTo>
                    <a:pt x="1155871" y="1456648"/>
                  </a:lnTo>
                  <a:cubicBezTo>
                    <a:pt x="1155871" y="1479573"/>
                    <a:pt x="1146764" y="1501559"/>
                    <a:pt x="1130553" y="1517770"/>
                  </a:cubicBezTo>
                  <a:cubicBezTo>
                    <a:pt x="1114343" y="1533980"/>
                    <a:pt x="1092357" y="1543087"/>
                    <a:pt x="1069432" y="1543087"/>
                  </a:cubicBezTo>
                  <a:lnTo>
                    <a:pt x="86439" y="1543087"/>
                  </a:lnTo>
                  <a:cubicBezTo>
                    <a:pt x="38700" y="1543087"/>
                    <a:pt x="0" y="1504387"/>
                    <a:pt x="0" y="1456648"/>
                  </a:cubicBezTo>
                  <a:lnTo>
                    <a:pt x="0" y="86439"/>
                  </a:lnTo>
                  <a:cubicBezTo>
                    <a:pt x="0" y="63514"/>
                    <a:pt x="9107" y="41528"/>
                    <a:pt x="25317" y="25317"/>
                  </a:cubicBezTo>
                  <a:cubicBezTo>
                    <a:pt x="41528" y="9107"/>
                    <a:pt x="63514" y="0"/>
                    <a:pt x="86439" y="0"/>
                  </a:cubicBezTo>
                  <a:close/>
                </a:path>
              </a:pathLst>
            </a:custGeom>
            <a:solidFill>
              <a:srgbClr val="FFFFFF"/>
            </a:solidFill>
            <a:ln w="19050" cap="rnd">
              <a:solidFill>
                <a:srgbClr val="000000"/>
              </a:solidFill>
              <a:prstDash val="solid"/>
              <a:round/>
            </a:ln>
          </p:spPr>
        </p:sp>
        <p:sp>
          <p:nvSpPr>
            <p:cNvPr name="TextBox 21" id="21"/>
            <p:cNvSpPr txBox="true"/>
            <p:nvPr/>
          </p:nvSpPr>
          <p:spPr>
            <a:xfrm>
              <a:off x="0" y="-38100"/>
              <a:ext cx="1155871" cy="1581187"/>
            </a:xfrm>
            <a:prstGeom prst="rect">
              <a:avLst/>
            </a:prstGeom>
          </p:spPr>
          <p:txBody>
            <a:bodyPr anchor="ctr" rtlCol="false" tIns="50800" lIns="50800" bIns="50800" rIns="50800"/>
            <a:lstStyle/>
            <a:p>
              <a:pPr algn="ctr" marL="0" indent="0" lvl="0">
                <a:lnSpc>
                  <a:spcPts val="2659"/>
                </a:lnSpc>
              </a:pPr>
            </a:p>
          </p:txBody>
        </p:sp>
      </p:grpSp>
      <p:sp>
        <p:nvSpPr>
          <p:cNvPr name="TextBox 22" id="22"/>
          <p:cNvSpPr txBox="true"/>
          <p:nvPr/>
        </p:nvSpPr>
        <p:spPr>
          <a:xfrm rot="0">
            <a:off x="1218491" y="5744190"/>
            <a:ext cx="3494765"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Browse a dynamic digital menu with real-time item availability, nutritional info, and daily specials. Students and staff can place orders instantly from any device, reducing counter congestion and wait times significantly.</a:t>
            </a:r>
          </a:p>
        </p:txBody>
      </p:sp>
      <p:sp>
        <p:nvSpPr>
          <p:cNvPr name="TextBox 23" id="23"/>
          <p:cNvSpPr txBox="true"/>
          <p:nvPr/>
        </p:nvSpPr>
        <p:spPr>
          <a:xfrm rot="0">
            <a:off x="13667910" y="5804594"/>
            <a:ext cx="3494765" cy="24304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Receive instant push alerts when your order is ready for collection. Integrated cashless payment processing supports e-wallets, cards, and student IDs, streamlining checkout and eliminating cash-handling delays entirely.</a:t>
            </a:r>
          </a:p>
        </p:txBody>
      </p:sp>
      <p:sp>
        <p:nvSpPr>
          <p:cNvPr name="TextBox 24" id="24"/>
          <p:cNvSpPr txBox="true"/>
          <p:nvPr/>
        </p:nvSpPr>
        <p:spPr>
          <a:xfrm rot="0">
            <a:off x="5873478" y="4778471"/>
            <a:ext cx="6319454" cy="1211225"/>
          </a:xfrm>
          <a:prstGeom prst="rect">
            <a:avLst/>
          </a:prstGeom>
        </p:spPr>
        <p:txBody>
          <a:bodyPr anchor="t" rtlCol="false" tIns="0" lIns="0" bIns="0" rIns="0">
            <a:spAutoFit/>
          </a:bodyPr>
          <a:lstStyle/>
          <a:p>
            <a:pPr algn="l" marL="0" indent="0" lvl="0">
              <a:lnSpc>
                <a:spcPts val="2446"/>
              </a:lnSpc>
            </a:pPr>
            <a:r>
              <a:rPr lang="en-US" sz="1798" i="true" spc="-44">
                <a:gradFill>
                  <a:gsLst>
                    <a:gs pos="0">
                      <a:srgbClr val="F8F8F8">
                        <a:alpha val="100000"/>
                      </a:srgbClr>
                    </a:gs>
                    <a:gs pos="100000">
                      <a:srgbClr val="F6F6F6">
                        <a:alpha val="100000"/>
                      </a:srgbClr>
                    </a:gs>
                  </a:gsLst>
                  <a:path path="circle">
                    <a:fillToRect l="0" r="100000" t="0" b="100000"/>
                  </a:path>
                  <a:tileRect r="0" l="-100000" b="0" t="-100000"/>
                </a:gradFill>
                <a:latin typeface="DM Sans Italics"/>
                <a:ea typeface="DM Sans Italics"/>
                <a:cs typeface="DM Sans Italics"/>
                <a:sym typeface="DM Sans Italics"/>
              </a:rPr>
              <a:t>Join a smart virtual queue without physically waiting in line. The system intelligently assigns queue positions, estimates wait times, and manages peak-hour load balancing to ensure a smooth and fair ordering experience for all.</a:t>
            </a:r>
          </a:p>
        </p:txBody>
      </p:sp>
      <p:sp>
        <p:nvSpPr>
          <p:cNvPr name="TextBox 25" id="25"/>
          <p:cNvSpPr txBox="true"/>
          <p:nvPr/>
        </p:nvSpPr>
        <p:spPr>
          <a:xfrm rot="0">
            <a:off x="5873478" y="7951347"/>
            <a:ext cx="6319454" cy="12112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Track your order status live from preparation to pickup. Visual dashboards display order progress at every stage, keeping customers informed and reducing unnecessary inquiries at the counter during busy lunch periods.</a:t>
            </a:r>
          </a:p>
        </p:txBody>
      </p:sp>
      <p:grpSp>
        <p:nvGrpSpPr>
          <p:cNvPr name="Group 26" id="26"/>
          <p:cNvGrpSpPr/>
          <p:nvPr/>
        </p:nvGrpSpPr>
        <p:grpSpPr>
          <a:xfrm rot="0">
            <a:off x="3776804" y="3578423"/>
            <a:ext cx="1035221" cy="965392"/>
            <a:chOff x="0" y="0"/>
            <a:chExt cx="2540160" cy="2368819"/>
          </a:xfrm>
        </p:grpSpPr>
        <p:sp>
          <p:nvSpPr>
            <p:cNvPr name="Freeform 27" id="27"/>
            <p:cNvSpPr/>
            <p:nvPr/>
          </p:nvSpPr>
          <p:spPr>
            <a:xfrm flipH="false" flipV="false" rot="0">
              <a:off x="0" y="0"/>
              <a:ext cx="2540160" cy="2368819"/>
            </a:xfrm>
            <a:custGeom>
              <a:avLst/>
              <a:gdLst/>
              <a:ahLst/>
              <a:cxnLst/>
              <a:rect r="r" b="b" t="t" l="l"/>
              <a:pathLst>
                <a:path h="2368819" w="2540160">
                  <a:moveTo>
                    <a:pt x="104699" y="0"/>
                  </a:moveTo>
                  <a:lnTo>
                    <a:pt x="2435461" y="0"/>
                  </a:lnTo>
                  <a:cubicBezTo>
                    <a:pt x="2463229" y="0"/>
                    <a:pt x="2489860" y="11031"/>
                    <a:pt x="2509495" y="30666"/>
                  </a:cubicBezTo>
                  <a:cubicBezTo>
                    <a:pt x="2529130" y="50301"/>
                    <a:pt x="2540160" y="76931"/>
                    <a:pt x="2540160" y="104699"/>
                  </a:cubicBezTo>
                  <a:lnTo>
                    <a:pt x="2540160" y="2264119"/>
                  </a:lnTo>
                  <a:cubicBezTo>
                    <a:pt x="2540160" y="2321943"/>
                    <a:pt x="2493285" y="2368819"/>
                    <a:pt x="2435461" y="2368819"/>
                  </a:cubicBezTo>
                  <a:lnTo>
                    <a:pt x="104699" y="2368819"/>
                  </a:lnTo>
                  <a:cubicBezTo>
                    <a:pt x="46875" y="2368819"/>
                    <a:pt x="0" y="2321943"/>
                    <a:pt x="0" y="2264119"/>
                  </a:cubicBezTo>
                  <a:lnTo>
                    <a:pt x="0" y="104699"/>
                  </a:lnTo>
                  <a:cubicBezTo>
                    <a:pt x="0" y="46875"/>
                    <a:pt x="46875" y="0"/>
                    <a:pt x="104699"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8" id="28"/>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16224079" y="3578423"/>
            <a:ext cx="1035221" cy="965392"/>
            <a:chOff x="0" y="0"/>
            <a:chExt cx="2540160" cy="2368819"/>
          </a:xfrm>
        </p:grpSpPr>
        <p:sp>
          <p:nvSpPr>
            <p:cNvPr name="Freeform 30" id="30"/>
            <p:cNvSpPr/>
            <p:nvPr/>
          </p:nvSpPr>
          <p:spPr>
            <a:xfrm flipH="false" flipV="false" rot="0">
              <a:off x="0" y="0"/>
              <a:ext cx="2540160" cy="2368819"/>
            </a:xfrm>
            <a:custGeom>
              <a:avLst/>
              <a:gdLst/>
              <a:ahLst/>
              <a:cxnLst/>
              <a:rect r="r" b="b" t="t" l="l"/>
              <a:pathLst>
                <a:path h="2368819" w="2540160">
                  <a:moveTo>
                    <a:pt x="104699" y="0"/>
                  </a:moveTo>
                  <a:lnTo>
                    <a:pt x="2435461" y="0"/>
                  </a:lnTo>
                  <a:cubicBezTo>
                    <a:pt x="2463229" y="0"/>
                    <a:pt x="2489860" y="11031"/>
                    <a:pt x="2509495" y="30666"/>
                  </a:cubicBezTo>
                  <a:cubicBezTo>
                    <a:pt x="2529130" y="50301"/>
                    <a:pt x="2540160" y="76931"/>
                    <a:pt x="2540160" y="104699"/>
                  </a:cubicBezTo>
                  <a:lnTo>
                    <a:pt x="2540160" y="2264119"/>
                  </a:lnTo>
                  <a:cubicBezTo>
                    <a:pt x="2540160" y="2321943"/>
                    <a:pt x="2493285" y="2368819"/>
                    <a:pt x="2435461" y="2368819"/>
                  </a:cubicBezTo>
                  <a:lnTo>
                    <a:pt x="104699" y="2368819"/>
                  </a:lnTo>
                  <a:cubicBezTo>
                    <a:pt x="46875" y="2368819"/>
                    <a:pt x="0" y="2321943"/>
                    <a:pt x="0" y="2264119"/>
                  </a:cubicBezTo>
                  <a:lnTo>
                    <a:pt x="0" y="104699"/>
                  </a:lnTo>
                  <a:cubicBezTo>
                    <a:pt x="0" y="46875"/>
                    <a:pt x="46875" y="0"/>
                    <a:pt x="104699"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31" id="31"/>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grpSp>
        <p:nvGrpSpPr>
          <p:cNvPr name="Group 32" id="32"/>
          <p:cNvGrpSpPr/>
          <p:nvPr/>
        </p:nvGrpSpPr>
        <p:grpSpPr>
          <a:xfrm rot="0">
            <a:off x="11675322" y="3409310"/>
            <a:ext cx="1035221" cy="965392"/>
            <a:chOff x="0" y="0"/>
            <a:chExt cx="2540160" cy="2368819"/>
          </a:xfrm>
        </p:grpSpPr>
        <p:sp>
          <p:nvSpPr>
            <p:cNvPr name="Freeform 33" id="33"/>
            <p:cNvSpPr/>
            <p:nvPr/>
          </p:nvSpPr>
          <p:spPr>
            <a:xfrm flipH="false" flipV="false" rot="0">
              <a:off x="0" y="0"/>
              <a:ext cx="2540160" cy="2368819"/>
            </a:xfrm>
            <a:custGeom>
              <a:avLst/>
              <a:gdLst/>
              <a:ahLst/>
              <a:cxnLst/>
              <a:rect r="r" b="b" t="t" l="l"/>
              <a:pathLst>
                <a:path h="2368819" w="2540160">
                  <a:moveTo>
                    <a:pt x="104699" y="0"/>
                  </a:moveTo>
                  <a:lnTo>
                    <a:pt x="2435461" y="0"/>
                  </a:lnTo>
                  <a:cubicBezTo>
                    <a:pt x="2463229" y="0"/>
                    <a:pt x="2489860" y="11031"/>
                    <a:pt x="2509495" y="30666"/>
                  </a:cubicBezTo>
                  <a:cubicBezTo>
                    <a:pt x="2529130" y="50301"/>
                    <a:pt x="2540160" y="76931"/>
                    <a:pt x="2540160" y="104699"/>
                  </a:cubicBezTo>
                  <a:lnTo>
                    <a:pt x="2540160" y="2264119"/>
                  </a:lnTo>
                  <a:cubicBezTo>
                    <a:pt x="2540160" y="2321943"/>
                    <a:pt x="2493285" y="2368819"/>
                    <a:pt x="2435461" y="2368819"/>
                  </a:cubicBezTo>
                  <a:lnTo>
                    <a:pt x="104699" y="2368819"/>
                  </a:lnTo>
                  <a:cubicBezTo>
                    <a:pt x="46875" y="2368819"/>
                    <a:pt x="0" y="2321943"/>
                    <a:pt x="0" y="2264119"/>
                  </a:cubicBezTo>
                  <a:lnTo>
                    <a:pt x="0" y="104699"/>
                  </a:lnTo>
                  <a:cubicBezTo>
                    <a:pt x="0" y="46875"/>
                    <a:pt x="46875" y="0"/>
                    <a:pt x="104699" y="0"/>
                  </a:cubicBezTo>
                  <a:close/>
                </a:path>
              </a:pathLst>
            </a:custGeom>
            <a:gradFill rotWithShape="true">
              <a:gsLst>
                <a:gs pos="0">
                  <a:srgbClr val="F8F8F8">
                    <a:alpha val="100000"/>
                  </a:srgbClr>
                </a:gs>
                <a:gs pos="100000">
                  <a:srgbClr val="F6F6F6">
                    <a:alpha val="100000"/>
                  </a:srgbClr>
                </a:gs>
              </a:gsLst>
              <a:path path="circle">
                <a:fillToRect l="0" r="100000" t="0" b="100000"/>
              </a:path>
              <a:tileRect r="0" l="-100000" b="0" t="-100000"/>
            </a:gradFill>
            <a:ln w="19050" cap="sq">
              <a:solidFill>
                <a:srgbClr val="000000"/>
              </a:solidFill>
              <a:prstDash val="solid"/>
              <a:miter/>
            </a:ln>
          </p:spPr>
        </p:sp>
        <p:sp>
          <p:nvSpPr>
            <p:cNvPr name="TextBox 34" id="34"/>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grpSp>
        <p:nvGrpSpPr>
          <p:cNvPr name="Group 35" id="35"/>
          <p:cNvGrpSpPr/>
          <p:nvPr/>
        </p:nvGrpSpPr>
        <p:grpSpPr>
          <a:xfrm rot="0">
            <a:off x="11675322" y="6582186"/>
            <a:ext cx="1035221" cy="965392"/>
            <a:chOff x="0" y="0"/>
            <a:chExt cx="2540160" cy="2368819"/>
          </a:xfrm>
        </p:grpSpPr>
        <p:sp>
          <p:nvSpPr>
            <p:cNvPr name="Freeform 36" id="36"/>
            <p:cNvSpPr/>
            <p:nvPr/>
          </p:nvSpPr>
          <p:spPr>
            <a:xfrm flipH="false" flipV="false" rot="0">
              <a:off x="0" y="0"/>
              <a:ext cx="2540160" cy="2368819"/>
            </a:xfrm>
            <a:custGeom>
              <a:avLst/>
              <a:gdLst/>
              <a:ahLst/>
              <a:cxnLst/>
              <a:rect r="r" b="b" t="t" l="l"/>
              <a:pathLst>
                <a:path h="2368819" w="2540160">
                  <a:moveTo>
                    <a:pt x="104699" y="0"/>
                  </a:moveTo>
                  <a:lnTo>
                    <a:pt x="2435461" y="0"/>
                  </a:lnTo>
                  <a:cubicBezTo>
                    <a:pt x="2463229" y="0"/>
                    <a:pt x="2489860" y="11031"/>
                    <a:pt x="2509495" y="30666"/>
                  </a:cubicBezTo>
                  <a:cubicBezTo>
                    <a:pt x="2529130" y="50301"/>
                    <a:pt x="2540160" y="76931"/>
                    <a:pt x="2540160" y="104699"/>
                  </a:cubicBezTo>
                  <a:lnTo>
                    <a:pt x="2540160" y="2264119"/>
                  </a:lnTo>
                  <a:cubicBezTo>
                    <a:pt x="2540160" y="2321943"/>
                    <a:pt x="2493285" y="2368819"/>
                    <a:pt x="2435461" y="2368819"/>
                  </a:cubicBezTo>
                  <a:lnTo>
                    <a:pt x="104699" y="2368819"/>
                  </a:lnTo>
                  <a:cubicBezTo>
                    <a:pt x="46875" y="2368819"/>
                    <a:pt x="0" y="2321943"/>
                    <a:pt x="0" y="2264119"/>
                  </a:cubicBezTo>
                  <a:lnTo>
                    <a:pt x="0" y="104699"/>
                  </a:lnTo>
                  <a:cubicBezTo>
                    <a:pt x="0" y="46875"/>
                    <a:pt x="46875" y="0"/>
                    <a:pt x="104699"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37" id="37"/>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sp>
        <p:nvSpPr>
          <p:cNvPr name="TextBox 38" id="38"/>
          <p:cNvSpPr txBox="true"/>
          <p:nvPr/>
        </p:nvSpPr>
        <p:spPr>
          <a:xfrm rot="0">
            <a:off x="1218491" y="4359476"/>
            <a:ext cx="3494765" cy="691389"/>
          </a:xfrm>
          <a:prstGeom prst="rect">
            <a:avLst/>
          </a:prstGeom>
        </p:spPr>
        <p:txBody>
          <a:bodyPr anchor="t" rtlCol="false" tIns="0" lIns="0" bIns="0" rIns="0">
            <a:spAutoFit/>
          </a:bodyPr>
          <a:lstStyle/>
          <a:p>
            <a:pPr algn="l" marL="0" indent="0" lvl="0">
              <a:lnSpc>
                <a:spcPts val="2607"/>
              </a:lnSpc>
            </a:pPr>
            <a:r>
              <a:rPr lang="en-US" sz="2896" spc="-173">
                <a:solidFill>
                  <a:srgbClr val="222223"/>
                </a:solidFill>
                <a:latin typeface="Open Sauce"/>
                <a:ea typeface="Open Sauce"/>
                <a:cs typeface="Open Sauce"/>
                <a:sym typeface="Open Sauce"/>
              </a:rPr>
              <a:t>Digital Menu</a:t>
            </a:r>
          </a:p>
          <a:p>
            <a:pPr algn="l" marL="0" indent="0" lvl="0">
              <a:lnSpc>
                <a:spcPts val="2607"/>
              </a:lnSpc>
            </a:pPr>
            <a:r>
              <a:rPr lang="en-US" sz="2896" spc="-173">
                <a:solidFill>
                  <a:srgbClr val="222223"/>
                </a:solidFill>
                <a:latin typeface="Open Sauce"/>
                <a:ea typeface="Open Sauce"/>
                <a:cs typeface="Open Sauce"/>
                <a:sym typeface="Open Sauce"/>
              </a:rPr>
              <a:t>&amp; Ordering</a:t>
            </a:r>
          </a:p>
        </p:txBody>
      </p:sp>
      <p:sp>
        <p:nvSpPr>
          <p:cNvPr name="TextBox 39" id="39"/>
          <p:cNvSpPr txBox="true"/>
          <p:nvPr/>
        </p:nvSpPr>
        <p:spPr>
          <a:xfrm rot="0">
            <a:off x="13667910" y="4419879"/>
            <a:ext cx="3494765" cy="1015239"/>
          </a:xfrm>
          <a:prstGeom prst="rect">
            <a:avLst/>
          </a:prstGeom>
        </p:spPr>
        <p:txBody>
          <a:bodyPr anchor="t" rtlCol="false" tIns="0" lIns="0" bIns="0" rIns="0">
            <a:spAutoFit/>
          </a:bodyPr>
          <a:lstStyle/>
          <a:p>
            <a:pPr algn="l" marL="0" indent="0" lvl="0">
              <a:lnSpc>
                <a:spcPts val="2607"/>
              </a:lnSpc>
            </a:pPr>
            <a:r>
              <a:rPr lang="en-US" sz="2896" spc="-173">
                <a:solidFill>
                  <a:srgbClr val="222223"/>
                </a:solidFill>
                <a:latin typeface="Open Sauce"/>
                <a:ea typeface="Open Sauce"/>
                <a:cs typeface="Open Sauce"/>
                <a:sym typeface="Open Sauce"/>
              </a:rPr>
              <a:t>Automated Notifications &amp; Payments</a:t>
            </a:r>
          </a:p>
        </p:txBody>
      </p:sp>
      <p:sp>
        <p:nvSpPr>
          <p:cNvPr name="TextBox 40" id="40"/>
          <p:cNvSpPr txBox="true"/>
          <p:nvPr/>
        </p:nvSpPr>
        <p:spPr>
          <a:xfrm rot="0">
            <a:off x="5873478" y="4075361"/>
            <a:ext cx="6319454" cy="292926"/>
          </a:xfrm>
          <a:prstGeom prst="rect">
            <a:avLst/>
          </a:prstGeom>
        </p:spPr>
        <p:txBody>
          <a:bodyPr anchor="t" rtlCol="false" tIns="0" lIns="0" bIns="0" rIns="0">
            <a:spAutoFit/>
          </a:bodyPr>
          <a:lstStyle/>
          <a:p>
            <a:pPr algn="l" marL="0" indent="0" lvl="0">
              <a:lnSpc>
                <a:spcPts val="2195"/>
              </a:lnSpc>
            </a:pPr>
            <a:r>
              <a:rPr lang="en-US" sz="2439" spc="-146">
                <a:gradFill>
                  <a:gsLst>
                    <a:gs pos="0">
                      <a:srgbClr val="F8F8F8">
                        <a:alpha val="100000"/>
                      </a:srgbClr>
                    </a:gs>
                    <a:gs pos="100000">
                      <a:srgbClr val="F6F6F6">
                        <a:alpha val="100000"/>
                      </a:srgbClr>
                    </a:gs>
                  </a:gsLst>
                  <a:path path="circle">
                    <a:fillToRect l="0" r="100000" t="0" b="100000"/>
                  </a:path>
                  <a:tileRect r="0" l="-100000" b="0" t="-100000"/>
                </a:gradFill>
                <a:latin typeface="Open Sauce"/>
                <a:ea typeface="Open Sauce"/>
                <a:cs typeface="Open Sauce"/>
                <a:sym typeface="Open Sauce"/>
              </a:rPr>
              <a:t>Virtual Queue Management</a:t>
            </a:r>
          </a:p>
        </p:txBody>
      </p:sp>
      <p:sp>
        <p:nvSpPr>
          <p:cNvPr name="TextBox 41" id="41"/>
          <p:cNvSpPr txBox="true"/>
          <p:nvPr/>
        </p:nvSpPr>
        <p:spPr>
          <a:xfrm rot="0">
            <a:off x="5873478" y="7248237"/>
            <a:ext cx="6319454" cy="292926"/>
          </a:xfrm>
          <a:prstGeom prst="rect">
            <a:avLst/>
          </a:prstGeom>
        </p:spPr>
        <p:txBody>
          <a:bodyPr anchor="t" rtlCol="false" tIns="0" lIns="0" bIns="0" rIns="0">
            <a:spAutoFit/>
          </a:bodyPr>
          <a:lstStyle/>
          <a:p>
            <a:pPr algn="l" marL="0" indent="0" lvl="0">
              <a:lnSpc>
                <a:spcPts val="2195"/>
              </a:lnSpc>
            </a:pPr>
            <a:r>
              <a:rPr lang="en-US" sz="2439" spc="-146">
                <a:solidFill>
                  <a:srgbClr val="222223"/>
                </a:solidFill>
                <a:latin typeface="Open Sauce"/>
                <a:ea typeface="Open Sauce"/>
                <a:cs typeface="Open Sauce"/>
                <a:sym typeface="Open Sauce"/>
              </a:rPr>
              <a:t>Real-Time Order Tracking</a:t>
            </a:r>
          </a:p>
        </p:txBody>
      </p:sp>
      <p:sp>
        <p:nvSpPr>
          <p:cNvPr name="TextBox 42" id="42"/>
          <p:cNvSpPr txBox="true"/>
          <p:nvPr/>
        </p:nvSpPr>
        <p:spPr>
          <a:xfrm rot="0">
            <a:off x="3776804" y="3823735"/>
            <a:ext cx="1035221" cy="354170"/>
          </a:xfrm>
          <a:prstGeom prst="rect">
            <a:avLst/>
          </a:prstGeom>
        </p:spPr>
        <p:txBody>
          <a:bodyPr anchor="t" rtlCol="false" tIns="0" lIns="0" bIns="0" rIns="0">
            <a:spAutoFit/>
          </a:bodyPr>
          <a:lstStyle/>
          <a:p>
            <a:pPr algn="ctr" marL="0" indent="0" lvl="0">
              <a:lnSpc>
                <a:spcPts val="2571"/>
              </a:lnSpc>
            </a:pPr>
            <a:r>
              <a:rPr lang="en-US" b="true" sz="2857" spc="-171">
                <a:gradFill>
                  <a:gsLst>
                    <a:gs pos="0">
                      <a:srgbClr val="F8F8F8">
                        <a:alpha val="100000"/>
                      </a:srgbClr>
                    </a:gs>
                    <a:gs pos="100000">
                      <a:srgbClr val="F6F6F6">
                        <a:alpha val="100000"/>
                      </a:srgbClr>
                    </a:gs>
                  </a:gsLst>
                  <a:path path="circle">
                    <a:fillToRect l="0" r="100000" t="0" b="100000"/>
                  </a:path>
                  <a:tileRect r="0" l="-100000" b="0" t="-100000"/>
                </a:gradFill>
                <a:latin typeface="Open Sauce Bold"/>
                <a:ea typeface="Open Sauce Bold"/>
                <a:cs typeface="Open Sauce Bold"/>
                <a:sym typeface="Open Sauce Bold"/>
              </a:rPr>
              <a:t>01</a:t>
            </a:r>
          </a:p>
        </p:txBody>
      </p:sp>
      <p:sp>
        <p:nvSpPr>
          <p:cNvPr name="TextBox 43" id="43"/>
          <p:cNvSpPr txBox="true"/>
          <p:nvPr/>
        </p:nvSpPr>
        <p:spPr>
          <a:xfrm rot="0">
            <a:off x="16224079" y="3823735"/>
            <a:ext cx="1035221" cy="354170"/>
          </a:xfrm>
          <a:prstGeom prst="rect">
            <a:avLst/>
          </a:prstGeom>
        </p:spPr>
        <p:txBody>
          <a:bodyPr anchor="t" rtlCol="false" tIns="0" lIns="0" bIns="0" rIns="0">
            <a:spAutoFit/>
          </a:bodyPr>
          <a:lstStyle/>
          <a:p>
            <a:pPr algn="ctr" marL="0" indent="0" lvl="0">
              <a:lnSpc>
                <a:spcPts val="2571"/>
              </a:lnSpc>
            </a:pPr>
            <a:r>
              <a:rPr lang="en-US" b="true" sz="2857" spc="-171">
                <a:gradFill>
                  <a:gsLst>
                    <a:gs pos="0">
                      <a:srgbClr val="F8F8F8">
                        <a:alpha val="100000"/>
                      </a:srgbClr>
                    </a:gs>
                    <a:gs pos="100000">
                      <a:srgbClr val="F6F6F6">
                        <a:alpha val="100000"/>
                      </a:srgbClr>
                    </a:gs>
                  </a:gsLst>
                  <a:path path="circle">
                    <a:fillToRect l="0" r="100000" t="0" b="100000"/>
                  </a:path>
                  <a:tileRect r="0" l="-100000" b="0" t="-100000"/>
                </a:gradFill>
                <a:latin typeface="Open Sauce Bold"/>
                <a:ea typeface="Open Sauce Bold"/>
                <a:cs typeface="Open Sauce Bold"/>
                <a:sym typeface="Open Sauce Bold"/>
              </a:rPr>
              <a:t>04</a:t>
            </a:r>
          </a:p>
        </p:txBody>
      </p:sp>
      <p:sp>
        <p:nvSpPr>
          <p:cNvPr name="TextBox 44" id="44"/>
          <p:cNvSpPr txBox="true"/>
          <p:nvPr/>
        </p:nvSpPr>
        <p:spPr>
          <a:xfrm rot="0">
            <a:off x="11675322" y="3654623"/>
            <a:ext cx="1035221" cy="354170"/>
          </a:xfrm>
          <a:prstGeom prst="rect">
            <a:avLst/>
          </a:prstGeom>
        </p:spPr>
        <p:txBody>
          <a:bodyPr anchor="t" rtlCol="false" tIns="0" lIns="0" bIns="0" rIns="0">
            <a:spAutoFit/>
          </a:bodyPr>
          <a:lstStyle/>
          <a:p>
            <a:pPr algn="ctr" marL="0" indent="0" lvl="0">
              <a:lnSpc>
                <a:spcPts val="2571"/>
              </a:lnSpc>
            </a:pPr>
            <a:r>
              <a:rPr lang="en-US" b="true" sz="2857" spc="-171">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02</a:t>
            </a:r>
          </a:p>
        </p:txBody>
      </p:sp>
      <p:sp>
        <p:nvSpPr>
          <p:cNvPr name="TextBox 45" id="45"/>
          <p:cNvSpPr txBox="true"/>
          <p:nvPr/>
        </p:nvSpPr>
        <p:spPr>
          <a:xfrm rot="0">
            <a:off x="11675322" y="6827499"/>
            <a:ext cx="1035221" cy="354170"/>
          </a:xfrm>
          <a:prstGeom prst="rect">
            <a:avLst/>
          </a:prstGeom>
        </p:spPr>
        <p:txBody>
          <a:bodyPr anchor="t" rtlCol="false" tIns="0" lIns="0" bIns="0" rIns="0">
            <a:spAutoFit/>
          </a:bodyPr>
          <a:lstStyle/>
          <a:p>
            <a:pPr algn="ctr" marL="0" indent="0" lvl="0">
              <a:lnSpc>
                <a:spcPts val="2571"/>
              </a:lnSpc>
            </a:pPr>
            <a:r>
              <a:rPr lang="en-US" b="true" sz="2857" spc="-171">
                <a:gradFill>
                  <a:gsLst>
                    <a:gs pos="0">
                      <a:srgbClr val="F8F8F8">
                        <a:alpha val="100000"/>
                      </a:srgbClr>
                    </a:gs>
                    <a:gs pos="100000">
                      <a:srgbClr val="F6F6F6">
                        <a:alpha val="100000"/>
                      </a:srgbClr>
                    </a:gs>
                  </a:gsLst>
                  <a:path path="circle">
                    <a:fillToRect l="0" r="100000" t="0" b="100000"/>
                  </a:path>
                  <a:tileRect r="0" l="-100000" b="0" t="-100000"/>
                </a:gradFill>
                <a:latin typeface="Open Sauce Bold"/>
                <a:ea typeface="Open Sauce Bold"/>
                <a:cs typeface="Open Sauce Bold"/>
                <a:sym typeface="Open Sauce Bold"/>
              </a:rPr>
              <a:t>03</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TextBox 7" id="7"/>
          <p:cNvSpPr txBox="true"/>
          <p:nvPr/>
        </p:nvSpPr>
        <p:spPr>
          <a:xfrm rot="0">
            <a:off x="678359" y="2087619"/>
            <a:ext cx="16931282" cy="952812"/>
          </a:xfrm>
          <a:prstGeom prst="rect">
            <a:avLst/>
          </a:prstGeom>
        </p:spPr>
        <p:txBody>
          <a:bodyPr anchor="t" rtlCol="false" tIns="0" lIns="0" bIns="0" rIns="0">
            <a:spAutoFit/>
          </a:bodyPr>
          <a:lstStyle/>
          <a:p>
            <a:pPr algn="ctr" marL="0" indent="0" lvl="0">
              <a:lnSpc>
                <a:spcPts val="6984"/>
              </a:lnSpc>
            </a:pPr>
            <a:r>
              <a:rPr lang="en-US" b="true" sz="7760" spc="-465">
                <a:solidFill>
                  <a:srgbClr val="222223"/>
                </a:solidFill>
                <a:latin typeface="Open Sauce Bold"/>
                <a:ea typeface="Open Sauce Bold"/>
                <a:cs typeface="Open Sauce Bold"/>
                <a:sym typeface="Open Sauce Bold"/>
              </a:rPr>
              <a:t>Key Benefits for All Stakeholders</a:t>
            </a:r>
          </a:p>
        </p:txBody>
      </p:sp>
      <p:sp>
        <p:nvSpPr>
          <p:cNvPr name="TextBox 8" id="8"/>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 System</a:t>
            </a:r>
          </a:p>
        </p:txBody>
      </p:sp>
      <p:sp>
        <p:nvSpPr>
          <p:cNvPr name="TextBox 9" id="9"/>
          <p:cNvSpPr txBox="true"/>
          <p:nvPr/>
        </p:nvSpPr>
        <p:spPr>
          <a:xfrm rot="0">
            <a:off x="15727620" y="714727"/>
            <a:ext cx="2026182" cy="497346"/>
          </a:xfrm>
          <a:prstGeom prst="rect">
            <a:avLst/>
          </a:prstGeom>
        </p:spPr>
        <p:txBody>
          <a:bodyPr anchor="t" rtlCol="false" tIns="0" lIns="0" bIns="0" rIns="0">
            <a:spAutoFit/>
          </a:bodyPr>
          <a:lstStyle/>
          <a:p>
            <a:pPr algn="ctr" marL="0" indent="0" lvl="0">
              <a:lnSpc>
                <a:spcPts val="4087"/>
              </a:lnSpc>
            </a:pPr>
            <a:r>
              <a:rPr lang="en-US" sz="2919" spc="-148">
                <a:solidFill>
                  <a:srgbClr val="222223"/>
                </a:solidFill>
                <a:latin typeface="Open Sauce"/>
                <a:ea typeface="Open Sauce"/>
                <a:cs typeface="Open Sauce"/>
                <a:sym typeface="Open Sauce"/>
              </a:rPr>
              <a:t>04</a:t>
            </a:r>
          </a:p>
        </p:txBody>
      </p:sp>
      <p:grpSp>
        <p:nvGrpSpPr>
          <p:cNvPr name="Group 10" id="10"/>
          <p:cNvGrpSpPr/>
          <p:nvPr/>
        </p:nvGrpSpPr>
        <p:grpSpPr>
          <a:xfrm rot="0">
            <a:off x="1028700" y="3724376"/>
            <a:ext cx="5117347" cy="5858909"/>
            <a:chOff x="0" y="0"/>
            <a:chExt cx="1347779" cy="1543087"/>
          </a:xfrm>
        </p:grpSpPr>
        <p:sp>
          <p:nvSpPr>
            <p:cNvPr name="Freeform 11" id="11"/>
            <p:cNvSpPr/>
            <p:nvPr/>
          </p:nvSpPr>
          <p:spPr>
            <a:xfrm flipH="false" flipV="false" rot="0">
              <a:off x="0" y="0"/>
              <a:ext cx="1347779" cy="1543087"/>
            </a:xfrm>
            <a:custGeom>
              <a:avLst/>
              <a:gdLst/>
              <a:ahLst/>
              <a:cxnLst/>
              <a:rect r="r" b="b" t="t" l="l"/>
              <a:pathLst>
                <a:path h="1543087" w="1347779">
                  <a:moveTo>
                    <a:pt x="74131" y="0"/>
                  </a:moveTo>
                  <a:lnTo>
                    <a:pt x="1273648" y="0"/>
                  </a:lnTo>
                  <a:cubicBezTo>
                    <a:pt x="1293308" y="0"/>
                    <a:pt x="1312164" y="7810"/>
                    <a:pt x="1326066" y="21712"/>
                  </a:cubicBezTo>
                  <a:cubicBezTo>
                    <a:pt x="1339968" y="35615"/>
                    <a:pt x="1347779" y="54470"/>
                    <a:pt x="1347779" y="74131"/>
                  </a:cubicBezTo>
                  <a:lnTo>
                    <a:pt x="1347779" y="1468956"/>
                  </a:lnTo>
                  <a:cubicBezTo>
                    <a:pt x="1347779" y="1488617"/>
                    <a:pt x="1339968" y="1507472"/>
                    <a:pt x="1326066" y="1521375"/>
                  </a:cubicBezTo>
                  <a:cubicBezTo>
                    <a:pt x="1312164" y="1535277"/>
                    <a:pt x="1293308" y="1543087"/>
                    <a:pt x="1273648" y="1543087"/>
                  </a:cubicBezTo>
                  <a:lnTo>
                    <a:pt x="74131" y="1543087"/>
                  </a:lnTo>
                  <a:cubicBezTo>
                    <a:pt x="54470" y="1543087"/>
                    <a:pt x="35615" y="1535277"/>
                    <a:pt x="21712" y="1521375"/>
                  </a:cubicBezTo>
                  <a:cubicBezTo>
                    <a:pt x="7810" y="1507472"/>
                    <a:pt x="0" y="1488617"/>
                    <a:pt x="0" y="1468956"/>
                  </a:cubicBezTo>
                  <a:lnTo>
                    <a:pt x="0" y="74131"/>
                  </a:lnTo>
                  <a:cubicBezTo>
                    <a:pt x="0" y="54470"/>
                    <a:pt x="7810" y="35615"/>
                    <a:pt x="21712" y="21712"/>
                  </a:cubicBezTo>
                  <a:cubicBezTo>
                    <a:pt x="35615" y="7810"/>
                    <a:pt x="54470" y="0"/>
                    <a:pt x="74131" y="0"/>
                  </a:cubicBezTo>
                  <a:close/>
                </a:path>
              </a:pathLst>
            </a:custGeom>
            <a:solidFill>
              <a:srgbClr val="FFFFFF"/>
            </a:solidFill>
            <a:ln w="19050" cap="rnd">
              <a:solidFill>
                <a:srgbClr val="000000"/>
              </a:solidFill>
              <a:prstDash val="solid"/>
              <a:round/>
            </a:ln>
          </p:spPr>
        </p:sp>
        <p:sp>
          <p:nvSpPr>
            <p:cNvPr name="TextBox 12" id="12"/>
            <p:cNvSpPr txBox="true"/>
            <p:nvPr/>
          </p:nvSpPr>
          <p:spPr>
            <a:xfrm>
              <a:off x="0" y="-38100"/>
              <a:ext cx="1347779" cy="1581187"/>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2141953" y="3724376"/>
            <a:ext cx="5117347" cy="5858909"/>
            <a:chOff x="0" y="0"/>
            <a:chExt cx="1347779" cy="1543087"/>
          </a:xfrm>
        </p:grpSpPr>
        <p:sp>
          <p:nvSpPr>
            <p:cNvPr name="Freeform 14" id="14"/>
            <p:cNvSpPr/>
            <p:nvPr/>
          </p:nvSpPr>
          <p:spPr>
            <a:xfrm flipH="false" flipV="false" rot="0">
              <a:off x="0" y="0"/>
              <a:ext cx="1347779" cy="1543087"/>
            </a:xfrm>
            <a:custGeom>
              <a:avLst/>
              <a:gdLst/>
              <a:ahLst/>
              <a:cxnLst/>
              <a:rect r="r" b="b" t="t" l="l"/>
              <a:pathLst>
                <a:path h="1543087" w="1347779">
                  <a:moveTo>
                    <a:pt x="74131" y="0"/>
                  </a:moveTo>
                  <a:lnTo>
                    <a:pt x="1273648" y="0"/>
                  </a:lnTo>
                  <a:cubicBezTo>
                    <a:pt x="1293308" y="0"/>
                    <a:pt x="1312164" y="7810"/>
                    <a:pt x="1326066" y="21712"/>
                  </a:cubicBezTo>
                  <a:cubicBezTo>
                    <a:pt x="1339968" y="35615"/>
                    <a:pt x="1347779" y="54470"/>
                    <a:pt x="1347779" y="74131"/>
                  </a:cubicBezTo>
                  <a:lnTo>
                    <a:pt x="1347779" y="1468956"/>
                  </a:lnTo>
                  <a:cubicBezTo>
                    <a:pt x="1347779" y="1488617"/>
                    <a:pt x="1339968" y="1507472"/>
                    <a:pt x="1326066" y="1521375"/>
                  </a:cubicBezTo>
                  <a:cubicBezTo>
                    <a:pt x="1312164" y="1535277"/>
                    <a:pt x="1293308" y="1543087"/>
                    <a:pt x="1273648" y="1543087"/>
                  </a:cubicBezTo>
                  <a:lnTo>
                    <a:pt x="74131" y="1543087"/>
                  </a:lnTo>
                  <a:cubicBezTo>
                    <a:pt x="54470" y="1543087"/>
                    <a:pt x="35615" y="1535277"/>
                    <a:pt x="21712" y="1521375"/>
                  </a:cubicBezTo>
                  <a:cubicBezTo>
                    <a:pt x="7810" y="1507472"/>
                    <a:pt x="0" y="1488617"/>
                    <a:pt x="0" y="1468956"/>
                  </a:cubicBezTo>
                  <a:lnTo>
                    <a:pt x="0" y="74131"/>
                  </a:lnTo>
                  <a:cubicBezTo>
                    <a:pt x="0" y="54470"/>
                    <a:pt x="7810" y="35615"/>
                    <a:pt x="21712" y="21712"/>
                  </a:cubicBezTo>
                  <a:cubicBezTo>
                    <a:pt x="35615" y="7810"/>
                    <a:pt x="54470" y="0"/>
                    <a:pt x="74131" y="0"/>
                  </a:cubicBezTo>
                  <a:close/>
                </a:path>
              </a:pathLst>
            </a:custGeom>
            <a:solidFill>
              <a:srgbClr val="FFFFFF"/>
            </a:solidFill>
            <a:ln w="19050" cap="rnd">
              <a:solidFill>
                <a:srgbClr val="000000"/>
              </a:solidFill>
              <a:prstDash val="solid"/>
              <a:round/>
            </a:ln>
          </p:spPr>
        </p:sp>
        <p:sp>
          <p:nvSpPr>
            <p:cNvPr name="TextBox 15" id="15"/>
            <p:cNvSpPr txBox="true"/>
            <p:nvPr/>
          </p:nvSpPr>
          <p:spPr>
            <a:xfrm>
              <a:off x="0" y="-38100"/>
              <a:ext cx="1347779" cy="1581187"/>
            </a:xfrm>
            <a:prstGeom prst="rect">
              <a:avLst/>
            </a:prstGeom>
          </p:spPr>
          <p:txBody>
            <a:bodyPr anchor="ctr" rtlCol="false" tIns="50800" lIns="50800" bIns="50800" rIns="50800"/>
            <a:lstStyle/>
            <a:p>
              <a:pPr algn="ctr" marL="0" indent="0" lvl="0">
                <a:lnSpc>
                  <a:spcPts val="2659"/>
                </a:lnSpc>
              </a:pPr>
            </a:p>
          </p:txBody>
        </p:sp>
      </p:grpSp>
      <p:grpSp>
        <p:nvGrpSpPr>
          <p:cNvPr name="Group 16" id="16"/>
          <p:cNvGrpSpPr/>
          <p:nvPr/>
        </p:nvGrpSpPr>
        <p:grpSpPr>
          <a:xfrm rot="0">
            <a:off x="6631909" y="3724376"/>
            <a:ext cx="5117347" cy="5858909"/>
            <a:chOff x="0" y="0"/>
            <a:chExt cx="1347779" cy="1543087"/>
          </a:xfrm>
        </p:grpSpPr>
        <p:sp>
          <p:nvSpPr>
            <p:cNvPr name="Freeform 17" id="17"/>
            <p:cNvSpPr/>
            <p:nvPr/>
          </p:nvSpPr>
          <p:spPr>
            <a:xfrm flipH="false" flipV="false" rot="0">
              <a:off x="0" y="0"/>
              <a:ext cx="1347779" cy="1543087"/>
            </a:xfrm>
            <a:custGeom>
              <a:avLst/>
              <a:gdLst/>
              <a:ahLst/>
              <a:cxnLst/>
              <a:rect r="r" b="b" t="t" l="l"/>
              <a:pathLst>
                <a:path h="1543087" w="1347779">
                  <a:moveTo>
                    <a:pt x="74131" y="0"/>
                  </a:moveTo>
                  <a:lnTo>
                    <a:pt x="1273648" y="0"/>
                  </a:lnTo>
                  <a:cubicBezTo>
                    <a:pt x="1293308" y="0"/>
                    <a:pt x="1312164" y="7810"/>
                    <a:pt x="1326066" y="21712"/>
                  </a:cubicBezTo>
                  <a:cubicBezTo>
                    <a:pt x="1339968" y="35615"/>
                    <a:pt x="1347779" y="54470"/>
                    <a:pt x="1347779" y="74131"/>
                  </a:cubicBezTo>
                  <a:lnTo>
                    <a:pt x="1347779" y="1468956"/>
                  </a:lnTo>
                  <a:cubicBezTo>
                    <a:pt x="1347779" y="1488617"/>
                    <a:pt x="1339968" y="1507472"/>
                    <a:pt x="1326066" y="1521375"/>
                  </a:cubicBezTo>
                  <a:cubicBezTo>
                    <a:pt x="1312164" y="1535277"/>
                    <a:pt x="1293308" y="1543087"/>
                    <a:pt x="1273648" y="1543087"/>
                  </a:cubicBezTo>
                  <a:lnTo>
                    <a:pt x="74131" y="1543087"/>
                  </a:lnTo>
                  <a:cubicBezTo>
                    <a:pt x="54470" y="1543087"/>
                    <a:pt x="35615" y="1535277"/>
                    <a:pt x="21712" y="1521375"/>
                  </a:cubicBezTo>
                  <a:cubicBezTo>
                    <a:pt x="7810" y="1507472"/>
                    <a:pt x="0" y="1488617"/>
                    <a:pt x="0" y="1468956"/>
                  </a:cubicBezTo>
                  <a:lnTo>
                    <a:pt x="0" y="74131"/>
                  </a:lnTo>
                  <a:cubicBezTo>
                    <a:pt x="0" y="54470"/>
                    <a:pt x="7810" y="35615"/>
                    <a:pt x="21712" y="21712"/>
                  </a:cubicBezTo>
                  <a:cubicBezTo>
                    <a:pt x="35615" y="7810"/>
                    <a:pt x="54470" y="0"/>
                    <a:pt x="74131" y="0"/>
                  </a:cubicBezTo>
                  <a:close/>
                </a:path>
              </a:pathLst>
            </a:custGeom>
            <a:gradFill rotWithShape="true">
              <a:gsLst>
                <a:gs pos="0">
                  <a:srgbClr val="EB3A84">
                    <a:alpha val="100000"/>
                  </a:srgbClr>
                </a:gs>
                <a:gs pos="100000">
                  <a:srgbClr val="BF105A">
                    <a:alpha val="100000"/>
                  </a:srgbClr>
                </a:gs>
              </a:gsLst>
              <a:lin ang="0"/>
            </a:gradFill>
            <a:ln w="19050" cap="rnd">
              <a:solidFill>
                <a:srgbClr val="000000"/>
              </a:solidFill>
              <a:prstDash val="solid"/>
              <a:round/>
            </a:ln>
          </p:spPr>
        </p:sp>
        <p:sp>
          <p:nvSpPr>
            <p:cNvPr name="TextBox 18" id="18"/>
            <p:cNvSpPr txBox="true"/>
            <p:nvPr/>
          </p:nvSpPr>
          <p:spPr>
            <a:xfrm>
              <a:off x="0" y="-38100"/>
              <a:ext cx="1347779" cy="1581187"/>
            </a:xfrm>
            <a:prstGeom prst="rect">
              <a:avLst/>
            </a:prstGeom>
          </p:spPr>
          <p:txBody>
            <a:bodyPr anchor="ctr" rtlCol="false" tIns="50800" lIns="50800" bIns="50800" rIns="50800"/>
            <a:lstStyle/>
            <a:p>
              <a:pPr algn="ctr" marL="0" indent="0" lvl="0">
                <a:lnSpc>
                  <a:spcPts val="2659"/>
                </a:lnSpc>
              </a:pPr>
            </a:p>
          </p:txBody>
        </p:sp>
      </p:grpSp>
      <p:sp>
        <p:nvSpPr>
          <p:cNvPr name="TextBox 19" id="19"/>
          <p:cNvSpPr txBox="true"/>
          <p:nvPr/>
        </p:nvSpPr>
        <p:spPr>
          <a:xfrm rot="0">
            <a:off x="1475666" y="6244419"/>
            <a:ext cx="4012375"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Students and staff enjoy a seamless ordering experience — browse menus, place orders, and skip long queues. Pre-ordering and digital payments save time and reduce congestion during peak hours, making every meal break stress-free and efficient.</a:t>
            </a:r>
          </a:p>
        </p:txBody>
      </p:sp>
      <p:sp>
        <p:nvSpPr>
          <p:cNvPr name="TextBox 20" id="20"/>
          <p:cNvSpPr txBox="true"/>
          <p:nvPr/>
        </p:nvSpPr>
        <p:spPr>
          <a:xfrm rot="0">
            <a:off x="12588919" y="6244419"/>
            <a:ext cx="4012375"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Institutions gain full visibility into canteen operations with data-driven insights on peak hours, popular items, and service performance. Better resource planning and improved service quality enhance the overall campus experience for everyone.</a:t>
            </a:r>
          </a:p>
        </p:txBody>
      </p:sp>
      <p:sp>
        <p:nvSpPr>
          <p:cNvPr name="TextBox 21" id="21"/>
          <p:cNvSpPr txBox="true"/>
          <p:nvPr/>
        </p:nvSpPr>
        <p:spPr>
          <a:xfrm rot="0">
            <a:off x="7078875" y="6244419"/>
            <a:ext cx="4012375" cy="2430425"/>
          </a:xfrm>
          <a:prstGeom prst="rect">
            <a:avLst/>
          </a:prstGeom>
        </p:spPr>
        <p:txBody>
          <a:bodyPr anchor="t" rtlCol="false" tIns="0" lIns="0" bIns="0" rIns="0">
            <a:spAutoFit/>
          </a:bodyPr>
          <a:lstStyle/>
          <a:p>
            <a:pPr algn="l" marL="0" indent="0" lvl="0">
              <a:lnSpc>
                <a:spcPts val="2446"/>
              </a:lnSpc>
            </a:pPr>
            <a:r>
              <a:rPr lang="en-US" sz="1798" i="true" spc="-44">
                <a:gradFill>
                  <a:gsLst>
                    <a:gs pos="0">
                      <a:srgbClr val="F8F8F8">
                        <a:alpha val="100000"/>
                      </a:srgbClr>
                    </a:gs>
                    <a:gs pos="100000">
                      <a:srgbClr val="F6F6F6">
                        <a:alpha val="100000"/>
                      </a:srgbClr>
                    </a:gs>
                  </a:gsLst>
                  <a:path path="circle">
                    <a:fillToRect l="0" r="100000" t="0" b="100000"/>
                  </a:path>
                  <a:tileRect r="0" l="-100000" b="0" t="-100000"/>
                </a:gradFill>
                <a:latin typeface="DM Sans Italics"/>
                <a:ea typeface="DM Sans Italics"/>
                <a:cs typeface="DM Sans Italics"/>
                <a:sym typeface="DM Sans Italics"/>
              </a:rPr>
              <a:t>Canteen operators benefit from organized order queues, reduced errors, and faster service. Real-time order tracking and automated notifications help staff manage preparation efficiently, minimizing wait times and improving overall kitchen productivity.</a:t>
            </a:r>
          </a:p>
        </p:txBody>
      </p:sp>
      <p:grpSp>
        <p:nvGrpSpPr>
          <p:cNvPr name="Group 22" id="22"/>
          <p:cNvGrpSpPr/>
          <p:nvPr/>
        </p:nvGrpSpPr>
        <p:grpSpPr>
          <a:xfrm rot="0">
            <a:off x="4621467" y="3578423"/>
            <a:ext cx="1194443" cy="1113874"/>
            <a:chOff x="0" y="0"/>
            <a:chExt cx="2540160" cy="2368819"/>
          </a:xfrm>
        </p:grpSpPr>
        <p:sp>
          <p:nvSpPr>
            <p:cNvPr name="Freeform 23" id="23"/>
            <p:cNvSpPr/>
            <p:nvPr/>
          </p:nvSpPr>
          <p:spPr>
            <a:xfrm flipH="false" flipV="false" rot="0">
              <a:off x="0" y="0"/>
              <a:ext cx="2540160" cy="2368819"/>
            </a:xfrm>
            <a:custGeom>
              <a:avLst/>
              <a:gdLst/>
              <a:ahLst/>
              <a:cxnLst/>
              <a:rect r="r" b="b" t="t" l="l"/>
              <a:pathLst>
                <a:path h="2368819" w="2540160">
                  <a:moveTo>
                    <a:pt x="90743" y="0"/>
                  </a:moveTo>
                  <a:lnTo>
                    <a:pt x="2449418" y="0"/>
                  </a:lnTo>
                  <a:cubicBezTo>
                    <a:pt x="2499534" y="0"/>
                    <a:pt x="2540160" y="40627"/>
                    <a:pt x="2540160" y="90743"/>
                  </a:cubicBezTo>
                  <a:lnTo>
                    <a:pt x="2540160" y="2278076"/>
                  </a:lnTo>
                  <a:cubicBezTo>
                    <a:pt x="2540160" y="2328192"/>
                    <a:pt x="2499534" y="2368819"/>
                    <a:pt x="2449418" y="2368819"/>
                  </a:cubicBezTo>
                  <a:lnTo>
                    <a:pt x="90743" y="2368819"/>
                  </a:lnTo>
                  <a:cubicBezTo>
                    <a:pt x="40627" y="2368819"/>
                    <a:pt x="0" y="2328192"/>
                    <a:pt x="0" y="2278076"/>
                  </a:cubicBezTo>
                  <a:lnTo>
                    <a:pt x="0" y="90743"/>
                  </a:lnTo>
                  <a:cubicBezTo>
                    <a:pt x="0" y="40627"/>
                    <a:pt x="40627" y="0"/>
                    <a:pt x="90743"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4" id="24"/>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grpSp>
        <p:nvGrpSpPr>
          <p:cNvPr name="Group 25" id="25"/>
          <p:cNvGrpSpPr/>
          <p:nvPr/>
        </p:nvGrpSpPr>
        <p:grpSpPr>
          <a:xfrm rot="0">
            <a:off x="15734720" y="3578423"/>
            <a:ext cx="1194443" cy="1113874"/>
            <a:chOff x="0" y="0"/>
            <a:chExt cx="2540160" cy="2368819"/>
          </a:xfrm>
        </p:grpSpPr>
        <p:sp>
          <p:nvSpPr>
            <p:cNvPr name="Freeform 26" id="26"/>
            <p:cNvSpPr/>
            <p:nvPr/>
          </p:nvSpPr>
          <p:spPr>
            <a:xfrm flipH="false" flipV="false" rot="0">
              <a:off x="0" y="0"/>
              <a:ext cx="2540160" cy="2368819"/>
            </a:xfrm>
            <a:custGeom>
              <a:avLst/>
              <a:gdLst/>
              <a:ahLst/>
              <a:cxnLst/>
              <a:rect r="r" b="b" t="t" l="l"/>
              <a:pathLst>
                <a:path h="2368819" w="2540160">
                  <a:moveTo>
                    <a:pt x="90743" y="0"/>
                  </a:moveTo>
                  <a:lnTo>
                    <a:pt x="2449418" y="0"/>
                  </a:lnTo>
                  <a:cubicBezTo>
                    <a:pt x="2499534" y="0"/>
                    <a:pt x="2540160" y="40627"/>
                    <a:pt x="2540160" y="90743"/>
                  </a:cubicBezTo>
                  <a:lnTo>
                    <a:pt x="2540160" y="2278076"/>
                  </a:lnTo>
                  <a:cubicBezTo>
                    <a:pt x="2540160" y="2328192"/>
                    <a:pt x="2499534" y="2368819"/>
                    <a:pt x="2449418" y="2368819"/>
                  </a:cubicBezTo>
                  <a:lnTo>
                    <a:pt x="90743" y="2368819"/>
                  </a:lnTo>
                  <a:cubicBezTo>
                    <a:pt x="40627" y="2368819"/>
                    <a:pt x="0" y="2328192"/>
                    <a:pt x="0" y="2278076"/>
                  </a:cubicBezTo>
                  <a:lnTo>
                    <a:pt x="0" y="90743"/>
                  </a:lnTo>
                  <a:cubicBezTo>
                    <a:pt x="0" y="40627"/>
                    <a:pt x="40627" y="0"/>
                    <a:pt x="90743"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7" id="27"/>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grpSp>
        <p:nvGrpSpPr>
          <p:cNvPr name="Group 28" id="28"/>
          <p:cNvGrpSpPr/>
          <p:nvPr/>
        </p:nvGrpSpPr>
        <p:grpSpPr>
          <a:xfrm rot="0">
            <a:off x="10224676" y="3578423"/>
            <a:ext cx="1194443" cy="1113874"/>
            <a:chOff x="0" y="0"/>
            <a:chExt cx="2540160" cy="2368819"/>
          </a:xfrm>
        </p:grpSpPr>
        <p:sp>
          <p:nvSpPr>
            <p:cNvPr name="Freeform 29" id="29"/>
            <p:cNvSpPr/>
            <p:nvPr/>
          </p:nvSpPr>
          <p:spPr>
            <a:xfrm flipH="false" flipV="false" rot="0">
              <a:off x="0" y="0"/>
              <a:ext cx="2540160" cy="2368819"/>
            </a:xfrm>
            <a:custGeom>
              <a:avLst/>
              <a:gdLst/>
              <a:ahLst/>
              <a:cxnLst/>
              <a:rect r="r" b="b" t="t" l="l"/>
              <a:pathLst>
                <a:path h="2368819" w="2540160">
                  <a:moveTo>
                    <a:pt x="90743" y="0"/>
                  </a:moveTo>
                  <a:lnTo>
                    <a:pt x="2449418" y="0"/>
                  </a:lnTo>
                  <a:cubicBezTo>
                    <a:pt x="2499534" y="0"/>
                    <a:pt x="2540160" y="40627"/>
                    <a:pt x="2540160" y="90743"/>
                  </a:cubicBezTo>
                  <a:lnTo>
                    <a:pt x="2540160" y="2278076"/>
                  </a:lnTo>
                  <a:cubicBezTo>
                    <a:pt x="2540160" y="2328192"/>
                    <a:pt x="2499534" y="2368819"/>
                    <a:pt x="2449418" y="2368819"/>
                  </a:cubicBezTo>
                  <a:lnTo>
                    <a:pt x="90743" y="2368819"/>
                  </a:lnTo>
                  <a:cubicBezTo>
                    <a:pt x="40627" y="2368819"/>
                    <a:pt x="0" y="2328192"/>
                    <a:pt x="0" y="2278076"/>
                  </a:cubicBezTo>
                  <a:lnTo>
                    <a:pt x="0" y="90743"/>
                  </a:lnTo>
                  <a:cubicBezTo>
                    <a:pt x="0" y="40627"/>
                    <a:pt x="40627" y="0"/>
                    <a:pt x="90743" y="0"/>
                  </a:cubicBezTo>
                  <a:close/>
                </a:path>
              </a:pathLst>
            </a:custGeom>
            <a:gradFill rotWithShape="true">
              <a:gsLst>
                <a:gs pos="0">
                  <a:srgbClr val="F8F8F8">
                    <a:alpha val="100000"/>
                  </a:srgbClr>
                </a:gs>
                <a:gs pos="100000">
                  <a:srgbClr val="F6F6F6">
                    <a:alpha val="100000"/>
                  </a:srgbClr>
                </a:gs>
              </a:gsLst>
              <a:path path="circle">
                <a:fillToRect l="0" r="100000" t="0" b="100000"/>
              </a:path>
              <a:tileRect r="0" l="-100000" b="0" t="-100000"/>
            </a:gradFill>
            <a:ln w="19050" cap="sq">
              <a:solidFill>
                <a:srgbClr val="000000"/>
              </a:solidFill>
              <a:prstDash val="solid"/>
              <a:miter/>
            </a:ln>
          </p:spPr>
        </p:sp>
        <p:sp>
          <p:nvSpPr>
            <p:cNvPr name="TextBox 30" id="30"/>
            <p:cNvSpPr txBox="true"/>
            <p:nvPr/>
          </p:nvSpPr>
          <p:spPr>
            <a:xfrm>
              <a:off x="0" y="-38100"/>
              <a:ext cx="2540160" cy="2406919"/>
            </a:xfrm>
            <a:prstGeom prst="rect">
              <a:avLst/>
            </a:prstGeom>
          </p:spPr>
          <p:txBody>
            <a:bodyPr anchor="ctr" rtlCol="false" tIns="50800" lIns="50800" bIns="50800" rIns="50800"/>
            <a:lstStyle/>
            <a:p>
              <a:pPr algn="ctr" marL="0" indent="0" lvl="0">
                <a:lnSpc>
                  <a:spcPts val="2659"/>
                </a:lnSpc>
              </a:pPr>
            </a:p>
          </p:txBody>
        </p:sp>
      </p:grpSp>
      <p:sp>
        <p:nvSpPr>
          <p:cNvPr name="TextBox 31" id="31"/>
          <p:cNvSpPr txBox="true"/>
          <p:nvPr/>
        </p:nvSpPr>
        <p:spPr>
          <a:xfrm rot="0">
            <a:off x="1475666" y="4947485"/>
            <a:ext cx="4012375" cy="861037"/>
          </a:xfrm>
          <a:prstGeom prst="rect">
            <a:avLst/>
          </a:prstGeom>
        </p:spPr>
        <p:txBody>
          <a:bodyPr anchor="t" rtlCol="false" tIns="0" lIns="0" bIns="0" rIns="0">
            <a:spAutoFit/>
          </a:bodyPr>
          <a:lstStyle/>
          <a:p>
            <a:pPr algn="l" marL="0" indent="0" lvl="0">
              <a:lnSpc>
                <a:spcPts val="3239"/>
              </a:lnSpc>
            </a:pPr>
            <a:r>
              <a:rPr lang="en-US" sz="3599" spc="-215">
                <a:solidFill>
                  <a:srgbClr val="222223"/>
                </a:solidFill>
                <a:latin typeface="Open Sauce"/>
                <a:ea typeface="Open Sauce"/>
                <a:cs typeface="Open Sauce"/>
                <a:sym typeface="Open Sauce"/>
              </a:rPr>
              <a:t>Students &amp; Staff</a:t>
            </a:r>
          </a:p>
          <a:p>
            <a:pPr algn="l" marL="0" indent="0" lvl="0">
              <a:lnSpc>
                <a:spcPts val="3239"/>
              </a:lnSpc>
            </a:pPr>
            <a:r>
              <a:rPr lang="en-US" sz="3599" spc="-215">
                <a:solidFill>
                  <a:srgbClr val="222223"/>
                </a:solidFill>
                <a:latin typeface="Open Sauce"/>
                <a:ea typeface="Open Sauce"/>
                <a:cs typeface="Open Sauce"/>
                <a:sym typeface="Open Sauce"/>
              </a:rPr>
              <a:t>Convenient Ordering</a:t>
            </a:r>
          </a:p>
        </p:txBody>
      </p:sp>
      <p:sp>
        <p:nvSpPr>
          <p:cNvPr name="TextBox 32" id="32"/>
          <p:cNvSpPr txBox="true"/>
          <p:nvPr/>
        </p:nvSpPr>
        <p:spPr>
          <a:xfrm rot="0">
            <a:off x="12588919" y="4592424"/>
            <a:ext cx="4012375" cy="861037"/>
          </a:xfrm>
          <a:prstGeom prst="rect">
            <a:avLst/>
          </a:prstGeom>
        </p:spPr>
        <p:txBody>
          <a:bodyPr anchor="t" rtlCol="false" tIns="0" lIns="0" bIns="0" rIns="0">
            <a:spAutoFit/>
          </a:bodyPr>
          <a:lstStyle/>
          <a:p>
            <a:pPr algn="l" marL="0" indent="0" lvl="0">
              <a:lnSpc>
                <a:spcPts val="3239"/>
              </a:lnSpc>
            </a:pPr>
            <a:r>
              <a:rPr lang="en-US" sz="3599" spc="-215">
                <a:solidFill>
                  <a:srgbClr val="222223"/>
                </a:solidFill>
                <a:latin typeface="Open Sauce"/>
                <a:ea typeface="Open Sauce"/>
                <a:cs typeface="Open Sauce"/>
                <a:sym typeface="Open Sauce"/>
              </a:rPr>
              <a:t>Institutions</a:t>
            </a:r>
          </a:p>
          <a:p>
            <a:pPr algn="l" marL="0" indent="0" lvl="0">
              <a:lnSpc>
                <a:spcPts val="3239"/>
              </a:lnSpc>
            </a:pPr>
            <a:r>
              <a:rPr lang="en-US" sz="3599" spc="-215">
                <a:solidFill>
                  <a:srgbClr val="222223"/>
                </a:solidFill>
                <a:latin typeface="Open Sauce"/>
                <a:ea typeface="Open Sauce"/>
                <a:cs typeface="Open Sauce"/>
                <a:sym typeface="Open Sauce"/>
              </a:rPr>
              <a:t>Visibility &amp; Efficiency</a:t>
            </a:r>
          </a:p>
        </p:txBody>
      </p:sp>
      <p:sp>
        <p:nvSpPr>
          <p:cNvPr name="TextBox 33" id="33"/>
          <p:cNvSpPr txBox="true"/>
          <p:nvPr/>
        </p:nvSpPr>
        <p:spPr>
          <a:xfrm rot="0">
            <a:off x="7078875" y="4592424"/>
            <a:ext cx="4200939" cy="861037"/>
          </a:xfrm>
          <a:prstGeom prst="rect">
            <a:avLst/>
          </a:prstGeom>
        </p:spPr>
        <p:txBody>
          <a:bodyPr anchor="t" rtlCol="false" tIns="0" lIns="0" bIns="0" rIns="0">
            <a:spAutoFit/>
          </a:bodyPr>
          <a:lstStyle/>
          <a:p>
            <a:pPr algn="l" marL="0" indent="0" lvl="0">
              <a:lnSpc>
                <a:spcPts val="3239"/>
              </a:lnSpc>
            </a:pPr>
            <a:r>
              <a:rPr lang="en-US" sz="3599" spc="-215">
                <a:gradFill>
                  <a:gsLst>
                    <a:gs pos="0">
                      <a:srgbClr val="F8F8F8">
                        <a:alpha val="100000"/>
                      </a:srgbClr>
                    </a:gs>
                    <a:gs pos="100000">
                      <a:srgbClr val="F6F6F6">
                        <a:alpha val="100000"/>
                      </a:srgbClr>
                    </a:gs>
                  </a:gsLst>
                  <a:path path="circle">
                    <a:fillToRect l="0" r="100000" t="0" b="100000"/>
                  </a:path>
                  <a:tileRect r="0" l="-100000" b="0" t="-100000"/>
                </a:gradFill>
                <a:latin typeface="Open Sauce"/>
                <a:ea typeface="Open Sauce"/>
                <a:cs typeface="Open Sauce"/>
                <a:sym typeface="Open Sauce"/>
              </a:rPr>
              <a:t>Canteen Operators</a:t>
            </a:r>
          </a:p>
          <a:p>
            <a:pPr algn="l" marL="0" indent="0" lvl="0">
              <a:lnSpc>
                <a:spcPts val="3239"/>
              </a:lnSpc>
            </a:pPr>
            <a:r>
              <a:rPr lang="en-US" sz="3599" spc="-215">
                <a:gradFill>
                  <a:gsLst>
                    <a:gs pos="0">
                      <a:srgbClr val="F8F8F8">
                        <a:alpha val="100000"/>
                      </a:srgbClr>
                    </a:gs>
                    <a:gs pos="100000">
                      <a:srgbClr val="F6F6F6">
                        <a:alpha val="100000"/>
                      </a:srgbClr>
                    </a:gs>
                  </a:gsLst>
                  <a:path path="circle">
                    <a:fillToRect l="0" r="100000" t="0" b="100000"/>
                  </a:path>
                  <a:tileRect r="0" l="-100000" b="0" t="-100000"/>
                </a:gradFill>
                <a:latin typeface="Open Sauce"/>
                <a:ea typeface="Open Sauce"/>
                <a:cs typeface="Open Sauce"/>
                <a:sym typeface="Open Sauce"/>
              </a:rPr>
              <a:t>Smoother Workflows</a:t>
            </a:r>
          </a:p>
        </p:txBody>
      </p:sp>
      <p:sp>
        <p:nvSpPr>
          <p:cNvPr name="TextBox 34" id="34"/>
          <p:cNvSpPr txBox="true"/>
          <p:nvPr/>
        </p:nvSpPr>
        <p:spPr>
          <a:xfrm rot="0">
            <a:off x="4621467" y="3887846"/>
            <a:ext cx="1194443" cy="506944"/>
          </a:xfrm>
          <a:prstGeom prst="rect">
            <a:avLst/>
          </a:prstGeom>
        </p:spPr>
        <p:txBody>
          <a:bodyPr anchor="t" rtlCol="false" tIns="0" lIns="0" bIns="0" rIns="0">
            <a:spAutoFit/>
          </a:bodyPr>
          <a:lstStyle/>
          <a:p>
            <a:pPr algn="ctr" marL="0" indent="0" lvl="0">
              <a:lnSpc>
                <a:spcPts val="3686"/>
              </a:lnSpc>
            </a:pPr>
            <a:r>
              <a:rPr lang="en-US" b="true" sz="4096" spc="-245">
                <a:gradFill>
                  <a:gsLst>
                    <a:gs pos="0">
                      <a:srgbClr val="F8F8F8">
                        <a:alpha val="100000"/>
                      </a:srgbClr>
                    </a:gs>
                    <a:gs pos="100000">
                      <a:srgbClr val="F6F6F6">
                        <a:alpha val="100000"/>
                      </a:srgbClr>
                    </a:gs>
                  </a:gsLst>
                  <a:path path="circle">
                    <a:fillToRect l="0" r="100000" t="0" b="100000"/>
                  </a:path>
                  <a:tileRect r="0" l="-100000" b="0" t="-100000"/>
                </a:gradFill>
                <a:latin typeface="Open Sauce Bold"/>
                <a:ea typeface="Open Sauce Bold"/>
                <a:cs typeface="Open Sauce Bold"/>
                <a:sym typeface="Open Sauce Bold"/>
              </a:rPr>
              <a:t>01</a:t>
            </a:r>
          </a:p>
        </p:txBody>
      </p:sp>
      <p:sp>
        <p:nvSpPr>
          <p:cNvPr name="TextBox 35" id="35"/>
          <p:cNvSpPr txBox="true"/>
          <p:nvPr/>
        </p:nvSpPr>
        <p:spPr>
          <a:xfrm rot="0">
            <a:off x="15734720" y="3887846"/>
            <a:ext cx="1194443" cy="506944"/>
          </a:xfrm>
          <a:prstGeom prst="rect">
            <a:avLst/>
          </a:prstGeom>
        </p:spPr>
        <p:txBody>
          <a:bodyPr anchor="t" rtlCol="false" tIns="0" lIns="0" bIns="0" rIns="0">
            <a:spAutoFit/>
          </a:bodyPr>
          <a:lstStyle/>
          <a:p>
            <a:pPr algn="ctr" marL="0" indent="0" lvl="0">
              <a:lnSpc>
                <a:spcPts val="3686"/>
              </a:lnSpc>
            </a:pPr>
            <a:r>
              <a:rPr lang="en-US" b="true" sz="4096" spc="-245">
                <a:gradFill>
                  <a:gsLst>
                    <a:gs pos="0">
                      <a:srgbClr val="F8F8F8">
                        <a:alpha val="100000"/>
                      </a:srgbClr>
                    </a:gs>
                    <a:gs pos="100000">
                      <a:srgbClr val="F6F6F6">
                        <a:alpha val="100000"/>
                      </a:srgbClr>
                    </a:gs>
                  </a:gsLst>
                  <a:path path="circle">
                    <a:fillToRect l="0" r="100000" t="0" b="100000"/>
                  </a:path>
                  <a:tileRect r="0" l="-100000" b="0" t="-100000"/>
                </a:gradFill>
                <a:latin typeface="Open Sauce Bold"/>
                <a:ea typeface="Open Sauce Bold"/>
                <a:cs typeface="Open Sauce Bold"/>
                <a:sym typeface="Open Sauce Bold"/>
              </a:rPr>
              <a:t>03</a:t>
            </a:r>
          </a:p>
        </p:txBody>
      </p:sp>
      <p:sp>
        <p:nvSpPr>
          <p:cNvPr name="TextBox 36" id="36"/>
          <p:cNvSpPr txBox="true"/>
          <p:nvPr/>
        </p:nvSpPr>
        <p:spPr>
          <a:xfrm rot="0">
            <a:off x="10224676" y="3887846"/>
            <a:ext cx="1194443" cy="506944"/>
          </a:xfrm>
          <a:prstGeom prst="rect">
            <a:avLst/>
          </a:prstGeom>
        </p:spPr>
        <p:txBody>
          <a:bodyPr anchor="t" rtlCol="false" tIns="0" lIns="0" bIns="0" rIns="0">
            <a:spAutoFit/>
          </a:bodyPr>
          <a:lstStyle/>
          <a:p>
            <a:pPr algn="ctr" marL="0" indent="0" lvl="0">
              <a:lnSpc>
                <a:spcPts val="3686"/>
              </a:lnSpc>
            </a:pPr>
            <a:r>
              <a:rPr lang="en-US" b="true" sz="4096" spc="-245">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grpSp>
        <p:nvGrpSpPr>
          <p:cNvPr name="Group 7" id="7"/>
          <p:cNvGrpSpPr/>
          <p:nvPr/>
        </p:nvGrpSpPr>
        <p:grpSpPr>
          <a:xfrm rot="0">
            <a:off x="0" y="5736152"/>
            <a:ext cx="18288000" cy="5520988"/>
            <a:chOff x="0" y="0"/>
            <a:chExt cx="2833290" cy="855345"/>
          </a:xfrm>
        </p:grpSpPr>
        <p:sp>
          <p:nvSpPr>
            <p:cNvPr name="Freeform 8" id="8"/>
            <p:cNvSpPr/>
            <p:nvPr/>
          </p:nvSpPr>
          <p:spPr>
            <a:xfrm flipH="false" flipV="false" rot="0">
              <a:off x="0" y="0"/>
              <a:ext cx="2833290" cy="855345"/>
            </a:xfrm>
            <a:custGeom>
              <a:avLst/>
              <a:gdLst/>
              <a:ahLst/>
              <a:cxnLst/>
              <a:rect r="r" b="b" t="t" l="l"/>
              <a:pathLst>
                <a:path h="855345" w="2833290">
                  <a:moveTo>
                    <a:pt x="27940" y="0"/>
                  </a:moveTo>
                  <a:lnTo>
                    <a:pt x="2805350" y="0"/>
                  </a:lnTo>
                  <a:cubicBezTo>
                    <a:pt x="2820781" y="0"/>
                    <a:pt x="2833290" y="12509"/>
                    <a:pt x="2833290" y="27940"/>
                  </a:cubicBezTo>
                  <a:lnTo>
                    <a:pt x="2833290" y="827406"/>
                  </a:lnTo>
                  <a:cubicBezTo>
                    <a:pt x="2833290" y="834816"/>
                    <a:pt x="2830346" y="841922"/>
                    <a:pt x="2825106" y="847162"/>
                  </a:cubicBezTo>
                  <a:cubicBezTo>
                    <a:pt x="2819867" y="852402"/>
                    <a:pt x="2812760" y="855345"/>
                    <a:pt x="2805350" y="855345"/>
                  </a:cubicBezTo>
                  <a:lnTo>
                    <a:pt x="27940" y="855345"/>
                  </a:lnTo>
                  <a:cubicBezTo>
                    <a:pt x="20530" y="855345"/>
                    <a:pt x="13423" y="852402"/>
                    <a:pt x="8183" y="847162"/>
                  </a:cubicBezTo>
                  <a:cubicBezTo>
                    <a:pt x="2944" y="841922"/>
                    <a:pt x="0" y="834816"/>
                    <a:pt x="0" y="827406"/>
                  </a:cubicBezTo>
                  <a:lnTo>
                    <a:pt x="0" y="27940"/>
                  </a:lnTo>
                  <a:cubicBezTo>
                    <a:pt x="0" y="12509"/>
                    <a:pt x="12509" y="0"/>
                    <a:pt x="27940" y="0"/>
                  </a:cubicBezTo>
                  <a:close/>
                </a:path>
              </a:pathLst>
            </a:custGeom>
            <a:blipFill>
              <a:blip r:embed="rId2"/>
              <a:stretch>
                <a:fillRect l="0" t="-928" r="0" b="-928"/>
              </a:stretch>
            </a:blipFill>
            <a:ln w="19050" cap="rnd">
              <a:solidFill>
                <a:srgbClr val="000000"/>
              </a:solidFill>
              <a:prstDash val="solid"/>
              <a:round/>
            </a:ln>
          </p:spPr>
        </p:sp>
      </p:grpSp>
      <p:grpSp>
        <p:nvGrpSpPr>
          <p:cNvPr name="Group 9" id="9"/>
          <p:cNvGrpSpPr/>
          <p:nvPr/>
        </p:nvGrpSpPr>
        <p:grpSpPr>
          <a:xfrm rot="0">
            <a:off x="1063307" y="1591436"/>
            <a:ext cx="6382019" cy="7666864"/>
            <a:chOff x="0" y="0"/>
            <a:chExt cx="1680861" cy="2019256"/>
          </a:xfrm>
        </p:grpSpPr>
        <p:sp>
          <p:nvSpPr>
            <p:cNvPr name="Freeform 10" id="10"/>
            <p:cNvSpPr/>
            <p:nvPr/>
          </p:nvSpPr>
          <p:spPr>
            <a:xfrm flipH="false" flipV="false" rot="0">
              <a:off x="0" y="0"/>
              <a:ext cx="1680861" cy="2019256"/>
            </a:xfrm>
            <a:custGeom>
              <a:avLst/>
              <a:gdLst/>
              <a:ahLst/>
              <a:cxnLst/>
              <a:rect r="r" b="b" t="t" l="l"/>
              <a:pathLst>
                <a:path h="2019256" w="1680861">
                  <a:moveTo>
                    <a:pt x="59441" y="0"/>
                  </a:moveTo>
                  <a:lnTo>
                    <a:pt x="1621420" y="0"/>
                  </a:lnTo>
                  <a:cubicBezTo>
                    <a:pt x="1654248" y="0"/>
                    <a:pt x="1680861" y="26613"/>
                    <a:pt x="1680861" y="59441"/>
                  </a:cubicBezTo>
                  <a:lnTo>
                    <a:pt x="1680861" y="1959815"/>
                  </a:lnTo>
                  <a:cubicBezTo>
                    <a:pt x="1680861" y="1975580"/>
                    <a:pt x="1674599" y="1990699"/>
                    <a:pt x="1663451" y="2001847"/>
                  </a:cubicBezTo>
                  <a:cubicBezTo>
                    <a:pt x="1652304" y="2012994"/>
                    <a:pt x="1637185" y="2019256"/>
                    <a:pt x="1621420" y="2019256"/>
                  </a:cubicBezTo>
                  <a:lnTo>
                    <a:pt x="59441" y="2019256"/>
                  </a:lnTo>
                  <a:cubicBezTo>
                    <a:pt x="43676" y="2019256"/>
                    <a:pt x="28557" y="2012994"/>
                    <a:pt x="17410" y="2001847"/>
                  </a:cubicBezTo>
                  <a:cubicBezTo>
                    <a:pt x="6263" y="1990699"/>
                    <a:pt x="0" y="1975580"/>
                    <a:pt x="0" y="1959815"/>
                  </a:cubicBezTo>
                  <a:lnTo>
                    <a:pt x="0" y="59441"/>
                  </a:lnTo>
                  <a:cubicBezTo>
                    <a:pt x="0" y="43676"/>
                    <a:pt x="6263" y="28557"/>
                    <a:pt x="17410" y="17410"/>
                  </a:cubicBezTo>
                  <a:cubicBezTo>
                    <a:pt x="28557" y="6263"/>
                    <a:pt x="43676" y="0"/>
                    <a:pt x="59441" y="0"/>
                  </a:cubicBezTo>
                  <a:close/>
                </a:path>
              </a:pathLst>
            </a:custGeom>
            <a:solidFill>
              <a:srgbClr val="FFFFFF"/>
            </a:solidFill>
            <a:ln w="19050" cap="rnd">
              <a:solidFill>
                <a:srgbClr val="000000"/>
              </a:solidFill>
              <a:prstDash val="solid"/>
              <a:round/>
            </a:ln>
          </p:spPr>
        </p:sp>
        <p:sp>
          <p:nvSpPr>
            <p:cNvPr name="TextBox 11" id="11"/>
            <p:cNvSpPr txBox="true"/>
            <p:nvPr/>
          </p:nvSpPr>
          <p:spPr>
            <a:xfrm>
              <a:off x="0" y="-38100"/>
              <a:ext cx="1680861" cy="2057356"/>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8257103" y="4622043"/>
            <a:ext cx="4278798" cy="4636257"/>
            <a:chOff x="0" y="0"/>
            <a:chExt cx="1126926" cy="1221072"/>
          </a:xfrm>
        </p:grpSpPr>
        <p:sp>
          <p:nvSpPr>
            <p:cNvPr name="Freeform 13" id="13"/>
            <p:cNvSpPr/>
            <p:nvPr/>
          </p:nvSpPr>
          <p:spPr>
            <a:xfrm flipH="false" flipV="false" rot="0">
              <a:off x="0" y="0"/>
              <a:ext cx="1126926" cy="1221072"/>
            </a:xfrm>
            <a:custGeom>
              <a:avLst/>
              <a:gdLst/>
              <a:ahLst/>
              <a:cxnLst/>
              <a:rect r="r" b="b" t="t" l="l"/>
              <a:pathLst>
                <a:path h="1221072" w="1126926">
                  <a:moveTo>
                    <a:pt x="88659" y="0"/>
                  </a:moveTo>
                  <a:lnTo>
                    <a:pt x="1038267" y="0"/>
                  </a:lnTo>
                  <a:cubicBezTo>
                    <a:pt x="1087232" y="0"/>
                    <a:pt x="1126926" y="39694"/>
                    <a:pt x="1126926" y="88659"/>
                  </a:cubicBezTo>
                  <a:lnTo>
                    <a:pt x="1126926" y="1132413"/>
                  </a:lnTo>
                  <a:cubicBezTo>
                    <a:pt x="1126926" y="1181378"/>
                    <a:pt x="1087232" y="1221072"/>
                    <a:pt x="1038267" y="1221072"/>
                  </a:cubicBezTo>
                  <a:lnTo>
                    <a:pt x="88659" y="1221072"/>
                  </a:lnTo>
                  <a:cubicBezTo>
                    <a:pt x="65145" y="1221072"/>
                    <a:pt x="42594" y="1211731"/>
                    <a:pt x="25968" y="1195104"/>
                  </a:cubicBezTo>
                  <a:cubicBezTo>
                    <a:pt x="9341" y="1178477"/>
                    <a:pt x="0" y="1155927"/>
                    <a:pt x="0" y="1132413"/>
                  </a:cubicBezTo>
                  <a:lnTo>
                    <a:pt x="0" y="88659"/>
                  </a:lnTo>
                  <a:cubicBezTo>
                    <a:pt x="0" y="65145"/>
                    <a:pt x="9341" y="42594"/>
                    <a:pt x="25968" y="25968"/>
                  </a:cubicBezTo>
                  <a:cubicBezTo>
                    <a:pt x="42594" y="9341"/>
                    <a:pt x="65145" y="0"/>
                    <a:pt x="88659" y="0"/>
                  </a:cubicBezTo>
                  <a:close/>
                </a:path>
              </a:pathLst>
            </a:custGeom>
            <a:solidFill>
              <a:srgbClr val="FFFFFF"/>
            </a:solidFill>
            <a:ln w="19050" cap="rnd">
              <a:solidFill>
                <a:srgbClr val="000000"/>
              </a:solidFill>
              <a:prstDash val="solid"/>
              <a:round/>
            </a:ln>
          </p:spPr>
        </p:sp>
        <p:sp>
          <p:nvSpPr>
            <p:cNvPr name="TextBox 14" id="14"/>
            <p:cNvSpPr txBox="true"/>
            <p:nvPr/>
          </p:nvSpPr>
          <p:spPr>
            <a:xfrm>
              <a:off x="0" y="-38100"/>
              <a:ext cx="1126926" cy="1259172"/>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12980502" y="4622043"/>
            <a:ext cx="4278798" cy="4636257"/>
            <a:chOff x="0" y="0"/>
            <a:chExt cx="1126926" cy="1221072"/>
          </a:xfrm>
        </p:grpSpPr>
        <p:sp>
          <p:nvSpPr>
            <p:cNvPr name="Freeform 16" id="16"/>
            <p:cNvSpPr/>
            <p:nvPr/>
          </p:nvSpPr>
          <p:spPr>
            <a:xfrm flipH="false" flipV="false" rot="0">
              <a:off x="0" y="0"/>
              <a:ext cx="1126926" cy="1221072"/>
            </a:xfrm>
            <a:custGeom>
              <a:avLst/>
              <a:gdLst/>
              <a:ahLst/>
              <a:cxnLst/>
              <a:rect r="r" b="b" t="t" l="l"/>
              <a:pathLst>
                <a:path h="1221072" w="1126926">
                  <a:moveTo>
                    <a:pt x="88659" y="0"/>
                  </a:moveTo>
                  <a:lnTo>
                    <a:pt x="1038267" y="0"/>
                  </a:lnTo>
                  <a:cubicBezTo>
                    <a:pt x="1087232" y="0"/>
                    <a:pt x="1126926" y="39694"/>
                    <a:pt x="1126926" y="88659"/>
                  </a:cubicBezTo>
                  <a:lnTo>
                    <a:pt x="1126926" y="1132413"/>
                  </a:lnTo>
                  <a:cubicBezTo>
                    <a:pt x="1126926" y="1181378"/>
                    <a:pt x="1087232" y="1221072"/>
                    <a:pt x="1038267" y="1221072"/>
                  </a:cubicBezTo>
                  <a:lnTo>
                    <a:pt x="88659" y="1221072"/>
                  </a:lnTo>
                  <a:cubicBezTo>
                    <a:pt x="65145" y="1221072"/>
                    <a:pt x="42594" y="1211731"/>
                    <a:pt x="25968" y="1195104"/>
                  </a:cubicBezTo>
                  <a:cubicBezTo>
                    <a:pt x="9341" y="1178477"/>
                    <a:pt x="0" y="1155927"/>
                    <a:pt x="0" y="1132413"/>
                  </a:cubicBezTo>
                  <a:lnTo>
                    <a:pt x="0" y="88659"/>
                  </a:lnTo>
                  <a:cubicBezTo>
                    <a:pt x="0" y="65145"/>
                    <a:pt x="9341" y="42594"/>
                    <a:pt x="25968" y="25968"/>
                  </a:cubicBezTo>
                  <a:cubicBezTo>
                    <a:pt x="42594" y="9341"/>
                    <a:pt x="65145" y="0"/>
                    <a:pt x="88659" y="0"/>
                  </a:cubicBezTo>
                  <a:close/>
                </a:path>
              </a:pathLst>
            </a:custGeom>
            <a:solidFill>
              <a:srgbClr val="FFFFFF"/>
            </a:solidFill>
            <a:ln w="19050" cap="rnd">
              <a:solidFill>
                <a:srgbClr val="000000"/>
              </a:solidFill>
              <a:prstDash val="solid"/>
              <a:round/>
            </a:ln>
          </p:spPr>
        </p:sp>
        <p:sp>
          <p:nvSpPr>
            <p:cNvPr name="TextBox 17" id="17"/>
            <p:cNvSpPr txBox="true"/>
            <p:nvPr/>
          </p:nvSpPr>
          <p:spPr>
            <a:xfrm>
              <a:off x="0" y="-38100"/>
              <a:ext cx="1126926" cy="1259172"/>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6563300" y="2001756"/>
            <a:ext cx="469589" cy="46958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0" id="20"/>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pic>
        <p:nvPicPr>
          <p:cNvPr name="Picture 21" id="21"/>
          <p:cNvPicPr>
            <a:picLocks noChangeAspect="true"/>
          </p:cNvPicPr>
          <p:nvPr/>
        </p:nvPicPr>
        <p:blipFill>
          <a:blip r:embed="rId3"/>
          <a:stretch>
            <a:fillRect/>
          </a:stretch>
        </p:blipFill>
        <p:spPr>
          <a:xfrm rot="0">
            <a:off x="713974" y="1308344"/>
            <a:ext cx="6960947" cy="8233049"/>
          </a:xfrm>
          <a:prstGeom prst="rect">
            <a:avLst/>
          </a:prstGeom>
        </p:spPr>
      </p:pic>
      <p:sp>
        <p:nvSpPr>
          <p:cNvPr name="TextBox 22" id="22"/>
          <p:cNvSpPr txBox="true"/>
          <p:nvPr/>
        </p:nvSpPr>
        <p:spPr>
          <a:xfrm rot="0">
            <a:off x="8257103" y="2041193"/>
            <a:ext cx="9825795" cy="2006637"/>
          </a:xfrm>
          <a:prstGeom prst="rect">
            <a:avLst/>
          </a:prstGeom>
        </p:spPr>
        <p:txBody>
          <a:bodyPr anchor="t" rtlCol="false" tIns="0" lIns="0" bIns="0" rIns="0">
            <a:spAutoFit/>
          </a:bodyPr>
          <a:lstStyle/>
          <a:p>
            <a:pPr algn="l" marL="0" indent="0" lvl="0">
              <a:lnSpc>
                <a:spcPts val="7575"/>
              </a:lnSpc>
            </a:pPr>
            <a:r>
              <a:rPr lang="en-US" b="true" sz="8417" spc="-505">
                <a:solidFill>
                  <a:srgbClr val="222223"/>
                </a:solidFill>
                <a:latin typeface="Open Sauce Bold"/>
                <a:ea typeface="Open Sauce Bold"/>
                <a:cs typeface="Open Sauce Bold"/>
                <a:sym typeface="Open Sauce Bold"/>
              </a:rPr>
              <a:t>Operational Impact Metrics</a:t>
            </a:r>
          </a:p>
        </p:txBody>
      </p:sp>
      <p:sp>
        <p:nvSpPr>
          <p:cNvPr name="TextBox 23" id="23"/>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 Co.</a:t>
            </a:r>
          </a:p>
        </p:txBody>
      </p:sp>
      <p:sp>
        <p:nvSpPr>
          <p:cNvPr name="TextBox 24" id="24"/>
          <p:cNvSpPr txBox="true"/>
          <p:nvPr/>
        </p:nvSpPr>
        <p:spPr>
          <a:xfrm rot="0">
            <a:off x="15721999"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2025</a:t>
            </a:r>
          </a:p>
        </p:txBody>
      </p:sp>
      <p:sp>
        <p:nvSpPr>
          <p:cNvPr name="TextBox 25" id="25"/>
          <p:cNvSpPr txBox="true"/>
          <p:nvPr/>
        </p:nvSpPr>
        <p:spPr>
          <a:xfrm rot="0">
            <a:off x="8593886" y="6306374"/>
            <a:ext cx="3605233" cy="18208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Wait time reduced by up to 60%. Order fulfillment speed improved by 45%. Order accuracy increased to 98.5%. Service capacity raised by 35%, handling 500+ orders per hour with minimal staff overhead.</a:t>
            </a:r>
          </a:p>
        </p:txBody>
      </p:sp>
      <p:sp>
        <p:nvSpPr>
          <p:cNvPr name="TextBox 26" id="26"/>
          <p:cNvSpPr txBox="true"/>
          <p:nvPr/>
        </p:nvSpPr>
        <p:spPr>
          <a:xfrm rot="0">
            <a:off x="13345526" y="6306304"/>
            <a:ext cx="3605233" cy="21256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Peak-hour demand spikes require robust queue algorithms. Staff adaptation to digital workflows needs structured training. System uptime and connectivity must be maintained to avoid service disruption during busy periods.</a:t>
            </a:r>
          </a:p>
        </p:txBody>
      </p:sp>
      <p:sp>
        <p:nvSpPr>
          <p:cNvPr name="TextBox 27" id="27"/>
          <p:cNvSpPr txBox="true"/>
          <p:nvPr/>
        </p:nvSpPr>
        <p:spPr>
          <a:xfrm rot="0">
            <a:off x="8593886" y="5257870"/>
            <a:ext cx="3605233" cy="506259"/>
          </a:xfrm>
          <a:prstGeom prst="rect">
            <a:avLst/>
          </a:prstGeom>
        </p:spPr>
        <p:txBody>
          <a:bodyPr anchor="t" rtlCol="false" tIns="0" lIns="0" bIns="0" rIns="0">
            <a:spAutoFit/>
          </a:bodyPr>
          <a:lstStyle/>
          <a:p>
            <a:pPr algn="l" marL="0" indent="0" lvl="0">
              <a:lnSpc>
                <a:spcPts val="3680"/>
              </a:lnSpc>
            </a:pPr>
            <a:r>
              <a:rPr lang="en-US" sz="4089" spc="-245">
                <a:solidFill>
                  <a:srgbClr val="222223"/>
                </a:solidFill>
                <a:latin typeface="Open Sauce"/>
                <a:ea typeface="Open Sauce"/>
                <a:cs typeface="Open Sauce"/>
                <a:sym typeface="Open Sauce"/>
              </a:rPr>
              <a:t>Key Gains:</a:t>
            </a:r>
          </a:p>
        </p:txBody>
      </p:sp>
      <p:sp>
        <p:nvSpPr>
          <p:cNvPr name="TextBox 28" id="28"/>
          <p:cNvSpPr txBox="true"/>
          <p:nvPr/>
        </p:nvSpPr>
        <p:spPr>
          <a:xfrm rot="0">
            <a:off x="13345526" y="5257800"/>
            <a:ext cx="3605233" cy="506259"/>
          </a:xfrm>
          <a:prstGeom prst="rect">
            <a:avLst/>
          </a:prstGeom>
        </p:spPr>
        <p:txBody>
          <a:bodyPr anchor="t" rtlCol="false" tIns="0" lIns="0" bIns="0" rIns="0">
            <a:spAutoFit/>
          </a:bodyPr>
          <a:lstStyle/>
          <a:p>
            <a:pPr algn="l" marL="0" indent="0" lvl="0">
              <a:lnSpc>
                <a:spcPts val="3680"/>
              </a:lnSpc>
            </a:pPr>
            <a:r>
              <a:rPr lang="en-US" sz="4089" spc="-245">
                <a:solidFill>
                  <a:srgbClr val="222223"/>
                </a:solidFill>
                <a:latin typeface="Open Sauce"/>
                <a:ea typeface="Open Sauce"/>
                <a:cs typeface="Open Sauce"/>
                <a:sym typeface="Open Sauce"/>
              </a:rPr>
              <a:t>Challenges: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4523135"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grpSp>
        <p:nvGrpSpPr>
          <p:cNvPr name="Group 7" id="7"/>
          <p:cNvGrpSpPr/>
          <p:nvPr/>
        </p:nvGrpSpPr>
        <p:grpSpPr>
          <a:xfrm rot="0">
            <a:off x="-643986" y="-429985"/>
            <a:ext cx="6511119" cy="11146969"/>
            <a:chOff x="0" y="0"/>
            <a:chExt cx="1008743" cy="1726957"/>
          </a:xfrm>
        </p:grpSpPr>
        <p:sp>
          <p:nvSpPr>
            <p:cNvPr name="Freeform 8" id="8"/>
            <p:cNvSpPr/>
            <p:nvPr/>
          </p:nvSpPr>
          <p:spPr>
            <a:xfrm flipH="false" flipV="false" rot="0">
              <a:off x="0" y="0"/>
              <a:ext cx="1008743" cy="1726957"/>
            </a:xfrm>
            <a:custGeom>
              <a:avLst/>
              <a:gdLst/>
              <a:ahLst/>
              <a:cxnLst/>
              <a:rect r="r" b="b" t="t" l="l"/>
              <a:pathLst>
                <a:path h="1726957" w="1008743">
                  <a:moveTo>
                    <a:pt x="0" y="0"/>
                  </a:moveTo>
                  <a:lnTo>
                    <a:pt x="1008743" y="0"/>
                  </a:lnTo>
                  <a:lnTo>
                    <a:pt x="1008743" y="1726957"/>
                  </a:lnTo>
                  <a:lnTo>
                    <a:pt x="0" y="1726957"/>
                  </a:lnTo>
                  <a:close/>
                </a:path>
              </a:pathLst>
            </a:custGeom>
            <a:blipFill>
              <a:blip r:embed="rId2"/>
              <a:stretch>
                <a:fillRect l="0" t="-138" r="0" b="-138"/>
              </a:stretch>
            </a:blipFill>
            <a:ln w="19050" cap="sq">
              <a:solidFill>
                <a:srgbClr val="000000"/>
              </a:solidFill>
              <a:prstDash val="solid"/>
              <a:miter/>
            </a:ln>
          </p:spPr>
        </p:sp>
      </p:grpSp>
      <p:grpSp>
        <p:nvGrpSpPr>
          <p:cNvPr name="Group 9" id="9"/>
          <p:cNvGrpSpPr/>
          <p:nvPr/>
        </p:nvGrpSpPr>
        <p:grpSpPr>
          <a:xfrm rot="0">
            <a:off x="3783516" y="5143500"/>
            <a:ext cx="6443889" cy="4439784"/>
            <a:chOff x="0" y="0"/>
            <a:chExt cx="1697156" cy="1169326"/>
          </a:xfrm>
        </p:grpSpPr>
        <p:sp>
          <p:nvSpPr>
            <p:cNvPr name="Freeform 10" id="10"/>
            <p:cNvSpPr/>
            <p:nvPr/>
          </p:nvSpPr>
          <p:spPr>
            <a:xfrm flipH="false" flipV="false" rot="0">
              <a:off x="0" y="0"/>
              <a:ext cx="1697156" cy="1169326"/>
            </a:xfrm>
            <a:custGeom>
              <a:avLst/>
              <a:gdLst/>
              <a:ahLst/>
              <a:cxnLst/>
              <a:rect r="r" b="b" t="t" l="l"/>
              <a:pathLst>
                <a:path h="1169326" w="1697156">
                  <a:moveTo>
                    <a:pt x="58870" y="0"/>
                  </a:moveTo>
                  <a:lnTo>
                    <a:pt x="1638285" y="0"/>
                  </a:lnTo>
                  <a:cubicBezTo>
                    <a:pt x="1653899" y="0"/>
                    <a:pt x="1668873" y="6202"/>
                    <a:pt x="1679913" y="17243"/>
                  </a:cubicBezTo>
                  <a:cubicBezTo>
                    <a:pt x="1690954" y="28283"/>
                    <a:pt x="1697156" y="43257"/>
                    <a:pt x="1697156" y="58870"/>
                  </a:cubicBezTo>
                  <a:lnTo>
                    <a:pt x="1697156" y="1110455"/>
                  </a:lnTo>
                  <a:cubicBezTo>
                    <a:pt x="1697156" y="1142969"/>
                    <a:pt x="1670799" y="1169326"/>
                    <a:pt x="1638285" y="1169326"/>
                  </a:cubicBezTo>
                  <a:lnTo>
                    <a:pt x="58870" y="1169326"/>
                  </a:lnTo>
                  <a:cubicBezTo>
                    <a:pt x="43257" y="1169326"/>
                    <a:pt x="28283" y="1163123"/>
                    <a:pt x="17243" y="1152083"/>
                  </a:cubicBezTo>
                  <a:cubicBezTo>
                    <a:pt x="6202" y="1141043"/>
                    <a:pt x="0" y="1126069"/>
                    <a:pt x="0" y="1110455"/>
                  </a:cubicBezTo>
                  <a:lnTo>
                    <a:pt x="0" y="58870"/>
                  </a:lnTo>
                  <a:cubicBezTo>
                    <a:pt x="0" y="43257"/>
                    <a:pt x="6202" y="28283"/>
                    <a:pt x="17243" y="17243"/>
                  </a:cubicBezTo>
                  <a:cubicBezTo>
                    <a:pt x="28283" y="6202"/>
                    <a:pt x="43257" y="0"/>
                    <a:pt x="58870" y="0"/>
                  </a:cubicBezTo>
                  <a:close/>
                </a:path>
              </a:pathLst>
            </a:custGeom>
            <a:solidFill>
              <a:srgbClr val="FFFFFF"/>
            </a:solidFill>
            <a:ln w="19050" cap="rnd">
              <a:solidFill>
                <a:srgbClr val="000000"/>
              </a:solidFill>
              <a:prstDash val="solid"/>
              <a:round/>
            </a:ln>
          </p:spPr>
        </p:sp>
        <p:sp>
          <p:nvSpPr>
            <p:cNvPr name="TextBox 11" id="11"/>
            <p:cNvSpPr txBox="true"/>
            <p:nvPr/>
          </p:nvSpPr>
          <p:spPr>
            <a:xfrm>
              <a:off x="0" y="-38100"/>
              <a:ext cx="1697156" cy="1207426"/>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0815411" y="5143500"/>
            <a:ext cx="6443889" cy="4439784"/>
            <a:chOff x="0" y="0"/>
            <a:chExt cx="1697156" cy="1169326"/>
          </a:xfrm>
        </p:grpSpPr>
        <p:sp>
          <p:nvSpPr>
            <p:cNvPr name="Freeform 13" id="13"/>
            <p:cNvSpPr/>
            <p:nvPr/>
          </p:nvSpPr>
          <p:spPr>
            <a:xfrm flipH="false" flipV="false" rot="0">
              <a:off x="0" y="0"/>
              <a:ext cx="1697156" cy="1169326"/>
            </a:xfrm>
            <a:custGeom>
              <a:avLst/>
              <a:gdLst/>
              <a:ahLst/>
              <a:cxnLst/>
              <a:rect r="r" b="b" t="t" l="l"/>
              <a:pathLst>
                <a:path h="1169326" w="1697156">
                  <a:moveTo>
                    <a:pt x="58870" y="0"/>
                  </a:moveTo>
                  <a:lnTo>
                    <a:pt x="1638285" y="0"/>
                  </a:lnTo>
                  <a:cubicBezTo>
                    <a:pt x="1653899" y="0"/>
                    <a:pt x="1668873" y="6202"/>
                    <a:pt x="1679913" y="17243"/>
                  </a:cubicBezTo>
                  <a:cubicBezTo>
                    <a:pt x="1690954" y="28283"/>
                    <a:pt x="1697156" y="43257"/>
                    <a:pt x="1697156" y="58870"/>
                  </a:cubicBezTo>
                  <a:lnTo>
                    <a:pt x="1697156" y="1110455"/>
                  </a:lnTo>
                  <a:cubicBezTo>
                    <a:pt x="1697156" y="1142969"/>
                    <a:pt x="1670799" y="1169326"/>
                    <a:pt x="1638285" y="1169326"/>
                  </a:cubicBezTo>
                  <a:lnTo>
                    <a:pt x="58870" y="1169326"/>
                  </a:lnTo>
                  <a:cubicBezTo>
                    <a:pt x="43257" y="1169326"/>
                    <a:pt x="28283" y="1163123"/>
                    <a:pt x="17243" y="1152083"/>
                  </a:cubicBezTo>
                  <a:cubicBezTo>
                    <a:pt x="6202" y="1141043"/>
                    <a:pt x="0" y="1126069"/>
                    <a:pt x="0" y="1110455"/>
                  </a:cubicBezTo>
                  <a:lnTo>
                    <a:pt x="0" y="58870"/>
                  </a:lnTo>
                  <a:cubicBezTo>
                    <a:pt x="0" y="43257"/>
                    <a:pt x="6202" y="28283"/>
                    <a:pt x="17243" y="17243"/>
                  </a:cubicBezTo>
                  <a:cubicBezTo>
                    <a:pt x="28283" y="6202"/>
                    <a:pt x="43257" y="0"/>
                    <a:pt x="58870" y="0"/>
                  </a:cubicBezTo>
                  <a:close/>
                </a:path>
              </a:pathLst>
            </a:custGeom>
            <a:solidFill>
              <a:srgbClr val="FFFFFF"/>
            </a:solidFill>
            <a:ln w="19050" cap="rnd">
              <a:solidFill>
                <a:srgbClr val="000000"/>
              </a:solidFill>
              <a:prstDash val="solid"/>
              <a:round/>
            </a:ln>
          </p:spPr>
        </p:sp>
        <p:sp>
          <p:nvSpPr>
            <p:cNvPr name="TextBox 14" id="14"/>
            <p:cNvSpPr txBox="true"/>
            <p:nvPr/>
          </p:nvSpPr>
          <p:spPr>
            <a:xfrm>
              <a:off x="0" y="-38100"/>
              <a:ext cx="1697156" cy="1207426"/>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9362406" y="5468484"/>
            <a:ext cx="469589" cy="46958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17" id="17"/>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6394302" y="5468484"/>
            <a:ext cx="469589" cy="46958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20" id="20"/>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6753074" y="1935162"/>
            <a:ext cx="11234818" cy="2179392"/>
          </a:xfrm>
          <a:prstGeom prst="rect">
            <a:avLst/>
          </a:prstGeom>
        </p:spPr>
        <p:txBody>
          <a:bodyPr anchor="t" rtlCol="false" tIns="0" lIns="0" bIns="0" rIns="0">
            <a:spAutoFit/>
          </a:bodyPr>
          <a:lstStyle/>
          <a:p>
            <a:pPr algn="l" marL="0" indent="0" lvl="0">
              <a:lnSpc>
                <a:spcPts val="8281"/>
              </a:lnSpc>
            </a:pPr>
            <a:r>
              <a:rPr lang="en-US" b="true" sz="9201" spc="-552">
                <a:solidFill>
                  <a:srgbClr val="222223"/>
                </a:solidFill>
                <a:latin typeface="Open Sauce Bold"/>
                <a:ea typeface="Open Sauce Bold"/>
                <a:cs typeface="Open Sauce Bold"/>
                <a:sym typeface="Open Sauce Bold"/>
              </a:rPr>
              <a:t>Goal of Queue &amp; Order Management</a:t>
            </a:r>
          </a:p>
        </p:txBody>
      </p:sp>
      <p:sp>
        <p:nvSpPr>
          <p:cNvPr name="TextBox 22" id="22"/>
          <p:cNvSpPr txBox="true"/>
          <p:nvPr/>
        </p:nvSpPr>
        <p:spPr>
          <a:xfrm rot="0">
            <a:off x="6753074"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a:t>
            </a:r>
          </a:p>
        </p:txBody>
      </p:sp>
      <p:sp>
        <p:nvSpPr>
          <p:cNvPr name="TextBox 23" id="23"/>
          <p:cNvSpPr txBox="true"/>
          <p:nvPr/>
        </p:nvSpPr>
        <p:spPr>
          <a:xfrm rot="0">
            <a:off x="15740651"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2030</a:t>
            </a:r>
          </a:p>
        </p:txBody>
      </p:sp>
      <p:sp>
        <p:nvSpPr>
          <p:cNvPr name="TextBox 24" id="24"/>
          <p:cNvSpPr txBox="true"/>
          <p:nvPr/>
        </p:nvSpPr>
        <p:spPr>
          <a:xfrm rot="0">
            <a:off x="4503031" y="6942605"/>
            <a:ext cx="5004859" cy="12112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Reduce physical queues by enabling students and staff to pre-order meals digitally, minimizing wait times and eliminating crowding during peak canteen hours.</a:t>
            </a:r>
          </a:p>
        </p:txBody>
      </p:sp>
      <p:sp>
        <p:nvSpPr>
          <p:cNvPr name="TextBox 25" id="25"/>
          <p:cNvSpPr txBox="true"/>
          <p:nvPr/>
        </p:nvSpPr>
        <p:spPr>
          <a:xfrm rot="0">
            <a:off x="11534926" y="6942605"/>
            <a:ext cx="5004859" cy="12112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Optimize canteen operations through real-time order tracking, smart inventory management, and data-driven insights to improve service efficiency and reduce food waste.</a:t>
            </a:r>
          </a:p>
        </p:txBody>
      </p:sp>
      <p:sp>
        <p:nvSpPr>
          <p:cNvPr name="TextBox 26" id="26"/>
          <p:cNvSpPr txBox="true"/>
          <p:nvPr/>
        </p:nvSpPr>
        <p:spPr>
          <a:xfrm rot="0">
            <a:off x="4503031" y="5839554"/>
            <a:ext cx="5004859" cy="798310"/>
          </a:xfrm>
          <a:prstGeom prst="rect">
            <a:avLst/>
          </a:prstGeom>
        </p:spPr>
        <p:txBody>
          <a:bodyPr anchor="t" rtlCol="false" tIns="0" lIns="0" bIns="0" rIns="0">
            <a:spAutoFit/>
          </a:bodyPr>
          <a:lstStyle/>
          <a:p>
            <a:pPr algn="l" marL="0" indent="0" lvl="0">
              <a:lnSpc>
                <a:spcPts val="5807"/>
              </a:lnSpc>
            </a:pPr>
            <a:r>
              <a:rPr lang="en-US" sz="6453" spc="-387">
                <a:solidFill>
                  <a:srgbClr val="222223"/>
                </a:solidFill>
                <a:latin typeface="Open Sauce"/>
                <a:ea typeface="Open Sauce"/>
                <a:cs typeface="Open Sauce"/>
                <a:sym typeface="Open Sauce"/>
              </a:rPr>
              <a:t>Goal 01</a:t>
            </a:r>
          </a:p>
        </p:txBody>
      </p:sp>
      <p:sp>
        <p:nvSpPr>
          <p:cNvPr name="TextBox 27" id="27"/>
          <p:cNvSpPr txBox="true"/>
          <p:nvPr/>
        </p:nvSpPr>
        <p:spPr>
          <a:xfrm rot="0">
            <a:off x="11534926" y="5839554"/>
            <a:ext cx="5004859" cy="798310"/>
          </a:xfrm>
          <a:prstGeom prst="rect">
            <a:avLst/>
          </a:prstGeom>
        </p:spPr>
        <p:txBody>
          <a:bodyPr anchor="t" rtlCol="false" tIns="0" lIns="0" bIns="0" rIns="0">
            <a:spAutoFit/>
          </a:bodyPr>
          <a:lstStyle/>
          <a:p>
            <a:pPr algn="l" marL="0" indent="0" lvl="0">
              <a:lnSpc>
                <a:spcPts val="5807"/>
              </a:lnSpc>
            </a:pPr>
            <a:r>
              <a:rPr lang="en-US" sz="6453" spc="-387">
                <a:solidFill>
                  <a:srgbClr val="222223"/>
                </a:solidFill>
                <a:latin typeface="Open Sauce"/>
                <a:ea typeface="Open Sauce"/>
                <a:cs typeface="Open Sauce"/>
                <a:sym typeface="Open Sauce"/>
              </a:rPr>
              <a:t>Goal 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TextBox 7" id="7"/>
          <p:cNvSpPr txBox="true"/>
          <p:nvPr/>
        </p:nvSpPr>
        <p:spPr>
          <a:xfrm rot="0">
            <a:off x="1028700" y="1863099"/>
            <a:ext cx="8758567" cy="1356928"/>
          </a:xfrm>
          <a:prstGeom prst="rect">
            <a:avLst/>
          </a:prstGeom>
        </p:spPr>
        <p:txBody>
          <a:bodyPr anchor="t" rtlCol="false" tIns="0" lIns="0" bIns="0" rIns="0">
            <a:spAutoFit/>
          </a:bodyPr>
          <a:lstStyle/>
          <a:p>
            <a:pPr algn="l" marL="0" indent="0" lvl="0">
              <a:lnSpc>
                <a:spcPts val="9913"/>
              </a:lnSpc>
            </a:pPr>
            <a:r>
              <a:rPr lang="en-US" b="true" sz="11015" spc="-660">
                <a:solidFill>
                  <a:srgbClr val="222223"/>
                </a:solidFill>
                <a:latin typeface="Open Sauce Bold"/>
                <a:ea typeface="Open Sauce Bold"/>
                <a:cs typeface="Open Sauce Bold"/>
                <a:sym typeface="Open Sauce Bold"/>
              </a:rPr>
              <a:t>How It Works.</a:t>
            </a:r>
          </a:p>
        </p:txBody>
      </p:sp>
      <p:grpSp>
        <p:nvGrpSpPr>
          <p:cNvPr name="Group 8" id="8"/>
          <p:cNvGrpSpPr/>
          <p:nvPr/>
        </p:nvGrpSpPr>
        <p:grpSpPr>
          <a:xfrm rot="0">
            <a:off x="1028700" y="3578423"/>
            <a:ext cx="6861423" cy="5520988"/>
            <a:chOff x="0" y="0"/>
            <a:chExt cx="1063014" cy="855345"/>
          </a:xfrm>
        </p:grpSpPr>
        <p:sp>
          <p:nvSpPr>
            <p:cNvPr name="Freeform 9" id="9"/>
            <p:cNvSpPr/>
            <p:nvPr/>
          </p:nvSpPr>
          <p:spPr>
            <a:xfrm flipH="false" flipV="false" rot="0">
              <a:off x="0" y="0"/>
              <a:ext cx="1063014" cy="855345"/>
            </a:xfrm>
            <a:custGeom>
              <a:avLst/>
              <a:gdLst/>
              <a:ahLst/>
              <a:cxnLst/>
              <a:rect r="r" b="b" t="t" l="l"/>
              <a:pathLst>
                <a:path h="855345" w="1063014">
                  <a:moveTo>
                    <a:pt x="54160" y="0"/>
                  </a:moveTo>
                  <a:lnTo>
                    <a:pt x="1008854" y="0"/>
                  </a:lnTo>
                  <a:cubicBezTo>
                    <a:pt x="1023218" y="0"/>
                    <a:pt x="1036994" y="5706"/>
                    <a:pt x="1047151" y="15863"/>
                  </a:cubicBezTo>
                  <a:cubicBezTo>
                    <a:pt x="1057308" y="26020"/>
                    <a:pt x="1063014" y="39796"/>
                    <a:pt x="1063014" y="54160"/>
                  </a:cubicBezTo>
                  <a:lnTo>
                    <a:pt x="1063014" y="801186"/>
                  </a:lnTo>
                  <a:cubicBezTo>
                    <a:pt x="1063014" y="831097"/>
                    <a:pt x="1038766" y="855345"/>
                    <a:pt x="1008854" y="855345"/>
                  </a:cubicBezTo>
                  <a:lnTo>
                    <a:pt x="54160" y="855345"/>
                  </a:lnTo>
                  <a:cubicBezTo>
                    <a:pt x="39796" y="855345"/>
                    <a:pt x="26020" y="849639"/>
                    <a:pt x="15863" y="839482"/>
                  </a:cubicBezTo>
                  <a:cubicBezTo>
                    <a:pt x="5706" y="829326"/>
                    <a:pt x="0" y="815550"/>
                    <a:pt x="0" y="801186"/>
                  </a:cubicBezTo>
                  <a:lnTo>
                    <a:pt x="0" y="54160"/>
                  </a:lnTo>
                  <a:cubicBezTo>
                    <a:pt x="0" y="39796"/>
                    <a:pt x="5706" y="26020"/>
                    <a:pt x="15863" y="15863"/>
                  </a:cubicBezTo>
                  <a:cubicBezTo>
                    <a:pt x="26020" y="5706"/>
                    <a:pt x="39796" y="0"/>
                    <a:pt x="54160" y="0"/>
                  </a:cubicBezTo>
                  <a:close/>
                </a:path>
              </a:pathLst>
            </a:custGeom>
            <a:blipFill>
              <a:blip r:embed="rId2"/>
              <a:stretch>
                <a:fillRect l="0" t="-22" r="0" b="-22"/>
              </a:stretch>
            </a:blipFill>
            <a:ln w="19050" cap="rnd">
              <a:solidFill>
                <a:srgbClr val="000000"/>
              </a:solidFill>
              <a:prstDash val="solid"/>
              <a:round/>
            </a:ln>
          </p:spPr>
        </p:sp>
      </p:grpSp>
      <p:grpSp>
        <p:nvGrpSpPr>
          <p:cNvPr name="Group 10" id="10"/>
          <p:cNvGrpSpPr/>
          <p:nvPr/>
        </p:nvGrpSpPr>
        <p:grpSpPr>
          <a:xfrm rot="0">
            <a:off x="8551122" y="2562878"/>
            <a:ext cx="8708178" cy="6695422"/>
            <a:chOff x="0" y="0"/>
            <a:chExt cx="2293512" cy="1763403"/>
          </a:xfrm>
        </p:grpSpPr>
        <p:sp>
          <p:nvSpPr>
            <p:cNvPr name="Freeform 11" id="11"/>
            <p:cNvSpPr/>
            <p:nvPr/>
          </p:nvSpPr>
          <p:spPr>
            <a:xfrm flipH="false" flipV="false" rot="0">
              <a:off x="0" y="0"/>
              <a:ext cx="2293512" cy="1763403"/>
            </a:xfrm>
            <a:custGeom>
              <a:avLst/>
              <a:gdLst/>
              <a:ahLst/>
              <a:cxnLst/>
              <a:rect r="r" b="b" t="t" l="l"/>
              <a:pathLst>
                <a:path h="1763403" w="2293512">
                  <a:moveTo>
                    <a:pt x="43563" y="0"/>
                  </a:moveTo>
                  <a:lnTo>
                    <a:pt x="2249949" y="0"/>
                  </a:lnTo>
                  <a:cubicBezTo>
                    <a:pt x="2261503" y="0"/>
                    <a:pt x="2272583" y="4590"/>
                    <a:pt x="2280753" y="12759"/>
                  </a:cubicBezTo>
                  <a:cubicBezTo>
                    <a:pt x="2288922" y="20929"/>
                    <a:pt x="2293512" y="32009"/>
                    <a:pt x="2293512" y="43563"/>
                  </a:cubicBezTo>
                  <a:lnTo>
                    <a:pt x="2293512" y="1719840"/>
                  </a:lnTo>
                  <a:cubicBezTo>
                    <a:pt x="2293512" y="1731394"/>
                    <a:pt x="2288922" y="1742474"/>
                    <a:pt x="2280753" y="1750644"/>
                  </a:cubicBezTo>
                  <a:cubicBezTo>
                    <a:pt x="2272583" y="1758814"/>
                    <a:pt x="2261503" y="1763403"/>
                    <a:pt x="2249949" y="1763403"/>
                  </a:cubicBezTo>
                  <a:lnTo>
                    <a:pt x="43563" y="1763403"/>
                  </a:lnTo>
                  <a:cubicBezTo>
                    <a:pt x="32009" y="1763403"/>
                    <a:pt x="20929" y="1758814"/>
                    <a:pt x="12759" y="1750644"/>
                  </a:cubicBezTo>
                  <a:cubicBezTo>
                    <a:pt x="4590" y="1742474"/>
                    <a:pt x="0" y="1731394"/>
                    <a:pt x="0" y="1719840"/>
                  </a:cubicBezTo>
                  <a:lnTo>
                    <a:pt x="0" y="43563"/>
                  </a:lnTo>
                  <a:cubicBezTo>
                    <a:pt x="0" y="32009"/>
                    <a:pt x="4590" y="20929"/>
                    <a:pt x="12759" y="12759"/>
                  </a:cubicBezTo>
                  <a:cubicBezTo>
                    <a:pt x="20929" y="4590"/>
                    <a:pt x="32009" y="0"/>
                    <a:pt x="43563" y="0"/>
                  </a:cubicBezTo>
                  <a:close/>
                </a:path>
              </a:pathLst>
            </a:custGeom>
            <a:solidFill>
              <a:srgbClr val="FFFFFF"/>
            </a:solidFill>
            <a:ln w="19050" cap="rnd">
              <a:solidFill>
                <a:srgbClr val="000000"/>
              </a:solidFill>
              <a:prstDash val="solid"/>
              <a:round/>
            </a:ln>
          </p:spPr>
        </p:sp>
        <p:sp>
          <p:nvSpPr>
            <p:cNvPr name="TextBox 12" id="12"/>
            <p:cNvSpPr txBox="true"/>
            <p:nvPr/>
          </p:nvSpPr>
          <p:spPr>
            <a:xfrm>
              <a:off x="0" y="-38100"/>
              <a:ext cx="2293512" cy="1801503"/>
            </a:xfrm>
            <a:prstGeom prst="rect">
              <a:avLst/>
            </a:prstGeom>
          </p:spPr>
          <p:txBody>
            <a:bodyPr anchor="ctr" rtlCol="false" tIns="50800" lIns="50800" bIns="50800" rIns="50800"/>
            <a:lstStyle/>
            <a:p>
              <a:pPr algn="ctr" marL="0" indent="0" lvl="0">
                <a:lnSpc>
                  <a:spcPts val="2659"/>
                </a:lnSpc>
              </a:pPr>
            </a:p>
          </p:txBody>
        </p:sp>
      </p:grpSp>
      <p:grpSp>
        <p:nvGrpSpPr>
          <p:cNvPr name="Group 13" id="13"/>
          <p:cNvGrpSpPr/>
          <p:nvPr/>
        </p:nvGrpSpPr>
        <p:grpSpPr>
          <a:xfrm rot="0">
            <a:off x="16356452" y="2918334"/>
            <a:ext cx="469589" cy="46958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sp>
        <p:nvSpPr>
          <p:cNvPr name="TextBox 16" id="16"/>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a:t>
            </a:r>
          </a:p>
        </p:txBody>
      </p:sp>
      <p:sp>
        <p:nvSpPr>
          <p:cNvPr name="TextBox 17" id="17"/>
          <p:cNvSpPr txBox="true"/>
          <p:nvPr/>
        </p:nvSpPr>
        <p:spPr>
          <a:xfrm rot="0">
            <a:off x="15721999"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07</a:t>
            </a:r>
          </a:p>
        </p:txBody>
      </p:sp>
      <p:sp>
        <p:nvSpPr>
          <p:cNvPr name="TextBox 18" id="18"/>
          <p:cNvSpPr txBox="true"/>
          <p:nvPr/>
        </p:nvSpPr>
        <p:spPr>
          <a:xfrm rot="0">
            <a:off x="9219175" y="3688343"/>
            <a:ext cx="7372071" cy="2222278"/>
          </a:xfrm>
          <a:prstGeom prst="rect">
            <a:avLst/>
          </a:prstGeom>
        </p:spPr>
        <p:txBody>
          <a:bodyPr anchor="t" rtlCol="false" tIns="0" lIns="0" bIns="0" rIns="0">
            <a:spAutoFit/>
          </a:bodyPr>
          <a:lstStyle/>
          <a:p>
            <a:pPr algn="l" marL="0" indent="0" lvl="0">
              <a:lnSpc>
                <a:spcPts val="2989"/>
              </a:lnSpc>
            </a:pPr>
            <a:r>
              <a:rPr lang="en-US" sz="2198" i="true" spc="-54">
                <a:solidFill>
                  <a:srgbClr val="222223"/>
                </a:solidFill>
                <a:latin typeface="DM Sans Italics"/>
                <a:ea typeface="DM Sans Italics"/>
                <a:cs typeface="DM Sans Italics"/>
                <a:sym typeface="DM Sans Italics"/>
              </a:rPr>
              <a:t>Ordering is simple and fast. Users browse the digital menu, select their desired meals, and complete payment securely through the app or kiosk. Once confirmed, the system instantly assigns a queue position and sends a real-time notification to the user's device, keeping them informed every step of the way.</a:t>
            </a:r>
          </a:p>
        </p:txBody>
      </p:sp>
      <p:sp>
        <p:nvSpPr>
          <p:cNvPr name="TextBox 19" id="19"/>
          <p:cNvSpPr txBox="true"/>
          <p:nvPr/>
        </p:nvSpPr>
        <p:spPr>
          <a:xfrm rot="0">
            <a:off x="9219175" y="6048702"/>
            <a:ext cx="7372071" cy="2593753"/>
          </a:xfrm>
          <a:prstGeom prst="rect">
            <a:avLst/>
          </a:prstGeom>
        </p:spPr>
        <p:txBody>
          <a:bodyPr anchor="t" rtlCol="false" tIns="0" lIns="0" bIns="0" rIns="0">
            <a:spAutoFit/>
          </a:bodyPr>
          <a:lstStyle/>
          <a:p>
            <a:pPr algn="l" marL="0" indent="0" lvl="0">
              <a:lnSpc>
                <a:spcPts val="2989"/>
              </a:lnSpc>
            </a:pPr>
            <a:r>
              <a:rPr lang="en-US" sz="2198" i="true" spc="-54">
                <a:solidFill>
                  <a:srgbClr val="222223"/>
                </a:solidFill>
                <a:latin typeface="DM Sans Italics"/>
                <a:ea typeface="DM Sans Italics"/>
                <a:cs typeface="DM Sans Italics"/>
                <a:sym typeface="DM Sans Italics"/>
              </a:rPr>
              <a:t>As the kitchen prepares each order, the queue dashboard updates live so users can track their meal's progress. When the order is ready, a pickup alert is sent directly to the user. Meals are collected at a designated counter — no waiting in line, no confusion. The entire workflow is designed to minimize wait times and maximize canteen efficiency for everyone.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grpSp>
        <p:nvGrpSpPr>
          <p:cNvPr name="Group 7" id="7"/>
          <p:cNvGrpSpPr/>
          <p:nvPr/>
        </p:nvGrpSpPr>
        <p:grpSpPr>
          <a:xfrm rot="0">
            <a:off x="6613703" y="4281445"/>
            <a:ext cx="5060593" cy="5425158"/>
            <a:chOff x="0" y="0"/>
            <a:chExt cx="1482123" cy="1588895"/>
          </a:xfrm>
        </p:grpSpPr>
        <p:sp>
          <p:nvSpPr>
            <p:cNvPr name="Freeform 8" id="8"/>
            <p:cNvSpPr/>
            <p:nvPr/>
          </p:nvSpPr>
          <p:spPr>
            <a:xfrm flipH="false" flipV="false" rot="0">
              <a:off x="0" y="0"/>
              <a:ext cx="1482123" cy="1588895"/>
            </a:xfrm>
            <a:custGeom>
              <a:avLst/>
              <a:gdLst/>
              <a:ahLst/>
              <a:cxnLst/>
              <a:rect r="r" b="b" t="t" l="l"/>
              <a:pathLst>
                <a:path h="1588895" w="1482123">
                  <a:moveTo>
                    <a:pt x="78022" y="0"/>
                  </a:moveTo>
                  <a:lnTo>
                    <a:pt x="1404101" y="0"/>
                  </a:lnTo>
                  <a:cubicBezTo>
                    <a:pt x="1447191" y="0"/>
                    <a:pt x="1482123" y="34932"/>
                    <a:pt x="1482123" y="78022"/>
                  </a:cubicBezTo>
                  <a:lnTo>
                    <a:pt x="1482123" y="1510873"/>
                  </a:lnTo>
                  <a:cubicBezTo>
                    <a:pt x="1482123" y="1553963"/>
                    <a:pt x="1447191" y="1588895"/>
                    <a:pt x="1404101" y="1588895"/>
                  </a:cubicBezTo>
                  <a:lnTo>
                    <a:pt x="78022" y="1588895"/>
                  </a:lnTo>
                  <a:cubicBezTo>
                    <a:pt x="34932" y="1588895"/>
                    <a:pt x="0" y="1553963"/>
                    <a:pt x="0" y="1510873"/>
                  </a:cubicBezTo>
                  <a:lnTo>
                    <a:pt x="0" y="78022"/>
                  </a:lnTo>
                  <a:cubicBezTo>
                    <a:pt x="0" y="34932"/>
                    <a:pt x="34932" y="0"/>
                    <a:pt x="78022" y="0"/>
                  </a:cubicBezTo>
                  <a:close/>
                </a:path>
              </a:pathLst>
            </a:custGeom>
            <a:gradFill rotWithShape="true">
              <a:gsLst>
                <a:gs pos="0">
                  <a:srgbClr val="EB3A84">
                    <a:alpha val="100000"/>
                  </a:srgbClr>
                </a:gs>
                <a:gs pos="100000">
                  <a:srgbClr val="BF105A">
                    <a:alpha val="100000"/>
                  </a:srgbClr>
                </a:gs>
              </a:gsLst>
              <a:lin ang="0"/>
            </a:gradFill>
            <a:ln w="19050" cap="rnd">
              <a:solidFill>
                <a:srgbClr val="222223"/>
              </a:solidFill>
              <a:prstDash val="solid"/>
              <a:round/>
            </a:ln>
          </p:spPr>
        </p:sp>
        <p:sp>
          <p:nvSpPr>
            <p:cNvPr name="TextBox 9" id="9"/>
            <p:cNvSpPr txBox="true"/>
            <p:nvPr/>
          </p:nvSpPr>
          <p:spPr>
            <a:xfrm>
              <a:off x="0" y="-38100"/>
              <a:ext cx="1482123" cy="1626995"/>
            </a:xfrm>
            <a:prstGeom prst="rect">
              <a:avLst/>
            </a:prstGeom>
          </p:spPr>
          <p:txBody>
            <a:bodyPr anchor="ctr" rtlCol="false" tIns="47845" lIns="47845" bIns="47845" rIns="47845"/>
            <a:lstStyle/>
            <a:p>
              <a:pPr algn="ctr" marL="0" indent="0" lvl="0">
                <a:lnSpc>
                  <a:spcPts val="3077"/>
                </a:lnSpc>
              </a:pPr>
            </a:p>
          </p:txBody>
        </p:sp>
      </p:grpSp>
      <p:grpSp>
        <p:nvGrpSpPr>
          <p:cNvPr name="Group 10" id="10"/>
          <p:cNvGrpSpPr/>
          <p:nvPr/>
        </p:nvGrpSpPr>
        <p:grpSpPr>
          <a:xfrm rot="0">
            <a:off x="12198172" y="4281445"/>
            <a:ext cx="5060593" cy="5425158"/>
            <a:chOff x="0" y="0"/>
            <a:chExt cx="1482123" cy="1588895"/>
          </a:xfrm>
        </p:grpSpPr>
        <p:sp>
          <p:nvSpPr>
            <p:cNvPr name="Freeform 11" id="11"/>
            <p:cNvSpPr/>
            <p:nvPr/>
          </p:nvSpPr>
          <p:spPr>
            <a:xfrm flipH="false" flipV="false" rot="0">
              <a:off x="0" y="0"/>
              <a:ext cx="1482123" cy="1588895"/>
            </a:xfrm>
            <a:custGeom>
              <a:avLst/>
              <a:gdLst/>
              <a:ahLst/>
              <a:cxnLst/>
              <a:rect r="r" b="b" t="t" l="l"/>
              <a:pathLst>
                <a:path h="1588895" w="1482123">
                  <a:moveTo>
                    <a:pt x="78022" y="0"/>
                  </a:moveTo>
                  <a:lnTo>
                    <a:pt x="1404101" y="0"/>
                  </a:lnTo>
                  <a:cubicBezTo>
                    <a:pt x="1447191" y="0"/>
                    <a:pt x="1482123" y="34932"/>
                    <a:pt x="1482123" y="78022"/>
                  </a:cubicBezTo>
                  <a:lnTo>
                    <a:pt x="1482123" y="1510873"/>
                  </a:lnTo>
                  <a:cubicBezTo>
                    <a:pt x="1482123" y="1553963"/>
                    <a:pt x="1447191" y="1588895"/>
                    <a:pt x="1404101" y="1588895"/>
                  </a:cubicBezTo>
                  <a:lnTo>
                    <a:pt x="78022" y="1588895"/>
                  </a:lnTo>
                  <a:cubicBezTo>
                    <a:pt x="34932" y="1588895"/>
                    <a:pt x="0" y="1553963"/>
                    <a:pt x="0" y="1510873"/>
                  </a:cubicBezTo>
                  <a:lnTo>
                    <a:pt x="0" y="78022"/>
                  </a:lnTo>
                  <a:cubicBezTo>
                    <a:pt x="0" y="34932"/>
                    <a:pt x="34932" y="0"/>
                    <a:pt x="78022" y="0"/>
                  </a:cubicBezTo>
                  <a:close/>
                </a:path>
              </a:pathLst>
            </a:custGeom>
            <a:solidFill>
              <a:srgbClr val="FBFBFB"/>
            </a:solidFill>
            <a:ln w="19050" cap="rnd">
              <a:solidFill>
                <a:srgbClr val="222223"/>
              </a:solidFill>
              <a:prstDash val="solid"/>
              <a:round/>
            </a:ln>
          </p:spPr>
        </p:sp>
        <p:sp>
          <p:nvSpPr>
            <p:cNvPr name="TextBox 12" id="12"/>
            <p:cNvSpPr txBox="true"/>
            <p:nvPr/>
          </p:nvSpPr>
          <p:spPr>
            <a:xfrm>
              <a:off x="0" y="-38100"/>
              <a:ext cx="1482123" cy="1626995"/>
            </a:xfrm>
            <a:prstGeom prst="rect">
              <a:avLst/>
            </a:prstGeom>
          </p:spPr>
          <p:txBody>
            <a:bodyPr anchor="ctr" rtlCol="false" tIns="47845" lIns="47845" bIns="47845" rIns="47845"/>
            <a:lstStyle/>
            <a:p>
              <a:pPr algn="ctr" marL="0" indent="0" lvl="0">
                <a:lnSpc>
                  <a:spcPts val="3077"/>
                </a:lnSpc>
              </a:pPr>
            </a:p>
          </p:txBody>
        </p:sp>
      </p:grpSp>
      <p:grpSp>
        <p:nvGrpSpPr>
          <p:cNvPr name="Group 13" id="13"/>
          <p:cNvGrpSpPr/>
          <p:nvPr/>
        </p:nvGrpSpPr>
        <p:grpSpPr>
          <a:xfrm rot="0">
            <a:off x="7015811" y="3543377"/>
            <a:ext cx="4256378" cy="3282575"/>
            <a:chOff x="0" y="0"/>
            <a:chExt cx="659424" cy="508557"/>
          </a:xfrm>
        </p:grpSpPr>
        <p:sp>
          <p:nvSpPr>
            <p:cNvPr name="Freeform 14" id="14"/>
            <p:cNvSpPr/>
            <p:nvPr/>
          </p:nvSpPr>
          <p:spPr>
            <a:xfrm flipH="false" flipV="false" rot="0">
              <a:off x="0" y="0"/>
              <a:ext cx="659424" cy="508557"/>
            </a:xfrm>
            <a:custGeom>
              <a:avLst/>
              <a:gdLst/>
              <a:ahLst/>
              <a:cxnLst/>
              <a:rect r="r" b="b" t="t" l="l"/>
              <a:pathLst>
                <a:path h="508557" w="659424">
                  <a:moveTo>
                    <a:pt x="92764" y="0"/>
                  </a:moveTo>
                  <a:lnTo>
                    <a:pt x="566661" y="0"/>
                  </a:lnTo>
                  <a:cubicBezTo>
                    <a:pt x="591263" y="0"/>
                    <a:pt x="614858" y="9773"/>
                    <a:pt x="632254" y="27170"/>
                  </a:cubicBezTo>
                  <a:cubicBezTo>
                    <a:pt x="649651" y="44566"/>
                    <a:pt x="659424" y="68161"/>
                    <a:pt x="659424" y="92764"/>
                  </a:cubicBezTo>
                  <a:lnTo>
                    <a:pt x="659424" y="415793"/>
                  </a:lnTo>
                  <a:cubicBezTo>
                    <a:pt x="659424" y="467025"/>
                    <a:pt x="617893" y="508557"/>
                    <a:pt x="566661" y="508557"/>
                  </a:cubicBezTo>
                  <a:lnTo>
                    <a:pt x="92764" y="508557"/>
                  </a:lnTo>
                  <a:cubicBezTo>
                    <a:pt x="68161" y="508557"/>
                    <a:pt x="44566" y="498783"/>
                    <a:pt x="27170" y="481387"/>
                  </a:cubicBezTo>
                  <a:cubicBezTo>
                    <a:pt x="9773" y="463990"/>
                    <a:pt x="0" y="440395"/>
                    <a:pt x="0" y="415793"/>
                  </a:cubicBezTo>
                  <a:lnTo>
                    <a:pt x="0" y="92764"/>
                  </a:lnTo>
                  <a:cubicBezTo>
                    <a:pt x="0" y="68161"/>
                    <a:pt x="9773" y="44566"/>
                    <a:pt x="27170" y="27170"/>
                  </a:cubicBezTo>
                  <a:cubicBezTo>
                    <a:pt x="44566" y="9773"/>
                    <a:pt x="68161" y="0"/>
                    <a:pt x="92764" y="0"/>
                  </a:cubicBezTo>
                  <a:close/>
                </a:path>
              </a:pathLst>
            </a:custGeom>
            <a:blipFill>
              <a:blip r:embed="rId2"/>
              <a:stretch>
                <a:fillRect l="0" t="-569" r="0" b="-569"/>
              </a:stretch>
            </a:blipFill>
            <a:ln w="19050" cap="rnd">
              <a:solidFill>
                <a:srgbClr val="222223"/>
              </a:solidFill>
              <a:prstDash val="solid"/>
              <a:round/>
            </a:ln>
          </p:spPr>
        </p:sp>
      </p:grpSp>
      <p:grpSp>
        <p:nvGrpSpPr>
          <p:cNvPr name="Group 15" id="15"/>
          <p:cNvGrpSpPr/>
          <p:nvPr/>
        </p:nvGrpSpPr>
        <p:grpSpPr>
          <a:xfrm rot="0">
            <a:off x="1028700" y="4281445"/>
            <a:ext cx="5060593" cy="5425158"/>
            <a:chOff x="0" y="0"/>
            <a:chExt cx="1482123" cy="1588895"/>
          </a:xfrm>
        </p:grpSpPr>
        <p:sp>
          <p:nvSpPr>
            <p:cNvPr name="Freeform 16" id="16"/>
            <p:cNvSpPr/>
            <p:nvPr/>
          </p:nvSpPr>
          <p:spPr>
            <a:xfrm flipH="false" flipV="false" rot="0">
              <a:off x="0" y="0"/>
              <a:ext cx="1482123" cy="1588895"/>
            </a:xfrm>
            <a:custGeom>
              <a:avLst/>
              <a:gdLst/>
              <a:ahLst/>
              <a:cxnLst/>
              <a:rect r="r" b="b" t="t" l="l"/>
              <a:pathLst>
                <a:path h="1588895" w="1482123">
                  <a:moveTo>
                    <a:pt x="78022" y="0"/>
                  </a:moveTo>
                  <a:lnTo>
                    <a:pt x="1404101" y="0"/>
                  </a:lnTo>
                  <a:cubicBezTo>
                    <a:pt x="1447191" y="0"/>
                    <a:pt x="1482123" y="34932"/>
                    <a:pt x="1482123" y="78022"/>
                  </a:cubicBezTo>
                  <a:lnTo>
                    <a:pt x="1482123" y="1510873"/>
                  </a:lnTo>
                  <a:cubicBezTo>
                    <a:pt x="1482123" y="1553963"/>
                    <a:pt x="1447191" y="1588895"/>
                    <a:pt x="1404101" y="1588895"/>
                  </a:cubicBezTo>
                  <a:lnTo>
                    <a:pt x="78022" y="1588895"/>
                  </a:lnTo>
                  <a:cubicBezTo>
                    <a:pt x="34932" y="1588895"/>
                    <a:pt x="0" y="1553963"/>
                    <a:pt x="0" y="1510873"/>
                  </a:cubicBezTo>
                  <a:lnTo>
                    <a:pt x="0" y="78022"/>
                  </a:lnTo>
                  <a:cubicBezTo>
                    <a:pt x="0" y="34932"/>
                    <a:pt x="34932" y="0"/>
                    <a:pt x="78022" y="0"/>
                  </a:cubicBezTo>
                  <a:close/>
                </a:path>
              </a:pathLst>
            </a:custGeom>
            <a:solidFill>
              <a:srgbClr val="FBFBFB"/>
            </a:solidFill>
            <a:ln w="19050" cap="rnd">
              <a:solidFill>
                <a:srgbClr val="222223"/>
              </a:solidFill>
              <a:prstDash val="solid"/>
              <a:round/>
            </a:ln>
          </p:spPr>
        </p:sp>
        <p:sp>
          <p:nvSpPr>
            <p:cNvPr name="TextBox 17" id="17"/>
            <p:cNvSpPr txBox="true"/>
            <p:nvPr/>
          </p:nvSpPr>
          <p:spPr>
            <a:xfrm>
              <a:off x="0" y="-38100"/>
              <a:ext cx="1482123" cy="1626995"/>
            </a:xfrm>
            <a:prstGeom prst="rect">
              <a:avLst/>
            </a:prstGeom>
          </p:spPr>
          <p:txBody>
            <a:bodyPr anchor="ctr" rtlCol="false" tIns="47845" lIns="47845" bIns="47845" rIns="47845"/>
            <a:lstStyle/>
            <a:p>
              <a:pPr algn="ctr" marL="0" indent="0" lvl="0">
                <a:lnSpc>
                  <a:spcPts val="3077"/>
                </a:lnSpc>
              </a:pPr>
            </a:p>
          </p:txBody>
        </p:sp>
      </p:grpSp>
      <p:grpSp>
        <p:nvGrpSpPr>
          <p:cNvPr name="Group 18" id="18"/>
          <p:cNvGrpSpPr/>
          <p:nvPr/>
        </p:nvGrpSpPr>
        <p:grpSpPr>
          <a:xfrm rot="0">
            <a:off x="1430807" y="3543377"/>
            <a:ext cx="4256378" cy="3282575"/>
            <a:chOff x="0" y="0"/>
            <a:chExt cx="659424" cy="508557"/>
          </a:xfrm>
        </p:grpSpPr>
        <p:sp>
          <p:nvSpPr>
            <p:cNvPr name="Freeform 19" id="19"/>
            <p:cNvSpPr/>
            <p:nvPr/>
          </p:nvSpPr>
          <p:spPr>
            <a:xfrm flipH="false" flipV="false" rot="0">
              <a:off x="0" y="0"/>
              <a:ext cx="659424" cy="508557"/>
            </a:xfrm>
            <a:custGeom>
              <a:avLst/>
              <a:gdLst/>
              <a:ahLst/>
              <a:cxnLst/>
              <a:rect r="r" b="b" t="t" l="l"/>
              <a:pathLst>
                <a:path h="508557" w="659424">
                  <a:moveTo>
                    <a:pt x="92764" y="0"/>
                  </a:moveTo>
                  <a:lnTo>
                    <a:pt x="566661" y="0"/>
                  </a:lnTo>
                  <a:cubicBezTo>
                    <a:pt x="591263" y="0"/>
                    <a:pt x="614858" y="9773"/>
                    <a:pt x="632254" y="27170"/>
                  </a:cubicBezTo>
                  <a:cubicBezTo>
                    <a:pt x="649651" y="44566"/>
                    <a:pt x="659424" y="68161"/>
                    <a:pt x="659424" y="92764"/>
                  </a:cubicBezTo>
                  <a:lnTo>
                    <a:pt x="659424" y="415793"/>
                  </a:lnTo>
                  <a:cubicBezTo>
                    <a:pt x="659424" y="467025"/>
                    <a:pt x="617893" y="508557"/>
                    <a:pt x="566661" y="508557"/>
                  </a:cubicBezTo>
                  <a:lnTo>
                    <a:pt x="92764" y="508557"/>
                  </a:lnTo>
                  <a:cubicBezTo>
                    <a:pt x="68161" y="508557"/>
                    <a:pt x="44566" y="498783"/>
                    <a:pt x="27170" y="481387"/>
                  </a:cubicBezTo>
                  <a:cubicBezTo>
                    <a:pt x="9773" y="463990"/>
                    <a:pt x="0" y="440395"/>
                    <a:pt x="0" y="415793"/>
                  </a:cubicBezTo>
                  <a:lnTo>
                    <a:pt x="0" y="92764"/>
                  </a:lnTo>
                  <a:cubicBezTo>
                    <a:pt x="0" y="68161"/>
                    <a:pt x="9773" y="44566"/>
                    <a:pt x="27170" y="27170"/>
                  </a:cubicBezTo>
                  <a:cubicBezTo>
                    <a:pt x="44566" y="9773"/>
                    <a:pt x="68161" y="0"/>
                    <a:pt x="92764" y="0"/>
                  </a:cubicBezTo>
                  <a:close/>
                </a:path>
              </a:pathLst>
            </a:custGeom>
            <a:blipFill>
              <a:blip r:embed="rId3"/>
              <a:stretch>
                <a:fillRect l="0" t="-569" r="0" b="-569"/>
              </a:stretch>
            </a:blipFill>
            <a:ln w="19050" cap="rnd">
              <a:solidFill>
                <a:srgbClr val="222223"/>
              </a:solidFill>
              <a:prstDash val="solid"/>
              <a:round/>
            </a:ln>
          </p:spPr>
        </p:sp>
      </p:grpSp>
      <p:grpSp>
        <p:nvGrpSpPr>
          <p:cNvPr name="Group 20" id="20"/>
          <p:cNvGrpSpPr/>
          <p:nvPr/>
        </p:nvGrpSpPr>
        <p:grpSpPr>
          <a:xfrm rot="0">
            <a:off x="12600279" y="3543377"/>
            <a:ext cx="4256378" cy="3282575"/>
            <a:chOff x="0" y="0"/>
            <a:chExt cx="659424" cy="508557"/>
          </a:xfrm>
        </p:grpSpPr>
        <p:sp>
          <p:nvSpPr>
            <p:cNvPr name="Freeform 21" id="21"/>
            <p:cNvSpPr/>
            <p:nvPr/>
          </p:nvSpPr>
          <p:spPr>
            <a:xfrm flipH="false" flipV="false" rot="0">
              <a:off x="0" y="0"/>
              <a:ext cx="659424" cy="508557"/>
            </a:xfrm>
            <a:custGeom>
              <a:avLst/>
              <a:gdLst/>
              <a:ahLst/>
              <a:cxnLst/>
              <a:rect r="r" b="b" t="t" l="l"/>
              <a:pathLst>
                <a:path h="508557" w="659424">
                  <a:moveTo>
                    <a:pt x="92764" y="0"/>
                  </a:moveTo>
                  <a:lnTo>
                    <a:pt x="566661" y="0"/>
                  </a:lnTo>
                  <a:cubicBezTo>
                    <a:pt x="591263" y="0"/>
                    <a:pt x="614858" y="9773"/>
                    <a:pt x="632254" y="27170"/>
                  </a:cubicBezTo>
                  <a:cubicBezTo>
                    <a:pt x="649651" y="44566"/>
                    <a:pt x="659424" y="68161"/>
                    <a:pt x="659424" y="92764"/>
                  </a:cubicBezTo>
                  <a:lnTo>
                    <a:pt x="659424" y="415793"/>
                  </a:lnTo>
                  <a:cubicBezTo>
                    <a:pt x="659424" y="467025"/>
                    <a:pt x="617893" y="508557"/>
                    <a:pt x="566661" y="508557"/>
                  </a:cubicBezTo>
                  <a:lnTo>
                    <a:pt x="92764" y="508557"/>
                  </a:lnTo>
                  <a:cubicBezTo>
                    <a:pt x="68161" y="508557"/>
                    <a:pt x="44566" y="498783"/>
                    <a:pt x="27170" y="481387"/>
                  </a:cubicBezTo>
                  <a:cubicBezTo>
                    <a:pt x="9773" y="463990"/>
                    <a:pt x="0" y="440395"/>
                    <a:pt x="0" y="415793"/>
                  </a:cubicBezTo>
                  <a:lnTo>
                    <a:pt x="0" y="92764"/>
                  </a:lnTo>
                  <a:cubicBezTo>
                    <a:pt x="0" y="68161"/>
                    <a:pt x="9773" y="44566"/>
                    <a:pt x="27170" y="27170"/>
                  </a:cubicBezTo>
                  <a:cubicBezTo>
                    <a:pt x="44566" y="9773"/>
                    <a:pt x="68161" y="0"/>
                    <a:pt x="92764" y="0"/>
                  </a:cubicBezTo>
                  <a:close/>
                </a:path>
              </a:pathLst>
            </a:custGeom>
            <a:blipFill>
              <a:blip r:embed="rId4"/>
              <a:stretch>
                <a:fillRect l="0" t="-569" r="0" b="-569"/>
              </a:stretch>
            </a:blipFill>
            <a:ln w="19050" cap="rnd">
              <a:solidFill>
                <a:srgbClr val="222223"/>
              </a:solidFill>
              <a:prstDash val="solid"/>
              <a:round/>
            </a:ln>
          </p:spPr>
        </p:sp>
      </p:grpSp>
      <p:sp>
        <p:nvSpPr>
          <p:cNvPr name="TextBox 22" id="22"/>
          <p:cNvSpPr txBox="true"/>
          <p:nvPr/>
        </p:nvSpPr>
        <p:spPr>
          <a:xfrm rot="0">
            <a:off x="1028700"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a:t>
            </a:r>
          </a:p>
        </p:txBody>
      </p:sp>
      <p:sp>
        <p:nvSpPr>
          <p:cNvPr name="TextBox 23" id="23"/>
          <p:cNvSpPr txBox="true"/>
          <p:nvPr/>
        </p:nvSpPr>
        <p:spPr>
          <a:xfrm rot="0">
            <a:off x="15721999"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08</a:t>
            </a:r>
          </a:p>
        </p:txBody>
      </p:sp>
      <p:sp>
        <p:nvSpPr>
          <p:cNvPr name="TextBox 24" id="24"/>
          <p:cNvSpPr txBox="true"/>
          <p:nvPr/>
        </p:nvSpPr>
        <p:spPr>
          <a:xfrm rot="0">
            <a:off x="7206581" y="7131331"/>
            <a:ext cx="4065608" cy="492288"/>
          </a:xfrm>
          <a:prstGeom prst="rect">
            <a:avLst/>
          </a:prstGeom>
        </p:spPr>
        <p:txBody>
          <a:bodyPr anchor="t" rtlCol="false" tIns="0" lIns="0" bIns="0" rIns="0">
            <a:spAutoFit/>
          </a:bodyPr>
          <a:lstStyle/>
          <a:p>
            <a:pPr algn="l" marL="0" indent="0" lvl="0">
              <a:lnSpc>
                <a:spcPts val="3915"/>
              </a:lnSpc>
            </a:pPr>
            <a:r>
              <a:rPr lang="en-US" b="true" sz="2796" spc="-237">
                <a:solidFill>
                  <a:srgbClr val="FBFBFB"/>
                </a:solidFill>
                <a:latin typeface="Open Sauce Medium"/>
                <a:ea typeface="Open Sauce Medium"/>
                <a:cs typeface="Open Sauce Medium"/>
                <a:sym typeface="Open Sauce Medium"/>
              </a:rPr>
              <a:t>Maria Santos</a:t>
            </a:r>
          </a:p>
        </p:txBody>
      </p:sp>
      <p:sp>
        <p:nvSpPr>
          <p:cNvPr name="TextBox 25" id="25"/>
          <p:cNvSpPr txBox="true"/>
          <p:nvPr/>
        </p:nvSpPr>
        <p:spPr>
          <a:xfrm rot="0">
            <a:off x="1621578" y="7131331"/>
            <a:ext cx="4065608" cy="492288"/>
          </a:xfrm>
          <a:prstGeom prst="rect">
            <a:avLst/>
          </a:prstGeom>
        </p:spPr>
        <p:txBody>
          <a:bodyPr anchor="t" rtlCol="false" tIns="0" lIns="0" bIns="0" rIns="0">
            <a:spAutoFit/>
          </a:bodyPr>
          <a:lstStyle/>
          <a:p>
            <a:pPr algn="l" marL="0" indent="0" lvl="0">
              <a:lnSpc>
                <a:spcPts val="3915"/>
              </a:lnSpc>
            </a:pPr>
            <a:r>
              <a:rPr lang="en-US" b="true" sz="2796" spc="-237">
                <a:solidFill>
                  <a:srgbClr val="0D0D0D"/>
                </a:solidFill>
                <a:latin typeface="Open Sauce Medium"/>
                <a:ea typeface="Open Sauce Medium"/>
                <a:cs typeface="Open Sauce Medium"/>
                <a:sym typeface="Open Sauce Medium"/>
              </a:rPr>
              <a:t>Alex Rivera</a:t>
            </a:r>
          </a:p>
        </p:txBody>
      </p:sp>
      <p:sp>
        <p:nvSpPr>
          <p:cNvPr name="TextBox 26" id="26"/>
          <p:cNvSpPr txBox="true"/>
          <p:nvPr/>
        </p:nvSpPr>
        <p:spPr>
          <a:xfrm rot="0">
            <a:off x="12791050" y="7131331"/>
            <a:ext cx="4065608" cy="492288"/>
          </a:xfrm>
          <a:prstGeom prst="rect">
            <a:avLst/>
          </a:prstGeom>
        </p:spPr>
        <p:txBody>
          <a:bodyPr anchor="t" rtlCol="false" tIns="0" lIns="0" bIns="0" rIns="0">
            <a:spAutoFit/>
          </a:bodyPr>
          <a:lstStyle/>
          <a:p>
            <a:pPr algn="l" marL="0" indent="0" lvl="0">
              <a:lnSpc>
                <a:spcPts val="3915"/>
              </a:lnSpc>
            </a:pPr>
            <a:r>
              <a:rPr lang="en-US" b="true" sz="2796" spc="-237">
                <a:solidFill>
                  <a:srgbClr val="0D0D0D"/>
                </a:solidFill>
                <a:latin typeface="Open Sauce Medium"/>
                <a:ea typeface="Open Sauce Medium"/>
                <a:cs typeface="Open Sauce Medium"/>
                <a:sym typeface="Open Sauce Medium"/>
              </a:rPr>
              <a:t>James Okafor</a:t>
            </a:r>
          </a:p>
        </p:txBody>
      </p:sp>
      <p:sp>
        <p:nvSpPr>
          <p:cNvPr name="TextBox 27" id="27"/>
          <p:cNvSpPr txBox="true"/>
          <p:nvPr/>
        </p:nvSpPr>
        <p:spPr>
          <a:xfrm rot="0">
            <a:off x="7206581" y="7678354"/>
            <a:ext cx="4065608" cy="255265"/>
          </a:xfrm>
          <a:prstGeom prst="rect">
            <a:avLst/>
          </a:prstGeom>
        </p:spPr>
        <p:txBody>
          <a:bodyPr anchor="t" rtlCol="false" tIns="0" lIns="0" bIns="0" rIns="0">
            <a:spAutoFit/>
          </a:bodyPr>
          <a:lstStyle/>
          <a:p>
            <a:pPr algn="l" marL="0" indent="0" lvl="0">
              <a:lnSpc>
                <a:spcPts val="2125"/>
              </a:lnSpc>
            </a:pPr>
            <a:r>
              <a:rPr lang="en-US" sz="1517" i="true" spc="-85">
                <a:solidFill>
                  <a:srgbClr val="FBFBFB"/>
                </a:solidFill>
                <a:latin typeface="Open Sauce Light Italics"/>
                <a:ea typeface="Open Sauce Light Italics"/>
                <a:cs typeface="Open Sauce Light Italics"/>
                <a:sym typeface="Open Sauce Light Italics"/>
              </a:rPr>
              <a:t>Canteen Staff</a:t>
            </a:r>
          </a:p>
        </p:txBody>
      </p:sp>
      <p:sp>
        <p:nvSpPr>
          <p:cNvPr name="TextBox 28" id="28"/>
          <p:cNvSpPr txBox="true"/>
          <p:nvPr/>
        </p:nvSpPr>
        <p:spPr>
          <a:xfrm rot="0">
            <a:off x="1621578" y="7678354"/>
            <a:ext cx="4065608" cy="255265"/>
          </a:xfrm>
          <a:prstGeom prst="rect">
            <a:avLst/>
          </a:prstGeom>
        </p:spPr>
        <p:txBody>
          <a:bodyPr anchor="t" rtlCol="false" tIns="0" lIns="0" bIns="0" rIns="0">
            <a:spAutoFit/>
          </a:bodyPr>
          <a:lstStyle/>
          <a:p>
            <a:pPr algn="l" marL="0" indent="0" lvl="0">
              <a:lnSpc>
                <a:spcPts val="2125"/>
              </a:lnSpc>
            </a:pPr>
            <a:r>
              <a:rPr lang="en-US" sz="1517" i="true" spc="-85">
                <a:solidFill>
                  <a:srgbClr val="0D0D0D"/>
                </a:solidFill>
                <a:latin typeface="Open Sauce Light Italics"/>
                <a:ea typeface="Open Sauce Light Italics"/>
                <a:cs typeface="Open Sauce Light Italics"/>
                <a:sym typeface="Open Sauce Light Italics"/>
              </a:rPr>
              <a:t>Canteen Customer</a:t>
            </a:r>
          </a:p>
        </p:txBody>
      </p:sp>
      <p:sp>
        <p:nvSpPr>
          <p:cNvPr name="TextBox 29" id="29"/>
          <p:cNvSpPr txBox="true"/>
          <p:nvPr/>
        </p:nvSpPr>
        <p:spPr>
          <a:xfrm rot="0">
            <a:off x="12791050" y="7678354"/>
            <a:ext cx="4065608" cy="255265"/>
          </a:xfrm>
          <a:prstGeom prst="rect">
            <a:avLst/>
          </a:prstGeom>
        </p:spPr>
        <p:txBody>
          <a:bodyPr anchor="t" rtlCol="false" tIns="0" lIns="0" bIns="0" rIns="0">
            <a:spAutoFit/>
          </a:bodyPr>
          <a:lstStyle/>
          <a:p>
            <a:pPr algn="l" marL="0" indent="0" lvl="0">
              <a:lnSpc>
                <a:spcPts val="2125"/>
              </a:lnSpc>
            </a:pPr>
            <a:r>
              <a:rPr lang="en-US" sz="1517" i="true" spc="-85">
                <a:solidFill>
                  <a:srgbClr val="0D0D0D"/>
                </a:solidFill>
                <a:latin typeface="Open Sauce Light Italics"/>
                <a:ea typeface="Open Sauce Light Italics"/>
                <a:cs typeface="Open Sauce Light Italics"/>
                <a:sym typeface="Open Sauce Light Italics"/>
              </a:rPr>
              <a:t>System Administrator</a:t>
            </a:r>
          </a:p>
        </p:txBody>
      </p:sp>
      <p:sp>
        <p:nvSpPr>
          <p:cNvPr name="TextBox 30" id="30"/>
          <p:cNvSpPr txBox="true"/>
          <p:nvPr/>
        </p:nvSpPr>
        <p:spPr>
          <a:xfrm rot="0">
            <a:off x="7206581" y="8155940"/>
            <a:ext cx="4065608" cy="1102389"/>
          </a:xfrm>
          <a:prstGeom prst="rect">
            <a:avLst/>
          </a:prstGeom>
        </p:spPr>
        <p:txBody>
          <a:bodyPr anchor="t" rtlCol="false" tIns="0" lIns="0" bIns="0" rIns="0">
            <a:spAutoFit/>
          </a:bodyPr>
          <a:lstStyle/>
          <a:p>
            <a:pPr algn="l" marL="0" indent="0" lvl="0">
              <a:lnSpc>
                <a:spcPts val="2238"/>
              </a:lnSpc>
            </a:pPr>
            <a:r>
              <a:rPr lang="en-US" sz="1598" i="true" spc="-89">
                <a:solidFill>
                  <a:srgbClr val="FBFBFB"/>
                </a:solidFill>
                <a:latin typeface="Open Sauce Light Italics"/>
                <a:ea typeface="Open Sauce Light Italics"/>
                <a:cs typeface="Open Sauce Light Italics"/>
                <a:sym typeface="Open Sauce Light Italics"/>
              </a:rPr>
              <a:t>Receives and processes incoming orders through the staff dashboard, manages food preparation queues, updates order statuses, and coordinates efficient service delivery.</a:t>
            </a:r>
          </a:p>
        </p:txBody>
      </p:sp>
      <p:sp>
        <p:nvSpPr>
          <p:cNvPr name="TextBox 31" id="31"/>
          <p:cNvSpPr txBox="true"/>
          <p:nvPr/>
        </p:nvSpPr>
        <p:spPr>
          <a:xfrm rot="0">
            <a:off x="1621578" y="8155940"/>
            <a:ext cx="4065608" cy="1102389"/>
          </a:xfrm>
          <a:prstGeom prst="rect">
            <a:avLst/>
          </a:prstGeom>
        </p:spPr>
        <p:txBody>
          <a:bodyPr anchor="t" rtlCol="false" tIns="0" lIns="0" bIns="0" rIns="0">
            <a:spAutoFit/>
          </a:bodyPr>
          <a:lstStyle/>
          <a:p>
            <a:pPr algn="l" marL="0" indent="0" lvl="0">
              <a:lnSpc>
                <a:spcPts val="2238"/>
              </a:lnSpc>
            </a:pPr>
            <a:r>
              <a:rPr lang="en-US" sz="1598" i="true" spc="-89">
                <a:solidFill>
                  <a:srgbClr val="0D0D0D"/>
                </a:solidFill>
                <a:latin typeface="Open Sauce Light Italics"/>
                <a:ea typeface="Open Sauce Light Italics"/>
                <a:cs typeface="Open Sauce Light Italics"/>
                <a:sym typeface="Open Sauce Light Italics"/>
              </a:rPr>
              <a:t>Browses the digital menu, places orders via mobile or kiosk, tracks queue status in real time, and receives notifications when their order is ready for pickup.</a:t>
            </a:r>
          </a:p>
        </p:txBody>
      </p:sp>
      <p:sp>
        <p:nvSpPr>
          <p:cNvPr name="TextBox 32" id="32"/>
          <p:cNvSpPr txBox="true"/>
          <p:nvPr/>
        </p:nvSpPr>
        <p:spPr>
          <a:xfrm rot="0">
            <a:off x="12791050" y="8155940"/>
            <a:ext cx="4065608" cy="1102389"/>
          </a:xfrm>
          <a:prstGeom prst="rect">
            <a:avLst/>
          </a:prstGeom>
        </p:spPr>
        <p:txBody>
          <a:bodyPr anchor="t" rtlCol="false" tIns="0" lIns="0" bIns="0" rIns="0">
            <a:spAutoFit/>
          </a:bodyPr>
          <a:lstStyle/>
          <a:p>
            <a:pPr algn="l" marL="0" indent="0" lvl="0">
              <a:lnSpc>
                <a:spcPts val="2238"/>
              </a:lnSpc>
            </a:pPr>
            <a:r>
              <a:rPr lang="en-US" sz="1598" i="true" spc="-89">
                <a:solidFill>
                  <a:srgbClr val="0D0D0D"/>
                </a:solidFill>
                <a:latin typeface="Open Sauce Light Italics"/>
                <a:ea typeface="Open Sauce Light Italics"/>
                <a:cs typeface="Open Sauce Light Italics"/>
                <a:sym typeface="Open Sauce Light Italics"/>
              </a:rPr>
              <a:t>Oversees the entire canteen system, manages menus and pricing, monitors daily operations and analytics, and configures user access roles and system settings.</a:t>
            </a:r>
          </a:p>
        </p:txBody>
      </p:sp>
      <p:sp>
        <p:nvSpPr>
          <p:cNvPr name="TextBox 33" id="33"/>
          <p:cNvSpPr txBox="true"/>
          <p:nvPr/>
        </p:nvSpPr>
        <p:spPr>
          <a:xfrm rot="0">
            <a:off x="373016" y="2041940"/>
            <a:ext cx="17541968" cy="929731"/>
          </a:xfrm>
          <a:prstGeom prst="rect">
            <a:avLst/>
          </a:prstGeom>
        </p:spPr>
        <p:txBody>
          <a:bodyPr anchor="t" rtlCol="false" tIns="0" lIns="0" bIns="0" rIns="0">
            <a:spAutoFit/>
          </a:bodyPr>
          <a:lstStyle/>
          <a:p>
            <a:pPr algn="ctr" marL="0" indent="0" lvl="0">
              <a:lnSpc>
                <a:spcPts val="6887"/>
              </a:lnSpc>
            </a:pPr>
            <a:r>
              <a:rPr lang="en-US" b="true" sz="7652" spc="-459">
                <a:solidFill>
                  <a:srgbClr val="222223"/>
                </a:solidFill>
                <a:latin typeface="Open Sauce Bold"/>
                <a:ea typeface="Open Sauce Bold"/>
                <a:cs typeface="Open Sauce Bold"/>
                <a:sym typeface="Open Sauce Bold"/>
              </a:rPr>
              <a:t>Meet Our Key System Users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8F8F8">
                <a:alpha val="100000"/>
              </a:srgbClr>
            </a:gs>
            <a:gs pos="100000">
              <a:srgbClr val="F6F6F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H="true">
            <a:off x="-1032429" y="6690895"/>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3" id="3"/>
          <p:cNvSpPr/>
          <p:nvPr/>
        </p:nvSpPr>
        <p:spPr>
          <a:xfrm flipH="true">
            <a:off x="-1032429" y="3578423"/>
            <a:ext cx="20352859" cy="0"/>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4" id="4"/>
          <p:cNvSpPr/>
          <p:nvPr/>
        </p:nvSpPr>
        <p:spPr>
          <a:xfrm>
            <a:off x="5417397"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5" id="5"/>
          <p:cNvSpPr/>
          <p:nvPr/>
        </p:nvSpPr>
        <p:spPr>
          <a:xfrm>
            <a:off x="8551122" y="-249461"/>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sp>
        <p:nvSpPr>
          <p:cNvPr name="AutoShape 6" id="6"/>
          <p:cNvSpPr/>
          <p:nvPr/>
        </p:nvSpPr>
        <p:spPr>
          <a:xfrm>
            <a:off x="2283672" y="-524342"/>
            <a:ext cx="0" cy="11506601"/>
          </a:xfrm>
          <a:prstGeom prst="line">
            <a:avLst/>
          </a:prstGeom>
          <a:ln cap="flat" w="19050">
            <a:gradFill>
              <a:gsLst>
                <a:gs pos="0">
                  <a:srgbClr val="5F6265">
                    <a:alpha val="11000"/>
                  </a:srgbClr>
                </a:gs>
                <a:gs pos="50000">
                  <a:srgbClr val="5F6265">
                    <a:alpha val="11000"/>
                  </a:srgbClr>
                </a:gs>
                <a:gs pos="100000">
                  <a:srgbClr val="222223">
                    <a:alpha val="11000"/>
                  </a:srgbClr>
                </a:gs>
              </a:gsLst>
              <a:lin ang="0"/>
            </a:gradFill>
            <a:prstDash val="solid"/>
            <a:headEnd type="none" len="sm" w="sm"/>
            <a:tailEnd type="none" len="sm" w="sm"/>
          </a:ln>
        </p:spPr>
      </p:sp>
      <p:grpSp>
        <p:nvGrpSpPr>
          <p:cNvPr name="Group 7" id="7"/>
          <p:cNvGrpSpPr/>
          <p:nvPr/>
        </p:nvGrpSpPr>
        <p:grpSpPr>
          <a:xfrm rot="0">
            <a:off x="11900294" y="-429985"/>
            <a:ext cx="6960165" cy="11146969"/>
            <a:chOff x="0" y="0"/>
            <a:chExt cx="1078312" cy="1726957"/>
          </a:xfrm>
        </p:grpSpPr>
        <p:sp>
          <p:nvSpPr>
            <p:cNvPr name="Freeform 8" id="8"/>
            <p:cNvSpPr/>
            <p:nvPr/>
          </p:nvSpPr>
          <p:spPr>
            <a:xfrm flipH="false" flipV="false" rot="0">
              <a:off x="0" y="0"/>
              <a:ext cx="1078312" cy="1726957"/>
            </a:xfrm>
            <a:custGeom>
              <a:avLst/>
              <a:gdLst/>
              <a:ahLst/>
              <a:cxnLst/>
              <a:rect r="r" b="b" t="t" l="l"/>
              <a:pathLst>
                <a:path h="1726957" w="1078312">
                  <a:moveTo>
                    <a:pt x="0" y="0"/>
                  </a:moveTo>
                  <a:lnTo>
                    <a:pt x="1078312" y="0"/>
                  </a:lnTo>
                  <a:lnTo>
                    <a:pt x="1078312" y="1726957"/>
                  </a:lnTo>
                  <a:lnTo>
                    <a:pt x="0" y="1726957"/>
                  </a:lnTo>
                  <a:close/>
                </a:path>
              </a:pathLst>
            </a:custGeom>
            <a:blipFill>
              <a:blip r:embed="rId2"/>
              <a:stretch>
                <a:fillRect l="-17461" t="-11330" r="-16101" b="0"/>
              </a:stretch>
            </a:blipFill>
            <a:ln w="19050" cap="sq">
              <a:solidFill>
                <a:srgbClr val="000000"/>
              </a:solidFill>
              <a:prstDash val="solid"/>
              <a:miter/>
            </a:ln>
          </p:spPr>
        </p:sp>
      </p:grpSp>
      <p:grpSp>
        <p:nvGrpSpPr>
          <p:cNvPr name="Group 9" id="9"/>
          <p:cNvGrpSpPr/>
          <p:nvPr/>
        </p:nvGrpSpPr>
        <p:grpSpPr>
          <a:xfrm rot="0">
            <a:off x="576919" y="1746421"/>
            <a:ext cx="15948405" cy="6083932"/>
            <a:chOff x="0" y="0"/>
            <a:chExt cx="4200403" cy="1602353"/>
          </a:xfrm>
        </p:grpSpPr>
        <p:sp>
          <p:nvSpPr>
            <p:cNvPr name="Freeform 10" id="10"/>
            <p:cNvSpPr/>
            <p:nvPr/>
          </p:nvSpPr>
          <p:spPr>
            <a:xfrm flipH="false" flipV="false" rot="0">
              <a:off x="0" y="0"/>
              <a:ext cx="4200403" cy="1602352"/>
            </a:xfrm>
            <a:custGeom>
              <a:avLst/>
              <a:gdLst/>
              <a:ahLst/>
              <a:cxnLst/>
              <a:rect r="r" b="b" t="t" l="l"/>
              <a:pathLst>
                <a:path h="1602352" w="4200403">
                  <a:moveTo>
                    <a:pt x="23786" y="0"/>
                  </a:moveTo>
                  <a:lnTo>
                    <a:pt x="4176617" y="0"/>
                  </a:lnTo>
                  <a:cubicBezTo>
                    <a:pt x="4182925" y="0"/>
                    <a:pt x="4188975" y="2506"/>
                    <a:pt x="4193436" y="6967"/>
                  </a:cubicBezTo>
                  <a:cubicBezTo>
                    <a:pt x="4197897" y="11428"/>
                    <a:pt x="4200403" y="17478"/>
                    <a:pt x="4200403" y="23786"/>
                  </a:cubicBezTo>
                  <a:lnTo>
                    <a:pt x="4200403" y="1578566"/>
                  </a:lnTo>
                  <a:cubicBezTo>
                    <a:pt x="4200403" y="1584875"/>
                    <a:pt x="4197897" y="1590925"/>
                    <a:pt x="4193436" y="1595386"/>
                  </a:cubicBezTo>
                  <a:cubicBezTo>
                    <a:pt x="4188975" y="1599846"/>
                    <a:pt x="4182925" y="1602352"/>
                    <a:pt x="4176617" y="1602352"/>
                  </a:cubicBezTo>
                  <a:lnTo>
                    <a:pt x="23786" y="1602352"/>
                  </a:lnTo>
                  <a:cubicBezTo>
                    <a:pt x="17478" y="1602352"/>
                    <a:pt x="11428" y="1599846"/>
                    <a:pt x="6967" y="1595386"/>
                  </a:cubicBezTo>
                  <a:cubicBezTo>
                    <a:pt x="2506" y="1590925"/>
                    <a:pt x="0" y="1584875"/>
                    <a:pt x="0" y="1578566"/>
                  </a:cubicBezTo>
                  <a:lnTo>
                    <a:pt x="0" y="23786"/>
                  </a:lnTo>
                  <a:cubicBezTo>
                    <a:pt x="0" y="17478"/>
                    <a:pt x="2506" y="11428"/>
                    <a:pt x="6967" y="6967"/>
                  </a:cubicBezTo>
                  <a:cubicBezTo>
                    <a:pt x="11428" y="2506"/>
                    <a:pt x="17478" y="0"/>
                    <a:pt x="23786" y="0"/>
                  </a:cubicBezTo>
                  <a:close/>
                </a:path>
              </a:pathLst>
            </a:custGeom>
            <a:solidFill>
              <a:srgbClr val="FFFFFF"/>
            </a:solidFill>
            <a:ln w="38100" cap="rnd">
              <a:solidFill>
                <a:srgbClr val="000000"/>
              </a:solidFill>
              <a:prstDash val="solid"/>
              <a:round/>
            </a:ln>
          </p:spPr>
        </p:sp>
        <p:sp>
          <p:nvSpPr>
            <p:cNvPr name="TextBox 11" id="11"/>
            <p:cNvSpPr txBox="true"/>
            <p:nvPr/>
          </p:nvSpPr>
          <p:spPr>
            <a:xfrm>
              <a:off x="0" y="-38100"/>
              <a:ext cx="4200403" cy="1640453"/>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5584634" y="2255596"/>
            <a:ext cx="469589" cy="46958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230812" y="0"/>
                  </a:moveTo>
                  <a:lnTo>
                    <a:pt x="581988" y="0"/>
                  </a:lnTo>
                  <a:cubicBezTo>
                    <a:pt x="709462" y="0"/>
                    <a:pt x="812800" y="103338"/>
                    <a:pt x="812800" y="230812"/>
                  </a:cubicBezTo>
                  <a:lnTo>
                    <a:pt x="812800" y="581988"/>
                  </a:lnTo>
                  <a:cubicBezTo>
                    <a:pt x="812800" y="709462"/>
                    <a:pt x="709462" y="812800"/>
                    <a:pt x="581988" y="812800"/>
                  </a:cubicBezTo>
                  <a:lnTo>
                    <a:pt x="230812" y="812800"/>
                  </a:lnTo>
                  <a:cubicBezTo>
                    <a:pt x="103338" y="812800"/>
                    <a:pt x="0" y="709462"/>
                    <a:pt x="0" y="581988"/>
                  </a:cubicBezTo>
                  <a:lnTo>
                    <a:pt x="0" y="230812"/>
                  </a:lnTo>
                  <a:cubicBezTo>
                    <a:pt x="0" y="103338"/>
                    <a:pt x="103338" y="0"/>
                    <a:pt x="230812" y="0"/>
                  </a:cubicBezTo>
                  <a:close/>
                </a:path>
              </a:pathLst>
            </a:custGeom>
            <a:gradFill rotWithShape="true">
              <a:gsLst>
                <a:gs pos="0">
                  <a:srgbClr val="EB3A84">
                    <a:alpha val="100000"/>
                  </a:srgbClr>
                </a:gs>
                <a:gs pos="100000">
                  <a:srgbClr val="BF105A">
                    <a:alpha val="100000"/>
                  </a:srgbClr>
                </a:gs>
              </a:gsLst>
              <a:lin ang="0"/>
            </a:gradFill>
            <a:ln w="19050" cap="sq">
              <a:solidFill>
                <a:srgbClr val="000000"/>
              </a:solidFill>
              <a:prstDash val="solid"/>
              <a:miter/>
            </a:ln>
          </p:spPr>
        </p:sp>
        <p:sp>
          <p:nvSpPr>
            <p:cNvPr name="TextBox 14" id="14"/>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pPr>
            </a:p>
          </p:txBody>
        </p:sp>
      </p:grpSp>
      <p:sp>
        <p:nvSpPr>
          <p:cNvPr name="TextBox 15" id="15"/>
          <p:cNvSpPr txBox="true"/>
          <p:nvPr/>
        </p:nvSpPr>
        <p:spPr>
          <a:xfrm rot="0">
            <a:off x="1040885" y="2715855"/>
            <a:ext cx="8833227" cy="2428887"/>
          </a:xfrm>
          <a:prstGeom prst="rect">
            <a:avLst/>
          </a:prstGeom>
        </p:spPr>
        <p:txBody>
          <a:bodyPr anchor="t" rtlCol="false" tIns="0" lIns="0" bIns="0" rIns="0">
            <a:spAutoFit/>
          </a:bodyPr>
          <a:lstStyle/>
          <a:p>
            <a:pPr algn="l" marL="0" indent="0" lvl="0">
              <a:lnSpc>
                <a:spcPts val="17741"/>
              </a:lnSpc>
            </a:pPr>
            <a:r>
              <a:rPr lang="en-US" b="true" sz="19712" spc="-1182">
                <a:solidFill>
                  <a:srgbClr val="222223"/>
                </a:solidFill>
                <a:latin typeface="Open Sauce Bold"/>
                <a:ea typeface="Open Sauce Bold"/>
                <a:cs typeface="Open Sauce Bold"/>
                <a:sym typeface="Open Sauce Bold"/>
              </a:rPr>
              <a:t>Thank</a:t>
            </a:r>
          </a:p>
        </p:txBody>
      </p:sp>
      <p:sp>
        <p:nvSpPr>
          <p:cNvPr name="TextBox 16" id="16"/>
          <p:cNvSpPr txBox="true"/>
          <p:nvPr/>
        </p:nvSpPr>
        <p:spPr>
          <a:xfrm rot="0">
            <a:off x="1040885" y="5180616"/>
            <a:ext cx="8833227" cy="2241792"/>
          </a:xfrm>
          <a:prstGeom prst="rect">
            <a:avLst/>
          </a:prstGeom>
        </p:spPr>
        <p:txBody>
          <a:bodyPr anchor="t" rtlCol="false" tIns="0" lIns="0" bIns="0" rIns="0">
            <a:spAutoFit/>
          </a:bodyPr>
          <a:lstStyle/>
          <a:p>
            <a:pPr algn="l" marL="0" indent="0" lvl="0">
              <a:lnSpc>
                <a:spcPts val="16399"/>
              </a:lnSpc>
            </a:pPr>
            <a:r>
              <a:rPr lang="en-US" sz="18221" spc="-1093">
                <a:solidFill>
                  <a:srgbClr val="222223"/>
                </a:solidFill>
                <a:latin typeface="Open Sauce"/>
                <a:ea typeface="Open Sauce"/>
                <a:cs typeface="Open Sauce"/>
                <a:sym typeface="Open Sauce"/>
              </a:rPr>
              <a:t>You!</a:t>
            </a:r>
          </a:p>
        </p:txBody>
      </p:sp>
      <p:sp>
        <p:nvSpPr>
          <p:cNvPr name="TextBox 17" id="17"/>
          <p:cNvSpPr txBox="true"/>
          <p:nvPr/>
        </p:nvSpPr>
        <p:spPr>
          <a:xfrm rot="0">
            <a:off x="576919" y="812025"/>
            <a:ext cx="3165747" cy="372784"/>
          </a:xfrm>
          <a:prstGeom prst="rect">
            <a:avLst/>
          </a:prstGeom>
        </p:spPr>
        <p:txBody>
          <a:bodyPr anchor="t" rtlCol="false" tIns="0" lIns="0" bIns="0" rIns="0">
            <a:spAutoFit/>
          </a:bodyPr>
          <a:lstStyle/>
          <a:p>
            <a:pPr algn="l" marL="0" indent="0" lvl="0">
              <a:lnSpc>
                <a:spcPts val="3077"/>
              </a:lnSpc>
            </a:pPr>
            <a:r>
              <a:rPr lang="en-US" b="true" sz="2198" spc="-112">
                <a:gradFill>
                  <a:gsLst>
                    <a:gs pos="0">
                      <a:srgbClr val="EB3A84">
                        <a:alpha val="100000"/>
                      </a:srgbClr>
                    </a:gs>
                    <a:gs pos="100000">
                      <a:srgbClr val="BF105A">
                        <a:alpha val="100000"/>
                      </a:srgbClr>
                    </a:gs>
                  </a:gsLst>
                  <a:lin ang="0"/>
                </a:gradFill>
                <a:latin typeface="Open Sauce Bold"/>
                <a:ea typeface="Open Sauce Bold"/>
                <a:cs typeface="Open Sauce Bold"/>
                <a:sym typeface="Open Sauce Bold"/>
              </a:rPr>
              <a:t>Smart Canteen System</a:t>
            </a:r>
          </a:p>
        </p:txBody>
      </p:sp>
      <p:sp>
        <p:nvSpPr>
          <p:cNvPr name="TextBox 18" id="18"/>
          <p:cNvSpPr txBox="true"/>
          <p:nvPr/>
        </p:nvSpPr>
        <p:spPr>
          <a:xfrm rot="0">
            <a:off x="9874112" y="705202"/>
            <a:ext cx="2026182" cy="580381"/>
          </a:xfrm>
          <a:prstGeom prst="rect">
            <a:avLst/>
          </a:prstGeom>
        </p:spPr>
        <p:txBody>
          <a:bodyPr anchor="t" rtlCol="false" tIns="0" lIns="0" bIns="0" rIns="0">
            <a:spAutoFit/>
          </a:bodyPr>
          <a:lstStyle/>
          <a:p>
            <a:pPr algn="ctr" marL="0" indent="0" lvl="0">
              <a:lnSpc>
                <a:spcPts val="4760"/>
              </a:lnSpc>
            </a:pPr>
            <a:r>
              <a:rPr lang="en-US" sz="3400" spc="-173">
                <a:solidFill>
                  <a:srgbClr val="222223"/>
                </a:solidFill>
                <a:latin typeface="Open Sauce"/>
                <a:ea typeface="Open Sauce"/>
                <a:cs typeface="Open Sauce"/>
                <a:sym typeface="Open Sauce"/>
              </a:rPr>
              <a:t>2030</a:t>
            </a:r>
          </a:p>
        </p:txBody>
      </p:sp>
      <p:sp>
        <p:nvSpPr>
          <p:cNvPr name="TextBox 19" id="19"/>
          <p:cNvSpPr txBox="true"/>
          <p:nvPr/>
        </p:nvSpPr>
        <p:spPr>
          <a:xfrm rot="0">
            <a:off x="1040885" y="8382804"/>
            <a:ext cx="8305755" cy="906425"/>
          </a:xfrm>
          <a:prstGeom prst="rect">
            <a:avLst/>
          </a:prstGeom>
        </p:spPr>
        <p:txBody>
          <a:bodyPr anchor="t" rtlCol="false" tIns="0" lIns="0" bIns="0" rIns="0">
            <a:spAutoFit/>
          </a:bodyPr>
          <a:lstStyle/>
          <a:p>
            <a:pPr algn="l" marL="0" indent="0" lvl="0">
              <a:lnSpc>
                <a:spcPts val="2446"/>
              </a:lnSpc>
            </a:pPr>
            <a:r>
              <a:rPr lang="en-US" sz="1798" i="true" spc="-44">
                <a:solidFill>
                  <a:srgbClr val="222223"/>
                </a:solidFill>
                <a:latin typeface="DM Sans Italics"/>
                <a:ea typeface="DM Sans Italics"/>
                <a:cs typeface="DM Sans Italics"/>
                <a:sym typeface="DM Sans Italics"/>
              </a:rPr>
              <a:t>Transform your canteen experience with smart ordering and real-time queue management. Join us in building a faster, smarter, and more efficient campus dining solution for everyone.</a:t>
            </a:r>
          </a:p>
        </p:txBody>
      </p:sp>
      <p:sp>
        <p:nvSpPr>
          <p:cNvPr name="Freeform 20" id="20"/>
          <p:cNvSpPr/>
          <p:nvPr/>
        </p:nvSpPr>
        <p:spPr>
          <a:xfrm flipH="false" flipV="false" rot="0">
            <a:off x="9725302" y="4892060"/>
            <a:ext cx="533864" cy="533864"/>
          </a:xfrm>
          <a:custGeom>
            <a:avLst/>
            <a:gdLst/>
            <a:ahLst/>
            <a:cxnLst/>
            <a:rect r="r" b="b" t="t" l="l"/>
            <a:pathLst>
              <a:path h="533864" w="533864">
                <a:moveTo>
                  <a:pt x="0" y="0"/>
                </a:moveTo>
                <a:lnTo>
                  <a:pt x="533865" y="0"/>
                </a:lnTo>
                <a:lnTo>
                  <a:pt x="533865" y="533864"/>
                </a:lnTo>
                <a:lnTo>
                  <a:pt x="0" y="533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9725302" y="5738847"/>
            <a:ext cx="533864" cy="533864"/>
          </a:xfrm>
          <a:custGeom>
            <a:avLst/>
            <a:gdLst/>
            <a:ahLst/>
            <a:cxnLst/>
            <a:rect r="r" b="b" t="t" l="l"/>
            <a:pathLst>
              <a:path h="533864" w="533864">
                <a:moveTo>
                  <a:pt x="0" y="0"/>
                </a:moveTo>
                <a:lnTo>
                  <a:pt x="533865" y="0"/>
                </a:lnTo>
                <a:lnTo>
                  <a:pt x="533865" y="533864"/>
                </a:lnTo>
                <a:lnTo>
                  <a:pt x="0" y="5338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22" id="22"/>
          <p:cNvSpPr/>
          <p:nvPr/>
        </p:nvSpPr>
        <p:spPr>
          <a:xfrm flipH="false" flipV="false" rot="0">
            <a:off x="9725302" y="6644186"/>
            <a:ext cx="533864" cy="533864"/>
          </a:xfrm>
          <a:custGeom>
            <a:avLst/>
            <a:gdLst/>
            <a:ahLst/>
            <a:cxnLst/>
            <a:rect r="r" b="b" t="t" l="l"/>
            <a:pathLst>
              <a:path h="533864" w="533864">
                <a:moveTo>
                  <a:pt x="0" y="0"/>
                </a:moveTo>
                <a:lnTo>
                  <a:pt x="533865" y="0"/>
                </a:lnTo>
                <a:lnTo>
                  <a:pt x="533865" y="533865"/>
                </a:lnTo>
                <a:lnTo>
                  <a:pt x="0" y="53386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3" id="23"/>
          <p:cNvSpPr txBox="true"/>
          <p:nvPr/>
        </p:nvSpPr>
        <p:spPr>
          <a:xfrm rot="0">
            <a:off x="10500322" y="5743450"/>
            <a:ext cx="5319107" cy="427062"/>
          </a:xfrm>
          <a:prstGeom prst="rect">
            <a:avLst/>
          </a:prstGeom>
        </p:spPr>
        <p:txBody>
          <a:bodyPr anchor="t" rtlCol="false" tIns="0" lIns="0" bIns="0" rIns="0">
            <a:spAutoFit/>
          </a:bodyPr>
          <a:lstStyle/>
          <a:p>
            <a:pPr algn="l" marL="0" indent="0" lvl="0">
              <a:lnSpc>
                <a:spcPts val="3431"/>
              </a:lnSpc>
              <a:spcBef>
                <a:spcPct val="0"/>
              </a:spcBef>
            </a:pPr>
            <a:r>
              <a:rPr lang="en-US" sz="2450" spc="-78" strike="noStrike" u="none">
                <a:solidFill>
                  <a:srgbClr val="222223"/>
                </a:solidFill>
                <a:latin typeface="Aileron"/>
                <a:ea typeface="Aileron"/>
                <a:cs typeface="Aileron"/>
                <a:sym typeface="Aileron"/>
              </a:rPr>
              <a:t>smartcanteen@institution.edu</a:t>
            </a:r>
          </a:p>
        </p:txBody>
      </p:sp>
      <p:sp>
        <p:nvSpPr>
          <p:cNvPr name="TextBox 24" id="24"/>
          <p:cNvSpPr txBox="true"/>
          <p:nvPr/>
        </p:nvSpPr>
        <p:spPr>
          <a:xfrm rot="0">
            <a:off x="10500322" y="6648789"/>
            <a:ext cx="5297348" cy="427062"/>
          </a:xfrm>
          <a:prstGeom prst="rect">
            <a:avLst/>
          </a:prstGeom>
        </p:spPr>
        <p:txBody>
          <a:bodyPr anchor="t" rtlCol="false" tIns="0" lIns="0" bIns="0" rIns="0">
            <a:spAutoFit/>
          </a:bodyPr>
          <a:lstStyle/>
          <a:p>
            <a:pPr algn="l" marL="0" indent="0" lvl="0">
              <a:lnSpc>
                <a:spcPts val="3431"/>
              </a:lnSpc>
              <a:spcBef>
                <a:spcPct val="0"/>
              </a:spcBef>
            </a:pPr>
            <a:r>
              <a:rPr lang="en-US" sz="2450" spc="-78">
                <a:solidFill>
                  <a:srgbClr val="222223"/>
                </a:solidFill>
                <a:latin typeface="Aileron"/>
                <a:ea typeface="Aileron"/>
                <a:cs typeface="Aileron"/>
                <a:sym typeface="Aileron"/>
              </a:rPr>
              <a:t>Canteen Block, Main Campus, ST 12345</a:t>
            </a:r>
          </a:p>
        </p:txBody>
      </p:sp>
      <p:sp>
        <p:nvSpPr>
          <p:cNvPr name="TextBox 25" id="25"/>
          <p:cNvSpPr txBox="true"/>
          <p:nvPr/>
        </p:nvSpPr>
        <p:spPr>
          <a:xfrm rot="0">
            <a:off x="10500322" y="4896662"/>
            <a:ext cx="3483390" cy="427062"/>
          </a:xfrm>
          <a:prstGeom prst="rect">
            <a:avLst/>
          </a:prstGeom>
        </p:spPr>
        <p:txBody>
          <a:bodyPr anchor="t" rtlCol="false" tIns="0" lIns="0" bIns="0" rIns="0">
            <a:spAutoFit/>
          </a:bodyPr>
          <a:lstStyle/>
          <a:p>
            <a:pPr algn="l" marL="0" indent="0" lvl="0">
              <a:lnSpc>
                <a:spcPts val="3431"/>
              </a:lnSpc>
              <a:spcBef>
                <a:spcPct val="0"/>
              </a:spcBef>
            </a:pPr>
            <a:r>
              <a:rPr lang="en-US" sz="2450" spc="-78" strike="noStrike" u="none">
                <a:solidFill>
                  <a:srgbClr val="222223"/>
                </a:solidFill>
                <a:latin typeface="Aileron"/>
                <a:ea typeface="Aileron"/>
                <a:cs typeface="Aileron"/>
                <a:sym typeface="Aileron"/>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DAHVm86TwBU</dc:identifier>
  <dcterms:modified xsi:type="dcterms:W3CDTF">2011-08-01T06:04:30Z</dcterms:modified>
  <cp:revision>1</cp:revision>
</cp:coreProperties>
</file>