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" y="-6"/>
            <a:ext cx="9144021" cy="51435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0F172A">
              <a:alpha val="6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42946" y="1835229"/>
            <a:ext cx="247651" cy="28575"/>
          </a:xfrm>
          <a:prstGeom prst="roundRect">
            <a:avLst>
              <a:gd name="adj" fmla="val 400000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1057664" y="1780460"/>
            <a:ext cx="220028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99F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 DINING, REIMAGINED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3923" y="2050222"/>
            <a:ext cx="3805246" cy="7429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6"/>
              </a:lnSpc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Canteen Queue</a:t>
            </a:r>
            <a:pPr algn="l" indent="0" marL="0">
              <a:buNone/>
            </a:pPr>
            <a:endParaRPr lang="en-US" sz="2700" dirty="0"/>
          </a:p>
          <a:p>
            <a:pPr algn="l" indent="0" marL="0">
              <a:lnSpc>
                <a:spcPts val="2916"/>
              </a:lnSpc>
              <a:spcAft>
                <a:spcPts val="10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Order Management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42937" y="2924857"/>
            <a:ext cx="3905259" cy="43815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Efficiency-focused campus dining made faster, simpler, and more predictable.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61436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CANTEEN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66727"/>
            <a:ext cx="822961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Agenda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192" y="982553"/>
            <a:ext cx="8229619" cy="2047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today’s queue friction to a smoother student pickup experience.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15" y="1730411"/>
            <a:ext cx="5876938" cy="94774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3825" dist="47625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602" y="2032805"/>
            <a:ext cx="342901" cy="342901"/>
          </a:xfrm>
          <a:prstGeom prst="roundRect">
            <a:avLst>
              <a:gd name="adj" fmla="val 18518"/>
            </a:avLst>
          </a:prstGeom>
          <a:solidFill>
            <a:srgbClr val="E6FF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05" y="2123313"/>
            <a:ext cx="161890" cy="1618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4384" y="2017369"/>
            <a:ext cx="3724284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canteen challenges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4384" y="2238561"/>
            <a:ext cx="3724284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waiting, crowding, and uncertainty slow the lunch rush.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15" y="2791803"/>
            <a:ext cx="5876938" cy="94774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3825" dist="47625" dir="5400000">
              <a:srgbClr val="0F172A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602" y="3094221"/>
            <a:ext cx="342901" cy="342901"/>
          </a:xfrm>
          <a:prstGeom prst="roundRect">
            <a:avLst>
              <a:gd name="adj" fmla="val 18518"/>
            </a:avLst>
          </a:prstGeom>
          <a:solidFill>
            <a:srgbClr val="EFF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05" y="3184730"/>
            <a:ext cx="161890" cy="1618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2280" y="3078735"/>
            <a:ext cx="3686183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queue solution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32280" y="3299926"/>
            <a:ext cx="368618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digital approach to organizing orders before students arrive.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15" y="3853196"/>
            <a:ext cx="5876938" cy="947740"/>
          </a:xfrm>
          <a:prstGeom prst="roundRect">
            <a:avLst>
              <a:gd name="adj" fmla="val 11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3825" dist="47625" dir="5400000">
              <a:srgbClr val="0F172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7602" y="4155589"/>
            <a:ext cx="342901" cy="342901"/>
          </a:xfrm>
          <a:prstGeom prst="roundRect">
            <a:avLst>
              <a:gd name="adj" fmla="val 18518"/>
            </a:avLst>
          </a:prstGeom>
          <a:solidFill>
            <a:srgbClr val="ECFD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05" y="4246095"/>
            <a:ext cx="161890" cy="1618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32147" y="4140151"/>
            <a:ext cx="335757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and pickup workflow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32147" y="4361341"/>
            <a:ext cx="335757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the streamlined path from selection to collection.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638985" y="1729763"/>
            <a:ext cx="2047880" cy="3071820"/>
          </a:xfrm>
          <a:prstGeom prst="roundRect">
            <a:avLst>
              <a:gd name="adj" fmla="val 290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42875" dist="66675" dir="5400000">
              <a:srgbClr val="0F766E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19926" y="1930711"/>
            <a:ext cx="314326" cy="314326"/>
          </a:xfrm>
          <a:prstGeom prst="roundRect">
            <a:avLst>
              <a:gd name="adj" fmla="val 19835"/>
            </a:avLst>
          </a:prstGeom>
          <a:solidFill>
            <a:srgbClr val="14B8A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906" y="2011692"/>
            <a:ext cx="152367" cy="1523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9958" y="2339533"/>
            <a:ext cx="1685929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destination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19958" y="2644578"/>
            <a:ext cx="1685929" cy="55721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00" dirty="0">
                <a:solidFill>
                  <a:srgbClr val="D1FA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faster, clearer experience for students and canteen teams.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819958" y="4338499"/>
            <a:ext cx="1685929" cy="261938"/>
          </a:xfrm>
          <a:prstGeom prst="rect">
            <a:avLst/>
          </a:prstGeom>
          <a:ln/>
        </p:spPr>
      </p:sp>
      <p:sp>
        <p:nvSpPr>
          <p:cNvPr id="28" name="Text 22"/>
          <p:cNvSpPr/>
          <p:nvPr/>
        </p:nvSpPr>
        <p:spPr>
          <a:xfrm>
            <a:off x="6820549" y="4475879"/>
            <a:ext cx="323851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99F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endParaRPr lang="en-US" sz="8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679" y="4475893"/>
            <a:ext cx="123798" cy="12379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03104" y="4475879"/>
            <a:ext cx="914402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how it works</a:t>
            </a:r>
            <a:endParaRPr lang="en-US" sz="8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9958" y="4338499"/>
            <a:ext cx="1685929" cy="261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533394" y="399529"/>
            <a:ext cx="807721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DAILY FRICTION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3394" y="614343"/>
            <a:ext cx="807721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traditional canteens feel slow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3394" y="1038028"/>
            <a:ext cx="807721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delays compound into a difficult break between classes.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62095" y="1555683"/>
            <a:ext cx="5619763" cy="723902"/>
          </a:xfrm>
          <a:prstGeom prst="roundRect">
            <a:avLst>
              <a:gd name="adj" fmla="val 19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62080" y="1755707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E6FF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061" y="1836688"/>
            <a:ext cx="161890" cy="1618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47870" y="1717355"/>
            <a:ext cx="4733936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queues waste student time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47870" y="1950490"/>
            <a:ext cx="4733936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minute waiting is a minute lost between classes.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62095" y="2393336"/>
            <a:ext cx="5619763" cy="723902"/>
          </a:xfrm>
          <a:prstGeom prst="roundRect">
            <a:avLst>
              <a:gd name="adj" fmla="val 19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62080" y="2593362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EFF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061" y="2674343"/>
            <a:ext cx="161890" cy="1618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47870" y="2555011"/>
            <a:ext cx="4733936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hours create crowding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47870" y="2788143"/>
            <a:ext cx="4733936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Congestion turns a simple meal into a stressful rush.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762095" y="3230991"/>
            <a:ext cx="5619763" cy="723902"/>
          </a:xfrm>
          <a:prstGeom prst="roundRect">
            <a:avLst>
              <a:gd name="adj" fmla="val 199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962080" y="3431017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E6FF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061" y="3511997"/>
            <a:ext cx="161890" cy="1618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47870" y="3392666"/>
            <a:ext cx="4733936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ordering makes waiting unpredictable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447870" y="3625798"/>
            <a:ext cx="4733936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Mistakes and unclear wait times make planning difficult.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015906" y="4708707"/>
            <a:ext cx="47625" cy="47625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18"/>
          <p:cNvSpPr/>
          <p:nvPr/>
        </p:nvSpPr>
        <p:spPr>
          <a:xfrm>
            <a:off x="3131305" y="4663489"/>
            <a:ext cx="2995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is not lunch — it is the waiting experience.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95290" y="418575"/>
            <a:ext cx="81534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CAMPUS SERVICE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5290" y="633391"/>
            <a:ext cx="815341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spcAft>
                <a:spcPts val="750"/>
              </a:spcAft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Smart Queue Management Does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95276" y="1078270"/>
            <a:ext cx="5905514" cy="4095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streamlined digital flow helps students enter, track, and move through campus services with less friction.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095" y="1832634"/>
            <a:ext cx="2576518" cy="2938469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5267" y="2050708"/>
            <a:ext cx="361951" cy="361951"/>
          </a:xfrm>
          <a:prstGeom prst="roundRect">
            <a:avLst>
              <a:gd name="adj" fmla="val 18282"/>
            </a:avLst>
          </a:prstGeom>
          <a:solidFill>
            <a:srgbClr val="E6FF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772" y="2141214"/>
            <a:ext cx="180936" cy="18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6122" y="2594535"/>
            <a:ext cx="217646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Digitally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5264" y="2876439"/>
            <a:ext cx="2047880" cy="5476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the queue through a digital token or QR code—no physical line required.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80" y="4446807"/>
            <a:ext cx="114275" cy="1142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6249" y="4434915"/>
            <a:ext cx="86677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check-in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83717" y="1832634"/>
            <a:ext cx="2576518" cy="2938469"/>
          </a:xfrm>
          <a:prstGeom prst="roundRect">
            <a:avLst>
              <a:gd name="adj" fmla="val 1837"/>
            </a:avLst>
          </a:prstGeom>
          <a:solidFill>
            <a:srgbClr val="E6FFFB"/>
          </a:solidFill>
          <a:ln/>
          <a:effectLst>
            <a:outerShdw sx="100000" sy="100000" kx="0" ky="0" algn="bl" rotWithShape="0" blurRad="161925" dist="66675" dir="5400000">
              <a:srgbClr val="14B8A6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82884" y="2050708"/>
            <a:ext cx="361951" cy="361951"/>
          </a:xfrm>
          <a:prstGeom prst="roundRect">
            <a:avLst>
              <a:gd name="adj" fmla="val 18282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395" y="2141214"/>
            <a:ext cx="180936" cy="1809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83740" y="2594535"/>
            <a:ext cx="217646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Your Turn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482882" y="2876439"/>
            <a:ext cx="2047880" cy="5476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real-time order status and waiting updates while staying informed.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898" y="4446807"/>
            <a:ext cx="114275" cy="1142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64743" y="4434915"/>
            <a:ext cx="74295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visibility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6071335" y="1832634"/>
            <a:ext cx="2576518" cy="2938469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70506" y="2050708"/>
            <a:ext cx="361951" cy="361951"/>
          </a:xfrm>
          <a:prstGeom prst="roundRect">
            <a:avLst>
              <a:gd name="adj" fmla="val 18282"/>
            </a:avLst>
          </a:prstGeom>
          <a:solidFill>
            <a:srgbClr val="EFF6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12" y="2141214"/>
            <a:ext cx="180936" cy="1809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71362" y="2594535"/>
            <a:ext cx="217646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spcAft>
                <a:spcPts val="675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Service Flow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270504" y="2877225"/>
            <a:ext cx="2047880" cy="72866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demand more intelligently across counters for a faster, more organized student experience.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520" y="4446807"/>
            <a:ext cx="114275" cy="1142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52228" y="4434915"/>
            <a:ext cx="124777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Smoother student flow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61436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CAMPUS DINING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65977"/>
            <a:ext cx="8229619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Ordering Process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192" y="960335"/>
            <a:ext cx="8229619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waiting in line to a clear, connected pickup journey.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186" y="1629753"/>
            <a:ext cx="4000509" cy="2566993"/>
          </a:xfrm>
          <a:prstGeom prst="roundRect">
            <a:avLst>
              <a:gd name="adj" fmla="val 18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7150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700" y="1881542"/>
            <a:ext cx="276226" cy="276226"/>
          </a:xfrm>
          <a:prstGeom prst="roundRect">
            <a:avLst>
              <a:gd name="adj" fmla="val 25684"/>
            </a:avLst>
          </a:prstGeom>
          <a:solidFill>
            <a:srgbClr val="E2E8F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51" y="1952993"/>
            <a:ext cx="133321" cy="1333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6979" y="1831554"/>
            <a:ext cx="1281115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Old flow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46979" y="2065847"/>
            <a:ext cx="128111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and uncertain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04" y="2799390"/>
            <a:ext cx="133321" cy="1333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4" y="2786076"/>
            <a:ext cx="207169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join a physical queue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04" y="3106048"/>
            <a:ext cx="133321" cy="1333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273" y="3092735"/>
            <a:ext cx="2319343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 are checked at the counter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04" y="3412709"/>
            <a:ext cx="133321" cy="1333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100" y="3399394"/>
            <a:ext cx="187642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Pickup timing stays unclear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86309" y="1629753"/>
            <a:ext cx="4000509" cy="2566993"/>
          </a:xfrm>
          <a:prstGeom prst="roundRect">
            <a:avLst>
              <a:gd name="adj" fmla="val 1850"/>
            </a:avLst>
          </a:prstGeom>
          <a:solidFill>
            <a:srgbClr val="E6FFFB"/>
          </a:solidFill>
          <a:ln w="13322">
            <a:solidFill>
              <a:srgbClr val="14B8A6"/>
            </a:solidFill>
            <a:prstDash val="solid"/>
          </a:ln>
          <a:effectLst>
            <a:outerShdw sx="100000" sy="100000" kx="0" ky="0" algn="bl" rotWithShape="0" blurRad="171450" dist="76200" dir="5400000">
              <a:srgbClr val="14B8A6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28144" y="1894862"/>
            <a:ext cx="276226" cy="276226"/>
          </a:xfrm>
          <a:prstGeom prst="roundRect">
            <a:avLst>
              <a:gd name="adj" fmla="val 25684"/>
            </a:avLst>
          </a:prstGeom>
          <a:solidFill>
            <a:srgbClr val="14B8A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204" y="1963920"/>
            <a:ext cx="138109" cy="13810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91163" y="1844877"/>
            <a:ext cx="130969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flow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291163" y="2079170"/>
            <a:ext cx="130969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Order, prepare, collect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148" y="2712746"/>
            <a:ext cx="133321" cy="13332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57468" y="2699432"/>
            <a:ext cx="2633669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order at a kiosk or in the app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148" y="3019407"/>
            <a:ext cx="133321" cy="13332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57648" y="3006091"/>
            <a:ext cx="300990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confirms items and pickup time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148" y="3326066"/>
            <a:ext cx="133321" cy="13332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57774" y="3311315"/>
            <a:ext cx="3286133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Kitchen prepares instantly; students collect when called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57192" y="4405353"/>
            <a:ext cx="8229619" cy="395288"/>
          </a:xfrm>
          <a:prstGeom prst="roundRect">
            <a:avLst>
              <a:gd name="adj" fmla="val 15329"/>
            </a:avLst>
          </a:prstGeom>
          <a:solidFill>
            <a:srgbClr val="0F172A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3" y="4531576"/>
            <a:ext cx="142844" cy="1428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56237" y="4519655"/>
            <a:ext cx="460534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smart flow turns every order into a visible, predictable handoff.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70959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EXPERIENCE ·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85775"/>
            <a:ext cx="822961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gains for students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139" y="1011606"/>
            <a:ext cx="4667261" cy="4095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campus meal flow gives students back the time and certainty they need.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6602" y="1994564"/>
            <a:ext cx="3629033" cy="2805119"/>
          </a:xfrm>
          <a:prstGeom prst="roundRect">
            <a:avLst>
              <a:gd name="adj" fmla="val 1771"/>
            </a:avLst>
          </a:prstGeom>
          <a:solidFill>
            <a:srgbClr val="E6FFFB"/>
          </a:solidFill>
          <a:ln/>
          <a:effectLst>
            <a:outerShdw sx="100000" sy="100000" kx="0" ky="0" algn="bl" rotWithShape="0" blurRad="200025" dist="85725" dir="5400000">
              <a:srgbClr val="0F172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2307" y="2550097"/>
            <a:ext cx="804864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PAYOFF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2690" y="2839775"/>
            <a:ext cx="2181230" cy="4286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1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time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33351" y="3440180"/>
            <a:ext cx="419101" cy="38100"/>
          </a:xfrm>
          <a:prstGeom prst="roundRect">
            <a:avLst>
              <a:gd name="adj" fmla="val 300000"/>
            </a:avLst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33366" y="3620076"/>
            <a:ext cx="2667006" cy="6238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waiting means more time for classes, study, and the rest of campus life.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8560" y="1994564"/>
            <a:ext cx="4257685" cy="2805119"/>
          </a:xfrm>
          <a:prstGeom prst="roundRect">
            <a:avLst>
              <a:gd name="adj" fmla="val 1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0025" dist="85725" dir="5400000">
              <a:srgbClr val="0F172A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4789" y="2493480"/>
            <a:ext cx="370523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spcAft>
                <a:spcPts val="1275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CHANGES IN THE 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4154" y="2811332"/>
            <a:ext cx="228601" cy="228601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48159" y="2812300"/>
            <a:ext cx="2781306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decisions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48159" y="3032566"/>
            <a:ext cx="2781306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meal planning during busy schedules.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4154" y="3361373"/>
            <a:ext cx="228601" cy="228601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46218" y="3362341"/>
            <a:ext cx="2805119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missed meals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6218" y="3582607"/>
            <a:ext cx="2805119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abandoned queues and missed meals.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4154" y="3911414"/>
            <a:ext cx="228601" cy="228601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47971" y="3912382"/>
            <a:ext cx="2719394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Predictable peaks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971" y="4132648"/>
            <a:ext cx="2719394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predictable service during peak hours.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70960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BENEFITS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85687"/>
            <a:ext cx="8229619" cy="3333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Benefits for the Canteen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192" y="994993"/>
            <a:ext cx="8229619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service flow for students, kitchen teams, and front-line staff.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975" y="1799440"/>
            <a:ext cx="2614618" cy="3000382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7129" y="2044779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E6FF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05" y="2125759"/>
            <a:ext cx="161890" cy="1618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002" y="2510510"/>
            <a:ext cx="221456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crowding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002" y="2814321"/>
            <a:ext cx="2214568" cy="2762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</a:t>
            </a:r>
            <a:endParaRPr lang="en-US" sz="2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8" y="4379678"/>
            <a:ext cx="114275" cy="1142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9434" y="4282034"/>
            <a:ext cx="2043117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Quicker movement through service counters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64694" y="1799440"/>
            <a:ext cx="2614618" cy="3000382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63843" y="2044779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EFF6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824" y="2125759"/>
            <a:ext cx="161890" cy="1618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64716" y="2510510"/>
            <a:ext cx="221456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service flow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464716" y="2814321"/>
            <a:ext cx="2214568" cy="2762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Smoother</a:t>
            </a:r>
            <a:endParaRPr lang="en-US" sz="2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852" y="4379678"/>
            <a:ext cx="114275" cy="1142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36148" y="4282034"/>
            <a:ext cx="2043117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kitchen prioritization and staff coordination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071408" y="1799440"/>
            <a:ext cx="2614618" cy="3000382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70562" y="2044779"/>
            <a:ext cx="323851" cy="323851"/>
          </a:xfrm>
          <a:prstGeom prst="roundRect">
            <a:avLst>
              <a:gd name="adj" fmla="val 20761"/>
            </a:avLst>
          </a:prstGeom>
          <a:solidFill>
            <a:srgbClr val="F0FDF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543" y="2125759"/>
            <a:ext cx="161890" cy="1618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71435" y="2510510"/>
            <a:ext cx="2214568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visibility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271435" y="2814321"/>
            <a:ext cx="2214568" cy="2762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Clearer</a:t>
            </a:r>
            <a:endParaRPr lang="en-US" sz="2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571" y="4379678"/>
            <a:ext cx="114275" cy="1142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2867" y="4282034"/>
            <a:ext cx="2043117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accurate demand tracking for daily planning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975" y="1799440"/>
            <a:ext cx="2614618" cy="3000382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4694" y="1799440"/>
            <a:ext cx="2614618" cy="3000382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71408" y="1799440"/>
            <a:ext cx="2614618" cy="3000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70960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TECHNOLOGY COMPONENTS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76253"/>
            <a:ext cx="822961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campus flow, end to end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144" y="992563"/>
            <a:ext cx="5334012" cy="4095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Student-facing access points connect directly to the tools that keep service moving behind the scenes.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186" y="1994565"/>
            <a:ext cx="4000509" cy="2805119"/>
          </a:xfrm>
          <a:prstGeom prst="roundRect">
            <a:avLst>
              <a:gd name="adj" fmla="val 1550"/>
            </a:avLst>
          </a:prstGeom>
          <a:solidFill>
            <a:srgbClr val="E6FFFB"/>
          </a:solidFill>
          <a:ln/>
          <a:effectLst>
            <a:outerShdw sx="100000" sy="100000" kx="0" ky="0" algn="bl" rotWithShape="0" blurRad="152400" dist="66675" dir="5400000">
              <a:srgbClr val="0F766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3834" y="2241267"/>
            <a:ext cx="390526" cy="390526"/>
          </a:xfrm>
          <a:prstGeom prst="roundRect">
            <a:avLst>
              <a:gd name="adj" fmla="val 15705"/>
            </a:avLst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077" y="2336513"/>
            <a:ext cx="199982" cy="1999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3888" y="2774713"/>
            <a:ext cx="3467108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Student-facing tools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3824" y="3064170"/>
            <a:ext cx="3095632" cy="38100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 codes, kiosks, and mobile ordering make it easy to choose, pay, and move 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3888" y="3982460"/>
            <a:ext cx="3467108" cy="590551"/>
          </a:xfrm>
          <a:prstGeom prst="rect">
            <a:avLst/>
          </a:prstGeom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50" y="4142437"/>
            <a:ext cx="142844" cy="1428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3015" y="4133169"/>
            <a:ext cx="234791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queue displays and pickup alerts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0" y="4414388"/>
            <a:ext cx="142844" cy="1428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1804" y="4405119"/>
            <a:ext cx="2600331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Clearer pathways from order to collection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86309" y="1994565"/>
            <a:ext cx="4000509" cy="2805119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3330">
            <a:solidFill>
              <a:srgbClr val="DCE5EF"/>
            </a:solidFill>
            <a:prstDash val="solid"/>
          </a:ln>
          <a:effectLst>
            <a:outerShdw sx="100000" sy="100000" kx="0" ky="0" algn="bl" rotWithShape="0" blurRad="152400" dist="66675" dir="5400000">
              <a:srgbClr val="0F172A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56283" y="2244597"/>
            <a:ext cx="390526" cy="390526"/>
          </a:xfrm>
          <a:prstGeom prst="roundRect">
            <a:avLst>
              <a:gd name="adj" fmla="val 15705"/>
            </a:avLst>
          </a:prstGeom>
          <a:solidFill>
            <a:srgbClr val="2563E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531" y="2339844"/>
            <a:ext cx="199982" cy="1999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55388" y="2778043"/>
            <a:ext cx="3462345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Back-end management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956273" y="3067500"/>
            <a:ext cx="3095632" cy="38100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turn orders and inventory into a shared operating picture for teams.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955388" y="3979130"/>
            <a:ext cx="3462345" cy="590551"/>
          </a:xfrm>
          <a:prstGeom prst="rect">
            <a:avLst/>
          </a:prstGeom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300" y="4139107"/>
            <a:ext cx="142844" cy="1428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83990" y="4129839"/>
            <a:ext cx="254794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and order tracking in one view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300" y="4411057"/>
            <a:ext cx="142844" cy="1428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85720" y="4401789"/>
            <a:ext cx="2900369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support smarter busy-time planning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888" y="3982460"/>
            <a:ext cx="3467108" cy="590551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5388" y="3979130"/>
            <a:ext cx="3462345" cy="590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2" y="361437"/>
            <a:ext cx="8229619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EXPERIENCE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192" y="566730"/>
            <a:ext cx="8229619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Experience Improvements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192" y="980890"/>
            <a:ext cx="8229619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smoother campus dining flow — less waiting, clearer updates, better pickup.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186" y="1775749"/>
            <a:ext cx="4000509" cy="2409831"/>
          </a:xfrm>
          <a:prstGeom prst="roundRect">
            <a:avLst>
              <a:gd name="adj" fmla="val 2100"/>
            </a:avLst>
          </a:prstGeom>
          <a:solidFill>
            <a:srgbClr val="E6FFFB"/>
          </a:solidFill>
          <a:ln/>
          <a:effectLst>
            <a:outerShdw sx="100000" sy="100000" kx="0" ky="0" algn="bl" rotWithShape="0" blurRad="161925" dist="66675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700" y="2050456"/>
            <a:ext cx="276226" cy="276226"/>
          </a:xfrm>
          <a:prstGeom prst="roundRect">
            <a:avLst>
              <a:gd name="adj" fmla="val 25684"/>
            </a:avLst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5" y="2117121"/>
            <a:ext cx="142844" cy="1428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48438" y="1993326"/>
            <a:ext cx="210503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students gain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8438" y="2240227"/>
            <a:ext cx="210503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more convenient everyday routine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04" y="2597327"/>
            <a:ext cx="133321" cy="1333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707" y="2582346"/>
            <a:ext cx="203835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stress during lunch rush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04" y="2919702"/>
            <a:ext cx="133321" cy="1333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360" y="2906380"/>
            <a:ext cx="331470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Convenient ordering from anywhere on campus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04" y="3421608"/>
            <a:ext cx="133321" cy="1333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075" y="3406627"/>
            <a:ext cx="329565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pickup creates better dining satisfaction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86309" y="1775749"/>
            <a:ext cx="4000509" cy="2409831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925" dist="66675" dir="5400000">
              <a:srgbClr val="0F172A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14823" y="2050456"/>
            <a:ext cx="276226" cy="276226"/>
          </a:xfrm>
          <a:prstGeom prst="roundRect">
            <a:avLst>
              <a:gd name="adj" fmla="val 25684"/>
            </a:avLst>
          </a:prstGeom>
          <a:solidFill>
            <a:srgbClr val="2563E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489" y="2117121"/>
            <a:ext cx="142844" cy="1428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77567" y="1993326"/>
            <a:ext cx="2405068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solved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277567" y="2240227"/>
            <a:ext cx="240506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Friction removed from the dining journey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828" y="2597327"/>
            <a:ext cx="133321" cy="13332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43856" y="2582346"/>
            <a:ext cx="2405068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Long, unpredictable lunch queues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828" y="2919702"/>
            <a:ext cx="133321" cy="13332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43716" y="2904721"/>
            <a:ext cx="2967044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Uncertainty about order status and timing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828" y="3242077"/>
            <a:ext cx="133321" cy="13332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44029" y="3227096"/>
            <a:ext cx="2838456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Unnecessary waiting at the pickup point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57192" y="4414850"/>
            <a:ext cx="8229619" cy="404813"/>
          </a:xfrm>
          <a:prstGeom prst="roundRect">
            <a:avLst>
              <a:gd name="adj" fmla="val 1461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57150" dir="5400000">
              <a:srgbClr val="0F172A">
                <a:alpha val="12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3" y="4545835"/>
            <a:ext cx="142844" cy="1428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48507" y="4533913"/>
            <a:ext cx="5953139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result: students spend less time managing lunch and more time enjoying campus.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190" y="370960"/>
            <a:ext cx="1462091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ROLLOUT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860" y="576253"/>
            <a:ext cx="53292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Success Factors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155" y="990666"/>
            <a:ext cx="5476888" cy="6191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 adoption depends on removing friction for students while giving staff the conditions to respond, improve, and sustain the new process.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6" y="2152217"/>
            <a:ext cx="5486413" cy="264795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76200" dir="5400000">
              <a:srgbClr val="0F172A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3908" y="2520369"/>
            <a:ext cx="4953011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275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practical foundation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3846" y="2864173"/>
            <a:ext cx="276226" cy="276226"/>
          </a:xfrm>
          <a:prstGeom prst="roundRect">
            <a:avLst>
              <a:gd name="adj" fmla="val 22830"/>
            </a:avLst>
          </a:prstGeom>
          <a:solidFill>
            <a:srgbClr val="E6FF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297" y="2935625"/>
            <a:ext cx="133321" cy="1333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3631" y="2864185"/>
            <a:ext cx="434341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the first step effortless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3631" y="3069202"/>
            <a:ext cx="434341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easy-to-use interface keeps every student moving with confidence.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3846" y="3378984"/>
            <a:ext cx="276226" cy="276226"/>
          </a:xfrm>
          <a:prstGeom prst="roundRect">
            <a:avLst>
              <a:gd name="adj" fmla="val 22830"/>
            </a:avLst>
          </a:prstGeom>
          <a:solidFill>
            <a:srgbClr val="EFF6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97" y="3450437"/>
            <a:ext cx="133321" cy="1333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13234" y="3378996"/>
            <a:ext cx="4281497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the learning environment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13234" y="3584013"/>
            <a:ext cx="428149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internet and display infrastructure prevent avoidable pauses.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23846" y="3893795"/>
            <a:ext cx="276226" cy="276226"/>
          </a:xfrm>
          <a:prstGeom prst="roundRect">
            <a:avLst>
              <a:gd name="adj" fmla="val 22830"/>
            </a:avLst>
          </a:prstGeom>
          <a:solidFill>
            <a:srgbClr val="F0FD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97" y="3965248"/>
            <a:ext cx="133321" cy="1333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4413" y="3893807"/>
            <a:ext cx="456248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 the people behind the process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14413" y="4099079"/>
            <a:ext cx="4562485" cy="3333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training and process discipline turn a launch into a repeatable routine.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210355" y="2152217"/>
            <a:ext cx="2476506" cy="2647956"/>
          </a:xfrm>
          <a:prstGeom prst="roundRect">
            <a:avLst>
              <a:gd name="adj" fmla="val 198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71450" dist="76200" dir="5400000">
              <a:srgbClr val="0F766E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10337" y="2380321"/>
            <a:ext cx="304801" cy="304801"/>
          </a:xfrm>
          <a:prstGeom prst="roundRect">
            <a:avLst>
              <a:gd name="adj" fmla="val 21094"/>
            </a:avLst>
          </a:prstGeom>
          <a:solidFill>
            <a:srgbClr val="CCFBF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31" y="2456512"/>
            <a:ext cx="152367" cy="1523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0378" y="2789395"/>
            <a:ext cx="2076455" cy="3952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feedback loop in from day one.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10378" y="3289492"/>
            <a:ext cx="2076455" cy="51911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Listen to what students and staff experience, then use those signals to improve the next cycle.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10378" y="4294930"/>
            <a:ext cx="2076455" cy="2762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launch means ready to learn.</a:t>
            </a:r>
            <a:endParaRPr lang="en-US" sz="8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0378" y="4294930"/>
            <a:ext cx="2076455" cy="2762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10" y="-6"/>
            <a:ext cx="9144021" cy="51435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095752" y="370960"/>
            <a:ext cx="95250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24044" y="585686"/>
            <a:ext cx="4895861" cy="33337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Dining, Happier Students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67213" y="1053306"/>
            <a:ext cx="409576" cy="28575"/>
          </a:xfrm>
          <a:prstGeom prst="roundRect">
            <a:avLst>
              <a:gd name="adj" fmla="val 400000"/>
            </a:avLst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1309680" y="1636337"/>
            <a:ext cx="6524640" cy="2905132"/>
          </a:xfrm>
          <a:prstGeom prst="roundRect">
            <a:avLst>
              <a:gd name="adj" fmla="val 1651"/>
            </a:avLst>
          </a:prstGeom>
          <a:solidFill>
            <a:srgbClr val="E6FFFB"/>
          </a:solidFill>
          <a:ln/>
          <a:effectLst>
            <a:outerShdw sx="100000" sy="100000" kx="0" ky="0" algn="bl" rotWithShape="0" blurRad="209550" dist="85725" dir="5400000">
              <a:srgbClr val="0F766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8060" y="1979030"/>
            <a:ext cx="1647829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principle is simple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4994" y="2286702"/>
            <a:ext cx="5334012" cy="92869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4"/>
              </a:lnSpc>
              <a:spcBef>
                <a:spcPts val="90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“Make every meal moment move better — so students can spend more time on what matters.”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21741" y="3377515"/>
            <a:ext cx="3700471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spcBef>
                <a:spcPts val="1275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systems turn everyday convenience into student success.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04981" y="3759372"/>
            <a:ext cx="5534038" cy="4763"/>
          </a:xfrm>
          <a:prstGeom prst="rect">
            <a:avLst/>
          </a:prstGeom>
          <a:solidFill>
            <a:srgbClr val="99F6E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4987" y="4009376"/>
            <a:ext cx="142844" cy="1428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024945" y="3926042"/>
            <a:ext cx="1257303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time every day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057" y="4009376"/>
            <a:ext cx="142844" cy="1428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5470" y="3926042"/>
            <a:ext cx="1366841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campus flow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571" y="4009376"/>
            <a:ext cx="142844" cy="1428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75752" y="3926042"/>
            <a:ext cx="1562104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9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student success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33394" y="4552989"/>
            <a:ext cx="8077218" cy="24765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FLOW. BETTER DAYS.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2026-09-18T18:09:53Z</dcterms:created>
  <dcterms:modified xsi:type="dcterms:W3CDTF">2026-09-18T18:09:53Z</dcterms:modified>
</cp:coreProperties>
</file>